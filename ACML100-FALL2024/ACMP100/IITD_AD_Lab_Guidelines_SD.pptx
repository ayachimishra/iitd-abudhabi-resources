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rawing2.xml" ContentType="application/vnd.ms-office.drawingml.diagramDrawing+xml"/>
  <Override PartName="/ppt/diagrams/colors2.xml" ContentType="application/vnd.openxmlformats-officedocument.drawingml.diagramColors+xml"/>
  <Override PartName="/ppt/diagrams/layout2.xml" ContentType="application/vnd.openxmlformats-officedocument.drawingml.diagramLayout+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diagrams/quickStyle2.xml" ContentType="application/vnd.openxmlformats-officedocument.drawingml.diagramStyl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77" r:id="rId2"/>
    <p:sldId id="278" r:id="rId3"/>
    <p:sldId id="259" r:id="rId4"/>
    <p:sldId id="305" r:id="rId5"/>
    <p:sldId id="306" r:id="rId6"/>
    <p:sldId id="307" r:id="rId7"/>
    <p:sldId id="271" r:id="rId8"/>
    <p:sldId id="304" r:id="rId9"/>
    <p:sldId id="308" r:id="rId10"/>
    <p:sldId id="256" r:id="rId11"/>
    <p:sldId id="257" r:id="rId12"/>
    <p:sldId id="258" r:id="rId13"/>
    <p:sldId id="279" r:id="rId14"/>
    <p:sldId id="280" r:id="rId15"/>
    <p:sldId id="281" r:id="rId16"/>
    <p:sldId id="282" r:id="rId17"/>
    <p:sldId id="284" r:id="rId18"/>
    <p:sldId id="285" r:id="rId19"/>
    <p:sldId id="283"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303" r:id="rId38"/>
    <p:sldId id="309" r:id="rId39"/>
    <p:sldId id="311" r:id="rId40"/>
    <p:sldId id="312" r:id="rId41"/>
    <p:sldId id="27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6327"/>
  </p:normalViewPr>
  <p:slideViewPr>
    <p:cSldViewPr snapToGrid="0">
      <p:cViewPr varScale="1">
        <p:scale>
          <a:sx n="121" d="100"/>
          <a:sy n="121" d="100"/>
        </p:scale>
        <p:origin x="2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3513DD-4D25-470B-886A-26020E7840D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4A7FC4A-A27F-4687-A983-EB41E8EFC983}">
      <dgm:prSet/>
      <dgm:spPr/>
      <dgm:t>
        <a:bodyPr/>
        <a:lstStyle/>
        <a:p>
          <a:pPr>
            <a:lnSpc>
              <a:spcPct val="100000"/>
            </a:lnSpc>
          </a:pPr>
          <a:r>
            <a:rPr lang="en-US" b="0" i="0"/>
            <a:t>Wear closed-toe shoes at all times in buildings where chemicals are stored or used. </a:t>
          </a:r>
          <a:endParaRPr lang="en-US"/>
        </a:p>
      </dgm:t>
    </dgm:pt>
    <dgm:pt modelId="{5E078972-7312-400C-B04B-140394D6F1FE}" type="parTrans" cxnId="{BFB3D04D-0E47-4526-9599-0C8176BCA8EF}">
      <dgm:prSet/>
      <dgm:spPr/>
      <dgm:t>
        <a:bodyPr/>
        <a:lstStyle/>
        <a:p>
          <a:endParaRPr lang="en-US"/>
        </a:p>
      </dgm:t>
    </dgm:pt>
    <dgm:pt modelId="{D873C870-F441-47B8-9FD9-432F7CD019C6}" type="sibTrans" cxnId="{BFB3D04D-0E47-4526-9599-0C8176BCA8EF}">
      <dgm:prSet/>
      <dgm:spPr/>
      <dgm:t>
        <a:bodyPr/>
        <a:lstStyle/>
        <a:p>
          <a:endParaRPr lang="en-US"/>
        </a:p>
      </dgm:t>
    </dgm:pt>
    <dgm:pt modelId="{E592340F-6A95-4563-901D-E3CF3B9B1B20}">
      <dgm:prSet/>
      <dgm:spPr/>
      <dgm:t>
        <a:bodyPr/>
        <a:lstStyle/>
        <a:p>
          <a:pPr>
            <a:lnSpc>
              <a:spcPct val="100000"/>
            </a:lnSpc>
          </a:pPr>
          <a:r>
            <a:rPr lang="en-US" b="0" i="0" dirty="0"/>
            <a:t>Do not wear perforated shoes, sandals or cloth sneakers in laboratories. These shoes offer no barrier between you and chemical and physical hazards.</a:t>
          </a:r>
          <a:endParaRPr lang="en-US" dirty="0"/>
        </a:p>
      </dgm:t>
    </dgm:pt>
    <dgm:pt modelId="{EDE829EA-9809-4988-8687-4001A4BC4551}" type="parTrans" cxnId="{B4940101-9B66-4496-B32E-504835D54D8D}">
      <dgm:prSet/>
      <dgm:spPr/>
      <dgm:t>
        <a:bodyPr/>
        <a:lstStyle/>
        <a:p>
          <a:endParaRPr lang="en-US"/>
        </a:p>
      </dgm:t>
    </dgm:pt>
    <dgm:pt modelId="{DC96BB15-B91E-4092-AF64-6EA311996CC3}" type="sibTrans" cxnId="{B4940101-9B66-4496-B32E-504835D54D8D}">
      <dgm:prSet/>
      <dgm:spPr/>
      <dgm:t>
        <a:bodyPr/>
        <a:lstStyle/>
        <a:p>
          <a:endParaRPr lang="en-US"/>
        </a:p>
      </dgm:t>
    </dgm:pt>
    <dgm:pt modelId="{FE03F37D-DB6F-4E23-B244-E5402573A993}" type="pres">
      <dgm:prSet presAssocID="{843513DD-4D25-470B-886A-26020E7840DD}" presName="root" presStyleCnt="0">
        <dgm:presLayoutVars>
          <dgm:dir/>
          <dgm:resizeHandles val="exact"/>
        </dgm:presLayoutVars>
      </dgm:prSet>
      <dgm:spPr/>
    </dgm:pt>
    <dgm:pt modelId="{713B4381-A0FE-47B6-8021-34F97C58A2DA}" type="pres">
      <dgm:prSet presAssocID="{24A7FC4A-A27F-4687-A983-EB41E8EFC983}" presName="compNode" presStyleCnt="0"/>
      <dgm:spPr/>
    </dgm:pt>
    <dgm:pt modelId="{4513AFDC-1228-4266-9272-E4AA929619D5}" type="pres">
      <dgm:prSet presAssocID="{24A7FC4A-A27F-4687-A983-EB41E8EFC983}" presName="bgRect" presStyleLbl="bgShp" presStyleIdx="0" presStyleCnt="2"/>
      <dgm:spPr/>
    </dgm:pt>
    <dgm:pt modelId="{825A7D4E-4118-4E0D-9F6C-4D86F035FC6C}" type="pres">
      <dgm:prSet presAssocID="{24A7FC4A-A27F-4687-A983-EB41E8EFC98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hoe"/>
        </a:ext>
      </dgm:extLst>
    </dgm:pt>
    <dgm:pt modelId="{E87228A4-130B-41BC-A719-D118765CC6D3}" type="pres">
      <dgm:prSet presAssocID="{24A7FC4A-A27F-4687-A983-EB41E8EFC983}" presName="spaceRect" presStyleCnt="0"/>
      <dgm:spPr/>
    </dgm:pt>
    <dgm:pt modelId="{C5C62BA0-6A59-4CB1-962B-30B2E61FDADE}" type="pres">
      <dgm:prSet presAssocID="{24A7FC4A-A27F-4687-A983-EB41E8EFC983}" presName="parTx" presStyleLbl="revTx" presStyleIdx="0" presStyleCnt="2">
        <dgm:presLayoutVars>
          <dgm:chMax val="0"/>
          <dgm:chPref val="0"/>
        </dgm:presLayoutVars>
      </dgm:prSet>
      <dgm:spPr/>
    </dgm:pt>
    <dgm:pt modelId="{C002618C-7DCF-4683-BE34-368C32E3DD19}" type="pres">
      <dgm:prSet presAssocID="{D873C870-F441-47B8-9FD9-432F7CD019C6}" presName="sibTrans" presStyleCnt="0"/>
      <dgm:spPr/>
    </dgm:pt>
    <dgm:pt modelId="{AE0AB4AC-491F-4E0A-9902-1D12EBF1DEAB}" type="pres">
      <dgm:prSet presAssocID="{E592340F-6A95-4563-901D-E3CF3B9B1B20}" presName="compNode" presStyleCnt="0"/>
      <dgm:spPr/>
    </dgm:pt>
    <dgm:pt modelId="{2354BA44-0358-441C-8D2D-76513B686AA3}" type="pres">
      <dgm:prSet presAssocID="{E592340F-6A95-4563-901D-E3CF3B9B1B20}" presName="bgRect" presStyleLbl="bgShp" presStyleIdx="1" presStyleCnt="2"/>
      <dgm:spPr/>
    </dgm:pt>
    <dgm:pt modelId="{AED506DB-BEEC-4AA5-9D6A-8FC37DD41210}" type="pres">
      <dgm:prSet presAssocID="{E592340F-6A95-4563-901D-E3CF3B9B1B2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ot"/>
        </a:ext>
      </dgm:extLst>
    </dgm:pt>
    <dgm:pt modelId="{7CC158BD-0608-485B-8AD4-A6AAB7EC9589}" type="pres">
      <dgm:prSet presAssocID="{E592340F-6A95-4563-901D-E3CF3B9B1B20}" presName="spaceRect" presStyleCnt="0"/>
      <dgm:spPr/>
    </dgm:pt>
    <dgm:pt modelId="{0C91AA01-EA0C-4612-8546-6CFE9E4032DE}" type="pres">
      <dgm:prSet presAssocID="{E592340F-6A95-4563-901D-E3CF3B9B1B20}" presName="parTx" presStyleLbl="revTx" presStyleIdx="1" presStyleCnt="2">
        <dgm:presLayoutVars>
          <dgm:chMax val="0"/>
          <dgm:chPref val="0"/>
        </dgm:presLayoutVars>
      </dgm:prSet>
      <dgm:spPr/>
    </dgm:pt>
  </dgm:ptLst>
  <dgm:cxnLst>
    <dgm:cxn modelId="{B4940101-9B66-4496-B32E-504835D54D8D}" srcId="{843513DD-4D25-470B-886A-26020E7840DD}" destId="{E592340F-6A95-4563-901D-E3CF3B9B1B20}" srcOrd="1" destOrd="0" parTransId="{EDE829EA-9809-4988-8687-4001A4BC4551}" sibTransId="{DC96BB15-B91E-4092-AF64-6EA311996CC3}"/>
    <dgm:cxn modelId="{BFB3D04D-0E47-4526-9599-0C8176BCA8EF}" srcId="{843513DD-4D25-470B-886A-26020E7840DD}" destId="{24A7FC4A-A27F-4687-A983-EB41E8EFC983}" srcOrd="0" destOrd="0" parTransId="{5E078972-7312-400C-B04B-140394D6F1FE}" sibTransId="{D873C870-F441-47B8-9FD9-432F7CD019C6}"/>
    <dgm:cxn modelId="{95D2A189-BB8E-4BEA-B913-1A319741B433}" type="presOf" srcId="{E592340F-6A95-4563-901D-E3CF3B9B1B20}" destId="{0C91AA01-EA0C-4612-8546-6CFE9E4032DE}" srcOrd="0" destOrd="0" presId="urn:microsoft.com/office/officeart/2018/2/layout/IconVerticalSolidList"/>
    <dgm:cxn modelId="{92F8A3B3-9207-49CA-98E2-422B25ABD90D}" type="presOf" srcId="{24A7FC4A-A27F-4687-A983-EB41E8EFC983}" destId="{C5C62BA0-6A59-4CB1-962B-30B2E61FDADE}" srcOrd="0" destOrd="0" presId="urn:microsoft.com/office/officeart/2018/2/layout/IconVerticalSolidList"/>
    <dgm:cxn modelId="{9B699EDD-88C0-4E46-B856-6B9A36818089}" type="presOf" srcId="{843513DD-4D25-470B-886A-26020E7840DD}" destId="{FE03F37D-DB6F-4E23-B244-E5402573A993}" srcOrd="0" destOrd="0" presId="urn:microsoft.com/office/officeart/2018/2/layout/IconVerticalSolidList"/>
    <dgm:cxn modelId="{BA37F68C-EF04-4190-9745-9ABCDC897EDF}" type="presParOf" srcId="{FE03F37D-DB6F-4E23-B244-E5402573A993}" destId="{713B4381-A0FE-47B6-8021-34F97C58A2DA}" srcOrd="0" destOrd="0" presId="urn:microsoft.com/office/officeart/2018/2/layout/IconVerticalSolidList"/>
    <dgm:cxn modelId="{DD76ED51-E30E-48D6-A406-41E50A083256}" type="presParOf" srcId="{713B4381-A0FE-47B6-8021-34F97C58A2DA}" destId="{4513AFDC-1228-4266-9272-E4AA929619D5}" srcOrd="0" destOrd="0" presId="urn:microsoft.com/office/officeart/2018/2/layout/IconVerticalSolidList"/>
    <dgm:cxn modelId="{DAEF9650-CC46-49F8-BB62-80CAFCBBBBDD}" type="presParOf" srcId="{713B4381-A0FE-47B6-8021-34F97C58A2DA}" destId="{825A7D4E-4118-4E0D-9F6C-4D86F035FC6C}" srcOrd="1" destOrd="0" presId="urn:microsoft.com/office/officeart/2018/2/layout/IconVerticalSolidList"/>
    <dgm:cxn modelId="{B3F9B0EB-AE04-45B3-B160-1CF42ADDB607}" type="presParOf" srcId="{713B4381-A0FE-47B6-8021-34F97C58A2DA}" destId="{E87228A4-130B-41BC-A719-D118765CC6D3}" srcOrd="2" destOrd="0" presId="urn:microsoft.com/office/officeart/2018/2/layout/IconVerticalSolidList"/>
    <dgm:cxn modelId="{FFEB91AD-E7FF-4672-B109-E2142BE79AA4}" type="presParOf" srcId="{713B4381-A0FE-47B6-8021-34F97C58A2DA}" destId="{C5C62BA0-6A59-4CB1-962B-30B2E61FDADE}" srcOrd="3" destOrd="0" presId="urn:microsoft.com/office/officeart/2018/2/layout/IconVerticalSolidList"/>
    <dgm:cxn modelId="{5DA278E1-798A-48E3-A89F-22185ABC6801}" type="presParOf" srcId="{FE03F37D-DB6F-4E23-B244-E5402573A993}" destId="{C002618C-7DCF-4683-BE34-368C32E3DD19}" srcOrd="1" destOrd="0" presId="urn:microsoft.com/office/officeart/2018/2/layout/IconVerticalSolidList"/>
    <dgm:cxn modelId="{C7D7DEFB-0C3F-474F-870F-5367865C8249}" type="presParOf" srcId="{FE03F37D-DB6F-4E23-B244-E5402573A993}" destId="{AE0AB4AC-491F-4E0A-9902-1D12EBF1DEAB}" srcOrd="2" destOrd="0" presId="urn:microsoft.com/office/officeart/2018/2/layout/IconVerticalSolidList"/>
    <dgm:cxn modelId="{40A544E0-5753-41B9-96A6-9DCCDD720DAE}" type="presParOf" srcId="{AE0AB4AC-491F-4E0A-9902-1D12EBF1DEAB}" destId="{2354BA44-0358-441C-8D2D-76513B686AA3}" srcOrd="0" destOrd="0" presId="urn:microsoft.com/office/officeart/2018/2/layout/IconVerticalSolidList"/>
    <dgm:cxn modelId="{4B97EE59-A470-4C66-A5FD-81642EECBEB1}" type="presParOf" srcId="{AE0AB4AC-491F-4E0A-9902-1D12EBF1DEAB}" destId="{AED506DB-BEEC-4AA5-9D6A-8FC37DD41210}" srcOrd="1" destOrd="0" presId="urn:microsoft.com/office/officeart/2018/2/layout/IconVerticalSolidList"/>
    <dgm:cxn modelId="{6D75268C-A2CF-434F-9BDA-CD319BC8047B}" type="presParOf" srcId="{AE0AB4AC-491F-4E0A-9902-1D12EBF1DEAB}" destId="{7CC158BD-0608-485B-8AD4-A6AAB7EC9589}" srcOrd="2" destOrd="0" presId="urn:microsoft.com/office/officeart/2018/2/layout/IconVerticalSolidList"/>
    <dgm:cxn modelId="{A4244821-1B62-4EF8-A389-71A08E36CD92}" type="presParOf" srcId="{AE0AB4AC-491F-4E0A-9902-1D12EBF1DEAB}" destId="{0C91AA01-EA0C-4612-8546-6CFE9E4032D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D3045F-EE9C-4662-A702-3B4ADA6136B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3920857-97CB-4D82-B15C-538986129194}">
      <dgm:prSet/>
      <dgm:spPr/>
      <dgm:t>
        <a:bodyPr/>
        <a:lstStyle/>
        <a:p>
          <a:r>
            <a:rPr lang="nl-NL"/>
            <a:t>Never use broken glassware.</a:t>
          </a:r>
          <a:endParaRPr lang="en-US"/>
        </a:p>
      </dgm:t>
    </dgm:pt>
    <dgm:pt modelId="{685AE6F9-5AE4-4D79-BB02-8D0E5FBB6ADF}" type="parTrans" cxnId="{D620B14A-D058-467D-98A2-B223539DA6E2}">
      <dgm:prSet/>
      <dgm:spPr/>
      <dgm:t>
        <a:bodyPr/>
        <a:lstStyle/>
        <a:p>
          <a:endParaRPr lang="en-US"/>
        </a:p>
      </dgm:t>
    </dgm:pt>
    <dgm:pt modelId="{7286F806-ACB8-4C54-B5E4-2EEEA7C518A3}" type="sibTrans" cxnId="{D620B14A-D058-467D-98A2-B223539DA6E2}">
      <dgm:prSet/>
      <dgm:spPr/>
      <dgm:t>
        <a:bodyPr/>
        <a:lstStyle/>
        <a:p>
          <a:endParaRPr lang="en-US"/>
        </a:p>
      </dgm:t>
    </dgm:pt>
    <dgm:pt modelId="{D209B7DF-F7CA-4E69-AB6A-1371A595BC5E}">
      <dgm:prSet/>
      <dgm:spPr/>
      <dgm:t>
        <a:bodyPr/>
        <a:lstStyle/>
        <a:p>
          <a:r>
            <a:rPr lang="nl-NL"/>
            <a:t>Remove broken glassware immediately.</a:t>
          </a:r>
          <a:endParaRPr lang="en-US"/>
        </a:p>
      </dgm:t>
    </dgm:pt>
    <dgm:pt modelId="{9D5AB2AE-EAF8-4881-B707-6AD049EC8DCF}" type="parTrans" cxnId="{39B050F9-00C9-40C8-B6BB-62ADCAD1B35A}">
      <dgm:prSet/>
      <dgm:spPr/>
      <dgm:t>
        <a:bodyPr/>
        <a:lstStyle/>
        <a:p>
          <a:endParaRPr lang="en-US"/>
        </a:p>
      </dgm:t>
    </dgm:pt>
    <dgm:pt modelId="{7D619F16-D760-4B3C-9728-DE1D60CE70AC}" type="sibTrans" cxnId="{39B050F9-00C9-40C8-B6BB-62ADCAD1B35A}">
      <dgm:prSet/>
      <dgm:spPr/>
      <dgm:t>
        <a:bodyPr/>
        <a:lstStyle/>
        <a:p>
          <a:endParaRPr lang="en-US"/>
        </a:p>
      </dgm:t>
    </dgm:pt>
    <dgm:pt modelId="{08FFF659-471B-410D-AD47-EC586A54B99F}">
      <dgm:prSet/>
      <dgm:spPr/>
      <dgm:t>
        <a:bodyPr/>
        <a:lstStyle/>
        <a:p>
          <a:r>
            <a:rPr lang="nl-NL"/>
            <a:t>If you connect tubes to glassware be aware of breaking/cutting danger. To avoid this wrap the part you handle with a sturdy towel.</a:t>
          </a:r>
          <a:endParaRPr lang="en-US"/>
        </a:p>
      </dgm:t>
    </dgm:pt>
    <dgm:pt modelId="{AE2F0AF5-D3E8-4CFB-A0F5-0DED029D29B2}" type="parTrans" cxnId="{A01DF9A7-E6A4-4EDA-80D1-1D68BF06642C}">
      <dgm:prSet/>
      <dgm:spPr/>
      <dgm:t>
        <a:bodyPr/>
        <a:lstStyle/>
        <a:p>
          <a:endParaRPr lang="en-US"/>
        </a:p>
      </dgm:t>
    </dgm:pt>
    <dgm:pt modelId="{AC0E7613-05F9-4072-9685-CEFFAA497F43}" type="sibTrans" cxnId="{A01DF9A7-E6A4-4EDA-80D1-1D68BF06642C}">
      <dgm:prSet/>
      <dgm:spPr/>
      <dgm:t>
        <a:bodyPr/>
        <a:lstStyle/>
        <a:p>
          <a:endParaRPr lang="en-US"/>
        </a:p>
      </dgm:t>
    </dgm:pt>
    <dgm:pt modelId="{13872126-065D-4148-A656-CD93A3450619}">
      <dgm:prSet/>
      <dgm:spPr/>
      <dgm:t>
        <a:bodyPr/>
        <a:lstStyle/>
        <a:p>
          <a:r>
            <a:rPr lang="nl-NL"/>
            <a:t>Never put big forces on glass because it </a:t>
          </a:r>
          <a:r>
            <a:rPr lang="nl-NL" u="sng"/>
            <a:t>will</a:t>
          </a:r>
          <a:r>
            <a:rPr lang="nl-NL"/>
            <a:t> break. </a:t>
          </a:r>
          <a:endParaRPr lang="en-US"/>
        </a:p>
      </dgm:t>
    </dgm:pt>
    <dgm:pt modelId="{39C8BC56-FA16-4DFF-8D73-6504CDDB1A58}" type="parTrans" cxnId="{B6C714A4-1DE4-4DBB-8C6D-4579333C560F}">
      <dgm:prSet/>
      <dgm:spPr/>
      <dgm:t>
        <a:bodyPr/>
        <a:lstStyle/>
        <a:p>
          <a:endParaRPr lang="en-US"/>
        </a:p>
      </dgm:t>
    </dgm:pt>
    <dgm:pt modelId="{E20F0673-DC23-4646-9BC4-0B760E08A106}" type="sibTrans" cxnId="{B6C714A4-1DE4-4DBB-8C6D-4579333C560F}">
      <dgm:prSet/>
      <dgm:spPr/>
      <dgm:t>
        <a:bodyPr/>
        <a:lstStyle/>
        <a:p>
          <a:endParaRPr lang="en-US"/>
        </a:p>
      </dgm:t>
    </dgm:pt>
    <dgm:pt modelId="{41B6B8FD-1F38-4CC2-A583-865FBCC53252}">
      <dgm:prSet/>
      <dgm:spPr/>
      <dgm:t>
        <a:bodyPr/>
        <a:lstStyle/>
        <a:p>
          <a:r>
            <a:rPr lang="nl-NL"/>
            <a:t>Never put pressure on glass because it could explode violently.</a:t>
          </a:r>
          <a:endParaRPr lang="en-US"/>
        </a:p>
      </dgm:t>
    </dgm:pt>
    <dgm:pt modelId="{D789ACDA-E57C-4D17-9BBA-0265A82F97C8}" type="parTrans" cxnId="{405CC343-10AF-4A5D-A0BB-9EB079F5845E}">
      <dgm:prSet/>
      <dgm:spPr/>
      <dgm:t>
        <a:bodyPr/>
        <a:lstStyle/>
        <a:p>
          <a:endParaRPr lang="en-US"/>
        </a:p>
      </dgm:t>
    </dgm:pt>
    <dgm:pt modelId="{69E94F4F-0505-42CA-B7D3-4428A51F7F48}" type="sibTrans" cxnId="{405CC343-10AF-4A5D-A0BB-9EB079F5845E}">
      <dgm:prSet/>
      <dgm:spPr/>
      <dgm:t>
        <a:bodyPr/>
        <a:lstStyle/>
        <a:p>
          <a:endParaRPr lang="en-US"/>
        </a:p>
      </dgm:t>
    </dgm:pt>
    <dgm:pt modelId="{51E5CFCA-F868-4E02-859C-94652182348B}">
      <dgm:prSet/>
      <dgm:spPr/>
      <dgm:t>
        <a:bodyPr/>
        <a:lstStyle/>
        <a:p>
          <a:r>
            <a:rPr lang="nl-NL"/>
            <a:t>If you put pressure (column, nitrogen) always leave a way out to avoid overpressure.</a:t>
          </a:r>
          <a:endParaRPr lang="en-US"/>
        </a:p>
      </dgm:t>
    </dgm:pt>
    <dgm:pt modelId="{BFD15E6E-1B6D-4617-A001-275242E94FC1}" type="parTrans" cxnId="{360FCFEF-16EA-4103-840B-507EF5FCA1A8}">
      <dgm:prSet/>
      <dgm:spPr/>
      <dgm:t>
        <a:bodyPr/>
        <a:lstStyle/>
        <a:p>
          <a:endParaRPr lang="en-US"/>
        </a:p>
      </dgm:t>
    </dgm:pt>
    <dgm:pt modelId="{71C44889-D3F7-48C7-9891-022BF41FD8CF}" type="sibTrans" cxnId="{360FCFEF-16EA-4103-840B-507EF5FCA1A8}">
      <dgm:prSet/>
      <dgm:spPr/>
      <dgm:t>
        <a:bodyPr/>
        <a:lstStyle/>
        <a:p>
          <a:endParaRPr lang="en-US"/>
        </a:p>
      </dgm:t>
    </dgm:pt>
    <dgm:pt modelId="{88B5E1EE-2E52-4A06-9622-27D4FCFB0FA7}">
      <dgm:prSet/>
      <dgm:spPr/>
      <dgm:t>
        <a:bodyPr/>
        <a:lstStyle/>
        <a:p>
          <a:r>
            <a:rPr lang="nl-NL"/>
            <a:t>If you handle reaction with develop pressure, leave the vessel open. </a:t>
          </a:r>
          <a:endParaRPr lang="en-US"/>
        </a:p>
      </dgm:t>
    </dgm:pt>
    <dgm:pt modelId="{5A9E36AC-B61C-4546-9AA2-5465F61BE19F}" type="parTrans" cxnId="{8759D2A0-20E5-41F2-8B25-A2D04A88E09E}">
      <dgm:prSet/>
      <dgm:spPr/>
      <dgm:t>
        <a:bodyPr/>
        <a:lstStyle/>
        <a:p>
          <a:endParaRPr lang="en-US"/>
        </a:p>
      </dgm:t>
    </dgm:pt>
    <dgm:pt modelId="{EB735CFB-68A7-48C3-A0CA-0679A865DD15}" type="sibTrans" cxnId="{8759D2A0-20E5-41F2-8B25-A2D04A88E09E}">
      <dgm:prSet/>
      <dgm:spPr/>
      <dgm:t>
        <a:bodyPr/>
        <a:lstStyle/>
        <a:p>
          <a:endParaRPr lang="en-US"/>
        </a:p>
      </dgm:t>
    </dgm:pt>
    <dgm:pt modelId="{5B98127C-2D00-1E48-9DC5-13F0808426FB}" type="pres">
      <dgm:prSet presAssocID="{22D3045F-EE9C-4662-A702-3B4ADA6136BF}" presName="linear" presStyleCnt="0">
        <dgm:presLayoutVars>
          <dgm:animLvl val="lvl"/>
          <dgm:resizeHandles val="exact"/>
        </dgm:presLayoutVars>
      </dgm:prSet>
      <dgm:spPr/>
    </dgm:pt>
    <dgm:pt modelId="{D54BC6EA-1215-FC4A-B7C4-43CF58F8EA05}" type="pres">
      <dgm:prSet presAssocID="{73920857-97CB-4D82-B15C-538986129194}" presName="parentText" presStyleLbl="node1" presStyleIdx="0" presStyleCnt="7">
        <dgm:presLayoutVars>
          <dgm:chMax val="0"/>
          <dgm:bulletEnabled val="1"/>
        </dgm:presLayoutVars>
      </dgm:prSet>
      <dgm:spPr/>
    </dgm:pt>
    <dgm:pt modelId="{0DD72052-15BE-644D-A41C-B6A1C7564A7E}" type="pres">
      <dgm:prSet presAssocID="{7286F806-ACB8-4C54-B5E4-2EEEA7C518A3}" presName="spacer" presStyleCnt="0"/>
      <dgm:spPr/>
    </dgm:pt>
    <dgm:pt modelId="{2B36ADEE-34F1-234B-BB98-F2977DC9DE48}" type="pres">
      <dgm:prSet presAssocID="{D209B7DF-F7CA-4E69-AB6A-1371A595BC5E}" presName="parentText" presStyleLbl="node1" presStyleIdx="1" presStyleCnt="7">
        <dgm:presLayoutVars>
          <dgm:chMax val="0"/>
          <dgm:bulletEnabled val="1"/>
        </dgm:presLayoutVars>
      </dgm:prSet>
      <dgm:spPr/>
    </dgm:pt>
    <dgm:pt modelId="{BBA3853E-B88A-8344-B7E8-8D226042E07D}" type="pres">
      <dgm:prSet presAssocID="{7D619F16-D760-4B3C-9728-DE1D60CE70AC}" presName="spacer" presStyleCnt="0"/>
      <dgm:spPr/>
    </dgm:pt>
    <dgm:pt modelId="{5E26D5AF-EEDA-7A4E-B81C-2B9C1F5B44CE}" type="pres">
      <dgm:prSet presAssocID="{08FFF659-471B-410D-AD47-EC586A54B99F}" presName="parentText" presStyleLbl="node1" presStyleIdx="2" presStyleCnt="7">
        <dgm:presLayoutVars>
          <dgm:chMax val="0"/>
          <dgm:bulletEnabled val="1"/>
        </dgm:presLayoutVars>
      </dgm:prSet>
      <dgm:spPr/>
    </dgm:pt>
    <dgm:pt modelId="{798C27EC-01D3-F043-AB15-25932C439537}" type="pres">
      <dgm:prSet presAssocID="{AC0E7613-05F9-4072-9685-CEFFAA497F43}" presName="spacer" presStyleCnt="0"/>
      <dgm:spPr/>
    </dgm:pt>
    <dgm:pt modelId="{4EAB2A34-880D-7448-9EE3-E7BFAA8C6F34}" type="pres">
      <dgm:prSet presAssocID="{13872126-065D-4148-A656-CD93A3450619}" presName="parentText" presStyleLbl="node1" presStyleIdx="3" presStyleCnt="7">
        <dgm:presLayoutVars>
          <dgm:chMax val="0"/>
          <dgm:bulletEnabled val="1"/>
        </dgm:presLayoutVars>
      </dgm:prSet>
      <dgm:spPr/>
    </dgm:pt>
    <dgm:pt modelId="{6954C2D7-4B09-8E48-A726-360463D79662}" type="pres">
      <dgm:prSet presAssocID="{E20F0673-DC23-4646-9BC4-0B760E08A106}" presName="spacer" presStyleCnt="0"/>
      <dgm:spPr/>
    </dgm:pt>
    <dgm:pt modelId="{947FB6AA-5C14-B646-BD46-8CC4FD7450FD}" type="pres">
      <dgm:prSet presAssocID="{41B6B8FD-1F38-4CC2-A583-865FBCC53252}" presName="parentText" presStyleLbl="node1" presStyleIdx="4" presStyleCnt="7">
        <dgm:presLayoutVars>
          <dgm:chMax val="0"/>
          <dgm:bulletEnabled val="1"/>
        </dgm:presLayoutVars>
      </dgm:prSet>
      <dgm:spPr/>
    </dgm:pt>
    <dgm:pt modelId="{CCB9BD5A-D27D-014B-9507-7F907A8FC1D9}" type="pres">
      <dgm:prSet presAssocID="{69E94F4F-0505-42CA-B7D3-4428A51F7F48}" presName="spacer" presStyleCnt="0"/>
      <dgm:spPr/>
    </dgm:pt>
    <dgm:pt modelId="{3FC8D4EF-76D2-DF4E-AE71-CA34C67AAAA0}" type="pres">
      <dgm:prSet presAssocID="{51E5CFCA-F868-4E02-859C-94652182348B}" presName="parentText" presStyleLbl="node1" presStyleIdx="5" presStyleCnt="7">
        <dgm:presLayoutVars>
          <dgm:chMax val="0"/>
          <dgm:bulletEnabled val="1"/>
        </dgm:presLayoutVars>
      </dgm:prSet>
      <dgm:spPr/>
    </dgm:pt>
    <dgm:pt modelId="{4CB0A1F3-A3B0-434B-9327-6443680A1DAD}" type="pres">
      <dgm:prSet presAssocID="{71C44889-D3F7-48C7-9891-022BF41FD8CF}" presName="spacer" presStyleCnt="0"/>
      <dgm:spPr/>
    </dgm:pt>
    <dgm:pt modelId="{2C0F9298-C2D7-114B-A02E-9DC7A8B30BD1}" type="pres">
      <dgm:prSet presAssocID="{88B5E1EE-2E52-4A06-9622-27D4FCFB0FA7}" presName="parentText" presStyleLbl="node1" presStyleIdx="6" presStyleCnt="7">
        <dgm:presLayoutVars>
          <dgm:chMax val="0"/>
          <dgm:bulletEnabled val="1"/>
        </dgm:presLayoutVars>
      </dgm:prSet>
      <dgm:spPr/>
    </dgm:pt>
  </dgm:ptLst>
  <dgm:cxnLst>
    <dgm:cxn modelId="{D496B928-983D-394F-A283-8DC7052AB70D}" type="presOf" srcId="{88B5E1EE-2E52-4A06-9622-27D4FCFB0FA7}" destId="{2C0F9298-C2D7-114B-A02E-9DC7A8B30BD1}" srcOrd="0" destOrd="0" presId="urn:microsoft.com/office/officeart/2005/8/layout/vList2"/>
    <dgm:cxn modelId="{405CC343-10AF-4A5D-A0BB-9EB079F5845E}" srcId="{22D3045F-EE9C-4662-A702-3B4ADA6136BF}" destId="{41B6B8FD-1F38-4CC2-A583-865FBCC53252}" srcOrd="4" destOrd="0" parTransId="{D789ACDA-E57C-4D17-9BBA-0265A82F97C8}" sibTransId="{69E94F4F-0505-42CA-B7D3-4428A51F7F48}"/>
    <dgm:cxn modelId="{D620B14A-D058-467D-98A2-B223539DA6E2}" srcId="{22D3045F-EE9C-4662-A702-3B4ADA6136BF}" destId="{73920857-97CB-4D82-B15C-538986129194}" srcOrd="0" destOrd="0" parTransId="{685AE6F9-5AE4-4D79-BB02-8D0E5FBB6ADF}" sibTransId="{7286F806-ACB8-4C54-B5E4-2EEEA7C518A3}"/>
    <dgm:cxn modelId="{C594DC4D-37AF-5B4C-9D0F-1C42D73AEF7F}" type="presOf" srcId="{41B6B8FD-1F38-4CC2-A583-865FBCC53252}" destId="{947FB6AA-5C14-B646-BD46-8CC4FD7450FD}" srcOrd="0" destOrd="0" presId="urn:microsoft.com/office/officeart/2005/8/layout/vList2"/>
    <dgm:cxn modelId="{FBF7765D-FFA8-9143-B4EB-D383BBD5F07C}" type="presOf" srcId="{08FFF659-471B-410D-AD47-EC586A54B99F}" destId="{5E26D5AF-EEDA-7A4E-B81C-2B9C1F5B44CE}" srcOrd="0" destOrd="0" presId="urn:microsoft.com/office/officeart/2005/8/layout/vList2"/>
    <dgm:cxn modelId="{08AFAD62-B586-E64C-A201-84C1A8E0F682}" type="presOf" srcId="{73920857-97CB-4D82-B15C-538986129194}" destId="{D54BC6EA-1215-FC4A-B7C4-43CF58F8EA05}" srcOrd="0" destOrd="0" presId="urn:microsoft.com/office/officeart/2005/8/layout/vList2"/>
    <dgm:cxn modelId="{98A23F7D-2795-154C-AA57-1DE014FD766B}" type="presOf" srcId="{22D3045F-EE9C-4662-A702-3B4ADA6136BF}" destId="{5B98127C-2D00-1E48-9DC5-13F0808426FB}" srcOrd="0" destOrd="0" presId="urn:microsoft.com/office/officeart/2005/8/layout/vList2"/>
    <dgm:cxn modelId="{D2723B98-A0B9-AE4E-BDAE-817B8B3EC564}" type="presOf" srcId="{D209B7DF-F7CA-4E69-AB6A-1371A595BC5E}" destId="{2B36ADEE-34F1-234B-BB98-F2977DC9DE48}" srcOrd="0" destOrd="0" presId="urn:microsoft.com/office/officeart/2005/8/layout/vList2"/>
    <dgm:cxn modelId="{8759D2A0-20E5-41F2-8B25-A2D04A88E09E}" srcId="{22D3045F-EE9C-4662-A702-3B4ADA6136BF}" destId="{88B5E1EE-2E52-4A06-9622-27D4FCFB0FA7}" srcOrd="6" destOrd="0" parTransId="{5A9E36AC-B61C-4546-9AA2-5465F61BE19F}" sibTransId="{EB735CFB-68A7-48C3-A0CA-0679A865DD15}"/>
    <dgm:cxn modelId="{B6C714A4-1DE4-4DBB-8C6D-4579333C560F}" srcId="{22D3045F-EE9C-4662-A702-3B4ADA6136BF}" destId="{13872126-065D-4148-A656-CD93A3450619}" srcOrd="3" destOrd="0" parTransId="{39C8BC56-FA16-4DFF-8D73-6504CDDB1A58}" sibTransId="{E20F0673-DC23-4646-9BC4-0B760E08A106}"/>
    <dgm:cxn modelId="{A01DF9A7-E6A4-4EDA-80D1-1D68BF06642C}" srcId="{22D3045F-EE9C-4662-A702-3B4ADA6136BF}" destId="{08FFF659-471B-410D-AD47-EC586A54B99F}" srcOrd="2" destOrd="0" parTransId="{AE2F0AF5-D3E8-4CFB-A0F5-0DED029D29B2}" sibTransId="{AC0E7613-05F9-4072-9685-CEFFAA497F43}"/>
    <dgm:cxn modelId="{BBA7A8BA-4F29-1B46-A4FA-C67A23E25551}" type="presOf" srcId="{13872126-065D-4148-A656-CD93A3450619}" destId="{4EAB2A34-880D-7448-9EE3-E7BFAA8C6F34}" srcOrd="0" destOrd="0" presId="urn:microsoft.com/office/officeart/2005/8/layout/vList2"/>
    <dgm:cxn modelId="{360FCFEF-16EA-4103-840B-507EF5FCA1A8}" srcId="{22D3045F-EE9C-4662-A702-3B4ADA6136BF}" destId="{51E5CFCA-F868-4E02-859C-94652182348B}" srcOrd="5" destOrd="0" parTransId="{BFD15E6E-1B6D-4617-A001-275242E94FC1}" sibTransId="{71C44889-D3F7-48C7-9891-022BF41FD8CF}"/>
    <dgm:cxn modelId="{39B050F9-00C9-40C8-B6BB-62ADCAD1B35A}" srcId="{22D3045F-EE9C-4662-A702-3B4ADA6136BF}" destId="{D209B7DF-F7CA-4E69-AB6A-1371A595BC5E}" srcOrd="1" destOrd="0" parTransId="{9D5AB2AE-EAF8-4881-B707-6AD049EC8DCF}" sibTransId="{7D619F16-D760-4B3C-9728-DE1D60CE70AC}"/>
    <dgm:cxn modelId="{A788B3FD-7109-144E-A292-AC0982A75B1F}" type="presOf" srcId="{51E5CFCA-F868-4E02-859C-94652182348B}" destId="{3FC8D4EF-76D2-DF4E-AE71-CA34C67AAAA0}" srcOrd="0" destOrd="0" presId="urn:microsoft.com/office/officeart/2005/8/layout/vList2"/>
    <dgm:cxn modelId="{CE088CF4-978A-2844-A389-81407EF028B8}" type="presParOf" srcId="{5B98127C-2D00-1E48-9DC5-13F0808426FB}" destId="{D54BC6EA-1215-FC4A-B7C4-43CF58F8EA05}" srcOrd="0" destOrd="0" presId="urn:microsoft.com/office/officeart/2005/8/layout/vList2"/>
    <dgm:cxn modelId="{6E287582-BB50-7A4C-AC29-69C30C73DCDB}" type="presParOf" srcId="{5B98127C-2D00-1E48-9DC5-13F0808426FB}" destId="{0DD72052-15BE-644D-A41C-B6A1C7564A7E}" srcOrd="1" destOrd="0" presId="urn:microsoft.com/office/officeart/2005/8/layout/vList2"/>
    <dgm:cxn modelId="{438A48F5-6659-5F46-BA72-FD66E7095F4D}" type="presParOf" srcId="{5B98127C-2D00-1E48-9DC5-13F0808426FB}" destId="{2B36ADEE-34F1-234B-BB98-F2977DC9DE48}" srcOrd="2" destOrd="0" presId="urn:microsoft.com/office/officeart/2005/8/layout/vList2"/>
    <dgm:cxn modelId="{43B58C4E-D0CE-CE43-A9F2-CA61F9891C2E}" type="presParOf" srcId="{5B98127C-2D00-1E48-9DC5-13F0808426FB}" destId="{BBA3853E-B88A-8344-B7E8-8D226042E07D}" srcOrd="3" destOrd="0" presId="urn:microsoft.com/office/officeart/2005/8/layout/vList2"/>
    <dgm:cxn modelId="{0E4899B4-40A1-2D45-AD9E-73634459FA52}" type="presParOf" srcId="{5B98127C-2D00-1E48-9DC5-13F0808426FB}" destId="{5E26D5AF-EEDA-7A4E-B81C-2B9C1F5B44CE}" srcOrd="4" destOrd="0" presId="urn:microsoft.com/office/officeart/2005/8/layout/vList2"/>
    <dgm:cxn modelId="{74AA27D4-3576-2C4C-AF02-75FD311DF312}" type="presParOf" srcId="{5B98127C-2D00-1E48-9DC5-13F0808426FB}" destId="{798C27EC-01D3-F043-AB15-25932C439537}" srcOrd="5" destOrd="0" presId="urn:microsoft.com/office/officeart/2005/8/layout/vList2"/>
    <dgm:cxn modelId="{7C7E8622-3A4F-DC42-8B61-91909F6CC6AA}" type="presParOf" srcId="{5B98127C-2D00-1E48-9DC5-13F0808426FB}" destId="{4EAB2A34-880D-7448-9EE3-E7BFAA8C6F34}" srcOrd="6" destOrd="0" presId="urn:microsoft.com/office/officeart/2005/8/layout/vList2"/>
    <dgm:cxn modelId="{89530772-AC4F-AE48-9369-6056296BACE3}" type="presParOf" srcId="{5B98127C-2D00-1E48-9DC5-13F0808426FB}" destId="{6954C2D7-4B09-8E48-A726-360463D79662}" srcOrd="7" destOrd="0" presId="urn:microsoft.com/office/officeart/2005/8/layout/vList2"/>
    <dgm:cxn modelId="{08F619EC-25BE-6C40-92BE-702BB05FA1D7}" type="presParOf" srcId="{5B98127C-2D00-1E48-9DC5-13F0808426FB}" destId="{947FB6AA-5C14-B646-BD46-8CC4FD7450FD}" srcOrd="8" destOrd="0" presId="urn:microsoft.com/office/officeart/2005/8/layout/vList2"/>
    <dgm:cxn modelId="{EA7700DD-6B98-0049-9D88-697A2114D9F8}" type="presParOf" srcId="{5B98127C-2D00-1E48-9DC5-13F0808426FB}" destId="{CCB9BD5A-D27D-014B-9507-7F907A8FC1D9}" srcOrd="9" destOrd="0" presId="urn:microsoft.com/office/officeart/2005/8/layout/vList2"/>
    <dgm:cxn modelId="{BDAB4A51-C527-BC4B-90C3-B5EE769E83DF}" type="presParOf" srcId="{5B98127C-2D00-1E48-9DC5-13F0808426FB}" destId="{3FC8D4EF-76D2-DF4E-AE71-CA34C67AAAA0}" srcOrd="10" destOrd="0" presId="urn:microsoft.com/office/officeart/2005/8/layout/vList2"/>
    <dgm:cxn modelId="{0E952357-6E5C-1941-A943-A6209A53EE78}" type="presParOf" srcId="{5B98127C-2D00-1E48-9DC5-13F0808426FB}" destId="{4CB0A1F3-A3B0-434B-9327-6443680A1DAD}" srcOrd="11" destOrd="0" presId="urn:microsoft.com/office/officeart/2005/8/layout/vList2"/>
    <dgm:cxn modelId="{7C1326FB-9690-8248-B1B2-5BF8B0391AF7}" type="presParOf" srcId="{5B98127C-2D00-1E48-9DC5-13F0808426FB}" destId="{2C0F9298-C2D7-114B-A02E-9DC7A8B30BD1}"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13AFDC-1228-4266-9272-E4AA929619D5}">
      <dsp:nvSpPr>
        <dsp:cNvPr id="0" name=""/>
        <dsp:cNvSpPr/>
      </dsp:nvSpPr>
      <dsp:spPr>
        <a:xfrm>
          <a:off x="0" y="907663"/>
          <a:ext cx="6906491" cy="167568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5A7D4E-4118-4E0D-9F6C-4D86F035FC6C}">
      <dsp:nvSpPr>
        <dsp:cNvPr id="0" name=""/>
        <dsp:cNvSpPr/>
      </dsp:nvSpPr>
      <dsp:spPr>
        <a:xfrm>
          <a:off x="506894" y="1284692"/>
          <a:ext cx="921627" cy="92162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C62BA0-6A59-4CB1-962B-30B2E61FDADE}">
      <dsp:nvSpPr>
        <dsp:cNvPr id="0" name=""/>
        <dsp:cNvSpPr/>
      </dsp:nvSpPr>
      <dsp:spPr>
        <a:xfrm>
          <a:off x="1935416" y="907663"/>
          <a:ext cx="4971074" cy="1675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343" tIns="177343" rIns="177343" bIns="177343" numCol="1" spcCol="1270" anchor="ctr" anchorCtr="0">
          <a:noAutofit/>
        </a:bodyPr>
        <a:lstStyle/>
        <a:p>
          <a:pPr marL="0" lvl="0" indent="0" algn="l" defTabSz="933450">
            <a:lnSpc>
              <a:spcPct val="100000"/>
            </a:lnSpc>
            <a:spcBef>
              <a:spcPct val="0"/>
            </a:spcBef>
            <a:spcAft>
              <a:spcPct val="35000"/>
            </a:spcAft>
            <a:buNone/>
          </a:pPr>
          <a:r>
            <a:rPr lang="en-US" sz="2100" b="0" i="0" kern="1200"/>
            <a:t>Wear closed-toe shoes at all times in buildings where chemicals are stored or used. </a:t>
          </a:r>
          <a:endParaRPr lang="en-US" sz="2100" kern="1200"/>
        </a:p>
      </dsp:txBody>
      <dsp:txXfrm>
        <a:off x="1935416" y="907663"/>
        <a:ext cx="4971074" cy="1675685"/>
      </dsp:txXfrm>
    </dsp:sp>
    <dsp:sp modelId="{2354BA44-0358-441C-8D2D-76513B686AA3}">
      <dsp:nvSpPr>
        <dsp:cNvPr id="0" name=""/>
        <dsp:cNvSpPr/>
      </dsp:nvSpPr>
      <dsp:spPr>
        <a:xfrm>
          <a:off x="0" y="3002270"/>
          <a:ext cx="6906491" cy="167568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D506DB-BEEC-4AA5-9D6A-8FC37DD41210}">
      <dsp:nvSpPr>
        <dsp:cNvPr id="0" name=""/>
        <dsp:cNvSpPr/>
      </dsp:nvSpPr>
      <dsp:spPr>
        <a:xfrm>
          <a:off x="506894" y="3379299"/>
          <a:ext cx="921627" cy="92162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91AA01-EA0C-4612-8546-6CFE9E4032DE}">
      <dsp:nvSpPr>
        <dsp:cNvPr id="0" name=""/>
        <dsp:cNvSpPr/>
      </dsp:nvSpPr>
      <dsp:spPr>
        <a:xfrm>
          <a:off x="1935416" y="3002270"/>
          <a:ext cx="4971074" cy="1675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343" tIns="177343" rIns="177343" bIns="177343" numCol="1" spcCol="1270" anchor="ctr" anchorCtr="0">
          <a:noAutofit/>
        </a:bodyPr>
        <a:lstStyle/>
        <a:p>
          <a:pPr marL="0" lvl="0" indent="0" algn="l" defTabSz="933450">
            <a:lnSpc>
              <a:spcPct val="100000"/>
            </a:lnSpc>
            <a:spcBef>
              <a:spcPct val="0"/>
            </a:spcBef>
            <a:spcAft>
              <a:spcPct val="35000"/>
            </a:spcAft>
            <a:buNone/>
          </a:pPr>
          <a:r>
            <a:rPr lang="en-US" sz="2100" b="0" i="0" kern="1200" dirty="0"/>
            <a:t>Do not wear perforated shoes, sandals or cloth sneakers in laboratories. These shoes offer no barrier between you and chemical and physical hazards.</a:t>
          </a:r>
          <a:endParaRPr lang="en-US" sz="2100" kern="1200" dirty="0"/>
        </a:p>
      </dsp:txBody>
      <dsp:txXfrm>
        <a:off x="1935416" y="3002270"/>
        <a:ext cx="4971074" cy="16756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4BC6EA-1215-FC4A-B7C4-43CF58F8EA05}">
      <dsp:nvSpPr>
        <dsp:cNvPr id="0" name=""/>
        <dsp:cNvSpPr/>
      </dsp:nvSpPr>
      <dsp:spPr>
        <a:xfrm>
          <a:off x="0" y="65344"/>
          <a:ext cx="8610600" cy="51642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nl-NL" sz="1300" kern="1200"/>
            <a:t>Never use broken glassware.</a:t>
          </a:r>
          <a:endParaRPr lang="en-US" sz="1300" kern="1200"/>
        </a:p>
      </dsp:txBody>
      <dsp:txXfrm>
        <a:off x="25210" y="90554"/>
        <a:ext cx="8560180" cy="466007"/>
      </dsp:txXfrm>
    </dsp:sp>
    <dsp:sp modelId="{2B36ADEE-34F1-234B-BB98-F2977DC9DE48}">
      <dsp:nvSpPr>
        <dsp:cNvPr id="0" name=""/>
        <dsp:cNvSpPr/>
      </dsp:nvSpPr>
      <dsp:spPr>
        <a:xfrm>
          <a:off x="0" y="619211"/>
          <a:ext cx="8610600" cy="51642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nl-NL" sz="1300" kern="1200"/>
            <a:t>Remove broken glassware immediately.</a:t>
          </a:r>
          <a:endParaRPr lang="en-US" sz="1300" kern="1200"/>
        </a:p>
      </dsp:txBody>
      <dsp:txXfrm>
        <a:off x="25210" y="644421"/>
        <a:ext cx="8560180" cy="466007"/>
      </dsp:txXfrm>
    </dsp:sp>
    <dsp:sp modelId="{5E26D5AF-EEDA-7A4E-B81C-2B9C1F5B44CE}">
      <dsp:nvSpPr>
        <dsp:cNvPr id="0" name=""/>
        <dsp:cNvSpPr/>
      </dsp:nvSpPr>
      <dsp:spPr>
        <a:xfrm>
          <a:off x="0" y="1173078"/>
          <a:ext cx="8610600" cy="51642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nl-NL" sz="1300" kern="1200"/>
            <a:t>If you connect tubes to glassware be aware of breaking/cutting danger. To avoid this wrap the part you handle with a sturdy towel.</a:t>
          </a:r>
          <a:endParaRPr lang="en-US" sz="1300" kern="1200"/>
        </a:p>
      </dsp:txBody>
      <dsp:txXfrm>
        <a:off x="25210" y="1198288"/>
        <a:ext cx="8560180" cy="466007"/>
      </dsp:txXfrm>
    </dsp:sp>
    <dsp:sp modelId="{4EAB2A34-880D-7448-9EE3-E7BFAA8C6F34}">
      <dsp:nvSpPr>
        <dsp:cNvPr id="0" name=""/>
        <dsp:cNvSpPr/>
      </dsp:nvSpPr>
      <dsp:spPr>
        <a:xfrm>
          <a:off x="0" y="1726945"/>
          <a:ext cx="8610600" cy="51642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nl-NL" sz="1300" kern="1200"/>
            <a:t>Never put big forces on glass because it </a:t>
          </a:r>
          <a:r>
            <a:rPr lang="nl-NL" sz="1300" u="sng" kern="1200"/>
            <a:t>will</a:t>
          </a:r>
          <a:r>
            <a:rPr lang="nl-NL" sz="1300" kern="1200"/>
            <a:t> break. </a:t>
          </a:r>
          <a:endParaRPr lang="en-US" sz="1300" kern="1200"/>
        </a:p>
      </dsp:txBody>
      <dsp:txXfrm>
        <a:off x="25210" y="1752155"/>
        <a:ext cx="8560180" cy="466007"/>
      </dsp:txXfrm>
    </dsp:sp>
    <dsp:sp modelId="{947FB6AA-5C14-B646-BD46-8CC4FD7450FD}">
      <dsp:nvSpPr>
        <dsp:cNvPr id="0" name=""/>
        <dsp:cNvSpPr/>
      </dsp:nvSpPr>
      <dsp:spPr>
        <a:xfrm>
          <a:off x="0" y="2280812"/>
          <a:ext cx="8610600" cy="51642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nl-NL" sz="1300" kern="1200"/>
            <a:t>Never put pressure on glass because it could explode violently.</a:t>
          </a:r>
          <a:endParaRPr lang="en-US" sz="1300" kern="1200"/>
        </a:p>
      </dsp:txBody>
      <dsp:txXfrm>
        <a:off x="25210" y="2306022"/>
        <a:ext cx="8560180" cy="466007"/>
      </dsp:txXfrm>
    </dsp:sp>
    <dsp:sp modelId="{3FC8D4EF-76D2-DF4E-AE71-CA34C67AAAA0}">
      <dsp:nvSpPr>
        <dsp:cNvPr id="0" name=""/>
        <dsp:cNvSpPr/>
      </dsp:nvSpPr>
      <dsp:spPr>
        <a:xfrm>
          <a:off x="0" y="2834679"/>
          <a:ext cx="8610600" cy="51642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nl-NL" sz="1300" kern="1200"/>
            <a:t>If you put pressure (column, nitrogen) always leave a way out to avoid overpressure.</a:t>
          </a:r>
          <a:endParaRPr lang="en-US" sz="1300" kern="1200"/>
        </a:p>
      </dsp:txBody>
      <dsp:txXfrm>
        <a:off x="25210" y="2859889"/>
        <a:ext cx="8560180" cy="466007"/>
      </dsp:txXfrm>
    </dsp:sp>
    <dsp:sp modelId="{2C0F9298-C2D7-114B-A02E-9DC7A8B30BD1}">
      <dsp:nvSpPr>
        <dsp:cNvPr id="0" name=""/>
        <dsp:cNvSpPr/>
      </dsp:nvSpPr>
      <dsp:spPr>
        <a:xfrm>
          <a:off x="0" y="3388546"/>
          <a:ext cx="8610600" cy="51642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nl-NL" sz="1300" kern="1200"/>
            <a:t>If you handle reaction with develop pressure, leave the vessel open. </a:t>
          </a:r>
          <a:endParaRPr lang="en-US" sz="1300" kern="1200"/>
        </a:p>
      </dsp:txBody>
      <dsp:txXfrm>
        <a:off x="25210" y="3413756"/>
        <a:ext cx="8560180" cy="46600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A8FAE9-F1AA-F44C-99B8-BFEE704F9FD3}" type="datetimeFigureOut">
              <a:rPr lang="en-US" smtClean="0"/>
              <a:t>9/3/24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EB2782-45DD-DE48-93C9-3E1159C79FBD}" type="slidenum">
              <a:rPr lang="en-US" smtClean="0"/>
              <a:t>‹#›</a:t>
            </a:fld>
            <a:endParaRPr lang="en-US"/>
          </a:p>
        </p:txBody>
      </p:sp>
    </p:spTree>
    <p:extLst>
      <p:ext uri="{BB962C8B-B14F-4D97-AF65-F5344CB8AC3E}">
        <p14:creationId xmlns:p14="http://schemas.microsoft.com/office/powerpoint/2010/main" val="2316570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bwMode="auto">
          <a:noFill/>
          <a:ln>
            <a:solidFill>
              <a:srgbClr val="000000"/>
            </a:solidFill>
            <a:miter lim="800000"/>
            <a:headEnd/>
            <a:tailEnd/>
          </a:ln>
        </p:spPr>
      </p:sp>
      <p:sp>
        <p:nvSpPr>
          <p:cNvPr id="2355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dirty="0"/>
          </a:p>
        </p:txBody>
      </p:sp>
      <p:sp>
        <p:nvSpPr>
          <p:cNvPr id="2253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BE3E816-7E76-4163-BF6F-A7EF0D5DD785}" type="slidenum">
              <a:rPr lang="en-US">
                <a:cs typeface="Arial" charset="0"/>
              </a:rPr>
              <a:pPr fontAlgn="base">
                <a:spcBef>
                  <a:spcPct val="0"/>
                </a:spcBef>
                <a:spcAft>
                  <a:spcPct val="0"/>
                </a:spcAft>
                <a:defRPr/>
              </a:pPr>
              <a:t>2</a:t>
            </a:fld>
            <a:endParaRPr lang="en-US">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bwMode="auto">
          <a:noFill/>
          <a:ln>
            <a:solidFill>
              <a:srgbClr val="000000"/>
            </a:solidFill>
            <a:miter lim="800000"/>
            <a:headEnd/>
            <a:tailEnd/>
          </a:ln>
        </p:spPr>
      </p:sp>
      <p:sp>
        <p:nvSpPr>
          <p:cNvPr id="2355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dirty="0"/>
          </a:p>
        </p:txBody>
      </p:sp>
      <p:sp>
        <p:nvSpPr>
          <p:cNvPr id="2253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BE3E816-7E76-4163-BF6F-A7EF0D5DD785}" type="slidenum">
              <a:rPr lang="en-US">
                <a:cs typeface="Arial" charset="0"/>
              </a:rPr>
              <a:pPr fontAlgn="base">
                <a:spcBef>
                  <a:spcPct val="0"/>
                </a:spcBef>
                <a:spcAft>
                  <a:spcPct val="0"/>
                </a:spcAft>
                <a:defRPr/>
              </a:pPr>
              <a:t>3</a:t>
            </a:fld>
            <a:endParaRPr lang="en-US">
              <a:cs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bwMode="auto">
          <a:noFill/>
          <a:ln>
            <a:solidFill>
              <a:srgbClr val="000000"/>
            </a:solidFill>
            <a:miter lim="800000"/>
            <a:headEnd/>
            <a:tailEnd/>
          </a:ln>
        </p:spPr>
      </p:sp>
      <p:sp>
        <p:nvSpPr>
          <p:cNvPr id="2355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dirty="0"/>
          </a:p>
        </p:txBody>
      </p:sp>
      <p:sp>
        <p:nvSpPr>
          <p:cNvPr id="2253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BE3E816-7E76-4163-BF6F-A7EF0D5DD785}" type="slidenum">
              <a:rPr lang="en-US">
                <a:cs typeface="Arial" charset="0"/>
              </a:rPr>
              <a:pPr fontAlgn="base">
                <a:spcBef>
                  <a:spcPct val="0"/>
                </a:spcBef>
                <a:spcAft>
                  <a:spcPct val="0"/>
                </a:spcAft>
                <a:defRPr/>
              </a:pPr>
              <a:t>7</a:t>
            </a:fld>
            <a:endParaRPr lang="en-US">
              <a:cs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bwMode="auto">
          <a:noFill/>
          <a:ln>
            <a:solidFill>
              <a:srgbClr val="000000"/>
            </a:solidFill>
            <a:miter lim="800000"/>
            <a:headEnd/>
            <a:tailEnd/>
          </a:ln>
        </p:spPr>
      </p:sp>
      <p:sp>
        <p:nvSpPr>
          <p:cNvPr id="2355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dirty="0"/>
          </a:p>
        </p:txBody>
      </p:sp>
      <p:sp>
        <p:nvSpPr>
          <p:cNvPr id="2253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BE3E816-7E76-4163-BF6F-A7EF0D5DD785}" type="slidenum">
              <a:rPr lang="en-US">
                <a:cs typeface="Arial" charset="0"/>
              </a:rPr>
              <a:pPr fontAlgn="base">
                <a:spcBef>
                  <a:spcPct val="0"/>
                </a:spcBef>
                <a:spcAft>
                  <a:spcPct val="0"/>
                </a:spcAft>
                <a:defRPr/>
              </a:pPr>
              <a:t>41</a:t>
            </a:fld>
            <a:endParaRPr lang="en-US">
              <a:cs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0139B-AD8B-E3D8-4CAE-F696CE27570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EDE93F2-2D44-7D6C-0271-FFA2711BC8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D64264E-4195-0EF7-36FE-796C19520718}"/>
              </a:ext>
            </a:extLst>
          </p:cNvPr>
          <p:cNvSpPr>
            <a:spLocks noGrp="1"/>
          </p:cNvSpPr>
          <p:nvPr>
            <p:ph type="dt" sz="half" idx="10"/>
          </p:nvPr>
        </p:nvSpPr>
        <p:spPr/>
        <p:txBody>
          <a:bodyPr/>
          <a:lstStyle/>
          <a:p>
            <a:fld id="{129B4A08-CA45-644D-AB21-0FDF83624AE1}" type="datetimeFigureOut">
              <a:rPr lang="en-US" smtClean="0"/>
              <a:t>9/3/24</a:t>
            </a:fld>
            <a:endParaRPr lang="en-US"/>
          </a:p>
        </p:txBody>
      </p:sp>
      <p:sp>
        <p:nvSpPr>
          <p:cNvPr id="5" name="Footer Placeholder 4">
            <a:extLst>
              <a:ext uri="{FF2B5EF4-FFF2-40B4-BE49-F238E27FC236}">
                <a16:creationId xmlns:a16="http://schemas.microsoft.com/office/drawing/2014/main" id="{125AE8F0-EDA3-ED7C-E55B-AD3CAC0F25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1DEEF0-BADA-ED6C-6485-3641807B2A2D}"/>
              </a:ext>
            </a:extLst>
          </p:cNvPr>
          <p:cNvSpPr>
            <a:spLocks noGrp="1"/>
          </p:cNvSpPr>
          <p:nvPr>
            <p:ph type="sldNum" sz="quarter" idx="12"/>
          </p:nvPr>
        </p:nvSpPr>
        <p:spPr/>
        <p:txBody>
          <a:bodyPr/>
          <a:lstStyle/>
          <a:p>
            <a:fld id="{0FE27E25-C7CE-3F49-981D-1D7EF50BD76C}" type="slidenum">
              <a:rPr lang="en-US" smtClean="0"/>
              <a:t>‹#›</a:t>
            </a:fld>
            <a:endParaRPr lang="en-US"/>
          </a:p>
        </p:txBody>
      </p:sp>
    </p:spTree>
    <p:extLst>
      <p:ext uri="{BB962C8B-B14F-4D97-AF65-F5344CB8AC3E}">
        <p14:creationId xmlns:p14="http://schemas.microsoft.com/office/powerpoint/2010/main" val="2546647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89631-5049-631E-7A51-627549BB087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89D88B4-B09B-11A3-5198-645AAB713A0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C6E7FDE-7BAB-0F08-30B2-E2D2A10B72B3}"/>
              </a:ext>
            </a:extLst>
          </p:cNvPr>
          <p:cNvSpPr>
            <a:spLocks noGrp="1"/>
          </p:cNvSpPr>
          <p:nvPr>
            <p:ph type="dt" sz="half" idx="10"/>
          </p:nvPr>
        </p:nvSpPr>
        <p:spPr/>
        <p:txBody>
          <a:bodyPr/>
          <a:lstStyle/>
          <a:p>
            <a:fld id="{129B4A08-CA45-644D-AB21-0FDF83624AE1}" type="datetimeFigureOut">
              <a:rPr lang="en-US" smtClean="0"/>
              <a:t>9/3/24</a:t>
            </a:fld>
            <a:endParaRPr lang="en-US"/>
          </a:p>
        </p:txBody>
      </p:sp>
      <p:sp>
        <p:nvSpPr>
          <p:cNvPr id="5" name="Footer Placeholder 4">
            <a:extLst>
              <a:ext uri="{FF2B5EF4-FFF2-40B4-BE49-F238E27FC236}">
                <a16:creationId xmlns:a16="http://schemas.microsoft.com/office/drawing/2014/main" id="{73345E17-1B91-79C3-4613-68DEA574C5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B29631-E86D-4150-DD28-CB8417D67B66}"/>
              </a:ext>
            </a:extLst>
          </p:cNvPr>
          <p:cNvSpPr>
            <a:spLocks noGrp="1"/>
          </p:cNvSpPr>
          <p:nvPr>
            <p:ph type="sldNum" sz="quarter" idx="12"/>
          </p:nvPr>
        </p:nvSpPr>
        <p:spPr/>
        <p:txBody>
          <a:bodyPr/>
          <a:lstStyle/>
          <a:p>
            <a:fld id="{0FE27E25-C7CE-3F49-981D-1D7EF50BD76C}" type="slidenum">
              <a:rPr lang="en-US" smtClean="0"/>
              <a:t>‹#›</a:t>
            </a:fld>
            <a:endParaRPr lang="en-US"/>
          </a:p>
        </p:txBody>
      </p:sp>
    </p:spTree>
    <p:extLst>
      <p:ext uri="{BB962C8B-B14F-4D97-AF65-F5344CB8AC3E}">
        <p14:creationId xmlns:p14="http://schemas.microsoft.com/office/powerpoint/2010/main" val="1770548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34CF0-68A6-BA53-1D09-15C9A3BB5E9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0A64FEA-A5AF-1C9E-E75D-02D3E2B988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F3FA3D9-02F3-A633-629A-BA45B4902F12}"/>
              </a:ext>
            </a:extLst>
          </p:cNvPr>
          <p:cNvSpPr>
            <a:spLocks noGrp="1"/>
          </p:cNvSpPr>
          <p:nvPr>
            <p:ph type="dt" sz="half" idx="10"/>
          </p:nvPr>
        </p:nvSpPr>
        <p:spPr/>
        <p:txBody>
          <a:bodyPr/>
          <a:lstStyle/>
          <a:p>
            <a:fld id="{129B4A08-CA45-644D-AB21-0FDF83624AE1}" type="datetimeFigureOut">
              <a:rPr lang="en-US" smtClean="0"/>
              <a:t>9/3/24</a:t>
            </a:fld>
            <a:endParaRPr lang="en-US"/>
          </a:p>
        </p:txBody>
      </p:sp>
      <p:sp>
        <p:nvSpPr>
          <p:cNvPr id="5" name="Footer Placeholder 4">
            <a:extLst>
              <a:ext uri="{FF2B5EF4-FFF2-40B4-BE49-F238E27FC236}">
                <a16:creationId xmlns:a16="http://schemas.microsoft.com/office/drawing/2014/main" id="{D7C93B99-2240-E8A0-4266-63C8DD8283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CDA973-A3A9-1907-68B2-609C9BE8E1D9}"/>
              </a:ext>
            </a:extLst>
          </p:cNvPr>
          <p:cNvSpPr>
            <a:spLocks noGrp="1"/>
          </p:cNvSpPr>
          <p:nvPr>
            <p:ph type="sldNum" sz="quarter" idx="12"/>
          </p:nvPr>
        </p:nvSpPr>
        <p:spPr/>
        <p:txBody>
          <a:bodyPr/>
          <a:lstStyle/>
          <a:p>
            <a:fld id="{0FE27E25-C7CE-3F49-981D-1D7EF50BD76C}" type="slidenum">
              <a:rPr lang="en-US" smtClean="0"/>
              <a:t>‹#›</a:t>
            </a:fld>
            <a:endParaRPr lang="en-US"/>
          </a:p>
        </p:txBody>
      </p:sp>
    </p:spTree>
    <p:extLst>
      <p:ext uri="{BB962C8B-B14F-4D97-AF65-F5344CB8AC3E}">
        <p14:creationId xmlns:p14="http://schemas.microsoft.com/office/powerpoint/2010/main" val="2542312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123CA-D805-DBD2-FC5C-0CB446C813F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A22EA7A-53F8-373F-A07D-64E36B88489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FB47444-35B4-988C-1126-8574EED25E6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36E8DDA-BD4B-BB41-F179-D1FD50423635}"/>
              </a:ext>
            </a:extLst>
          </p:cNvPr>
          <p:cNvSpPr>
            <a:spLocks noGrp="1"/>
          </p:cNvSpPr>
          <p:nvPr>
            <p:ph type="dt" sz="half" idx="10"/>
          </p:nvPr>
        </p:nvSpPr>
        <p:spPr/>
        <p:txBody>
          <a:bodyPr/>
          <a:lstStyle/>
          <a:p>
            <a:fld id="{129B4A08-CA45-644D-AB21-0FDF83624AE1}" type="datetimeFigureOut">
              <a:rPr lang="en-US" smtClean="0"/>
              <a:t>9/3/24</a:t>
            </a:fld>
            <a:endParaRPr lang="en-US"/>
          </a:p>
        </p:txBody>
      </p:sp>
      <p:sp>
        <p:nvSpPr>
          <p:cNvPr id="6" name="Footer Placeholder 5">
            <a:extLst>
              <a:ext uri="{FF2B5EF4-FFF2-40B4-BE49-F238E27FC236}">
                <a16:creationId xmlns:a16="http://schemas.microsoft.com/office/drawing/2014/main" id="{0F78CEAD-4C57-CB08-2958-B4230A6956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39FD0C-7879-047C-F16A-9FCBF479D7E8}"/>
              </a:ext>
            </a:extLst>
          </p:cNvPr>
          <p:cNvSpPr>
            <a:spLocks noGrp="1"/>
          </p:cNvSpPr>
          <p:nvPr>
            <p:ph type="sldNum" sz="quarter" idx="12"/>
          </p:nvPr>
        </p:nvSpPr>
        <p:spPr/>
        <p:txBody>
          <a:bodyPr/>
          <a:lstStyle/>
          <a:p>
            <a:fld id="{0FE27E25-C7CE-3F49-981D-1D7EF50BD76C}" type="slidenum">
              <a:rPr lang="en-US" smtClean="0"/>
              <a:t>‹#›</a:t>
            </a:fld>
            <a:endParaRPr lang="en-US"/>
          </a:p>
        </p:txBody>
      </p:sp>
    </p:spTree>
    <p:extLst>
      <p:ext uri="{BB962C8B-B14F-4D97-AF65-F5344CB8AC3E}">
        <p14:creationId xmlns:p14="http://schemas.microsoft.com/office/powerpoint/2010/main" val="586666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84D9F-547A-353D-20C7-FF5CC3119A5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7AE6A0B-E28A-44C9-307D-30DB299BDF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96ABC1F-99D4-ED47-29E4-75680716CA5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F2B78F8-727A-68C9-32D1-719811EAD9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C8B3E4A-EB22-D4AD-E2BE-8CD1F01A126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EA77BDB-B418-5B09-2DBC-E237790106C4}"/>
              </a:ext>
            </a:extLst>
          </p:cNvPr>
          <p:cNvSpPr>
            <a:spLocks noGrp="1"/>
          </p:cNvSpPr>
          <p:nvPr>
            <p:ph type="dt" sz="half" idx="10"/>
          </p:nvPr>
        </p:nvSpPr>
        <p:spPr/>
        <p:txBody>
          <a:bodyPr/>
          <a:lstStyle/>
          <a:p>
            <a:fld id="{129B4A08-CA45-644D-AB21-0FDF83624AE1}" type="datetimeFigureOut">
              <a:rPr lang="en-US" smtClean="0"/>
              <a:t>9/3/24</a:t>
            </a:fld>
            <a:endParaRPr lang="en-US"/>
          </a:p>
        </p:txBody>
      </p:sp>
      <p:sp>
        <p:nvSpPr>
          <p:cNvPr id="8" name="Footer Placeholder 7">
            <a:extLst>
              <a:ext uri="{FF2B5EF4-FFF2-40B4-BE49-F238E27FC236}">
                <a16:creationId xmlns:a16="http://schemas.microsoft.com/office/drawing/2014/main" id="{A58E3215-4E78-29D1-1CBD-2203370DD3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B4F54C-C9B7-FEED-B559-97B53C770AA4}"/>
              </a:ext>
            </a:extLst>
          </p:cNvPr>
          <p:cNvSpPr>
            <a:spLocks noGrp="1"/>
          </p:cNvSpPr>
          <p:nvPr>
            <p:ph type="sldNum" sz="quarter" idx="12"/>
          </p:nvPr>
        </p:nvSpPr>
        <p:spPr/>
        <p:txBody>
          <a:bodyPr/>
          <a:lstStyle/>
          <a:p>
            <a:fld id="{0FE27E25-C7CE-3F49-981D-1D7EF50BD76C}" type="slidenum">
              <a:rPr lang="en-US" smtClean="0"/>
              <a:t>‹#›</a:t>
            </a:fld>
            <a:endParaRPr lang="en-US"/>
          </a:p>
        </p:txBody>
      </p:sp>
    </p:spTree>
    <p:extLst>
      <p:ext uri="{BB962C8B-B14F-4D97-AF65-F5344CB8AC3E}">
        <p14:creationId xmlns:p14="http://schemas.microsoft.com/office/powerpoint/2010/main" val="871826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3127E-865A-BABC-DD37-38A2EFC5136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5D1CC35-756E-BAD1-C9C6-BE763F9E6B63}"/>
              </a:ext>
            </a:extLst>
          </p:cNvPr>
          <p:cNvSpPr>
            <a:spLocks noGrp="1"/>
          </p:cNvSpPr>
          <p:nvPr>
            <p:ph type="dt" sz="half" idx="10"/>
          </p:nvPr>
        </p:nvSpPr>
        <p:spPr/>
        <p:txBody>
          <a:bodyPr/>
          <a:lstStyle/>
          <a:p>
            <a:fld id="{129B4A08-CA45-644D-AB21-0FDF83624AE1}" type="datetimeFigureOut">
              <a:rPr lang="en-US" smtClean="0"/>
              <a:t>9/3/24</a:t>
            </a:fld>
            <a:endParaRPr lang="en-US"/>
          </a:p>
        </p:txBody>
      </p:sp>
      <p:sp>
        <p:nvSpPr>
          <p:cNvPr id="4" name="Footer Placeholder 3">
            <a:extLst>
              <a:ext uri="{FF2B5EF4-FFF2-40B4-BE49-F238E27FC236}">
                <a16:creationId xmlns:a16="http://schemas.microsoft.com/office/drawing/2014/main" id="{CEFFE436-E82C-7556-1A3C-BC08DDF818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0E2B6E-D578-8C27-EDC7-853384AB3836}"/>
              </a:ext>
            </a:extLst>
          </p:cNvPr>
          <p:cNvSpPr>
            <a:spLocks noGrp="1"/>
          </p:cNvSpPr>
          <p:nvPr>
            <p:ph type="sldNum" sz="quarter" idx="12"/>
          </p:nvPr>
        </p:nvSpPr>
        <p:spPr/>
        <p:txBody>
          <a:bodyPr/>
          <a:lstStyle/>
          <a:p>
            <a:fld id="{0FE27E25-C7CE-3F49-981D-1D7EF50BD76C}" type="slidenum">
              <a:rPr lang="en-US" smtClean="0"/>
              <a:t>‹#›</a:t>
            </a:fld>
            <a:endParaRPr lang="en-US"/>
          </a:p>
        </p:txBody>
      </p:sp>
    </p:spTree>
    <p:extLst>
      <p:ext uri="{BB962C8B-B14F-4D97-AF65-F5344CB8AC3E}">
        <p14:creationId xmlns:p14="http://schemas.microsoft.com/office/powerpoint/2010/main" val="708878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D28625-E203-1B7B-E8EF-9102B5097382}"/>
              </a:ext>
            </a:extLst>
          </p:cNvPr>
          <p:cNvSpPr>
            <a:spLocks noGrp="1"/>
          </p:cNvSpPr>
          <p:nvPr>
            <p:ph type="dt" sz="half" idx="10"/>
          </p:nvPr>
        </p:nvSpPr>
        <p:spPr/>
        <p:txBody>
          <a:bodyPr/>
          <a:lstStyle/>
          <a:p>
            <a:fld id="{129B4A08-CA45-644D-AB21-0FDF83624AE1}" type="datetimeFigureOut">
              <a:rPr lang="en-US" smtClean="0"/>
              <a:t>9/3/24</a:t>
            </a:fld>
            <a:endParaRPr lang="en-US"/>
          </a:p>
        </p:txBody>
      </p:sp>
      <p:sp>
        <p:nvSpPr>
          <p:cNvPr id="3" name="Footer Placeholder 2">
            <a:extLst>
              <a:ext uri="{FF2B5EF4-FFF2-40B4-BE49-F238E27FC236}">
                <a16:creationId xmlns:a16="http://schemas.microsoft.com/office/drawing/2014/main" id="{598D9E3C-2D50-6ED0-9711-61F42D2A523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0E2EF2-1818-8F94-1FE9-1E7F0545E102}"/>
              </a:ext>
            </a:extLst>
          </p:cNvPr>
          <p:cNvSpPr>
            <a:spLocks noGrp="1"/>
          </p:cNvSpPr>
          <p:nvPr>
            <p:ph type="sldNum" sz="quarter" idx="12"/>
          </p:nvPr>
        </p:nvSpPr>
        <p:spPr/>
        <p:txBody>
          <a:bodyPr/>
          <a:lstStyle/>
          <a:p>
            <a:fld id="{0FE27E25-C7CE-3F49-981D-1D7EF50BD76C}" type="slidenum">
              <a:rPr lang="en-US" smtClean="0"/>
              <a:t>‹#›</a:t>
            </a:fld>
            <a:endParaRPr lang="en-US"/>
          </a:p>
        </p:txBody>
      </p:sp>
    </p:spTree>
    <p:extLst>
      <p:ext uri="{BB962C8B-B14F-4D97-AF65-F5344CB8AC3E}">
        <p14:creationId xmlns:p14="http://schemas.microsoft.com/office/powerpoint/2010/main" val="2533671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05473-8E11-0220-516C-C2BBF1A8D26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E344838-535C-9BF4-76C2-F1E1C07335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FB07602-2212-9DCE-BB76-9C64DA86D1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A39EA2-9862-127F-A9A7-165A27760627}"/>
              </a:ext>
            </a:extLst>
          </p:cNvPr>
          <p:cNvSpPr>
            <a:spLocks noGrp="1"/>
          </p:cNvSpPr>
          <p:nvPr>
            <p:ph type="dt" sz="half" idx="10"/>
          </p:nvPr>
        </p:nvSpPr>
        <p:spPr/>
        <p:txBody>
          <a:bodyPr/>
          <a:lstStyle/>
          <a:p>
            <a:fld id="{129B4A08-CA45-644D-AB21-0FDF83624AE1}" type="datetimeFigureOut">
              <a:rPr lang="en-US" smtClean="0"/>
              <a:t>9/3/24</a:t>
            </a:fld>
            <a:endParaRPr lang="en-US"/>
          </a:p>
        </p:txBody>
      </p:sp>
      <p:sp>
        <p:nvSpPr>
          <p:cNvPr id="6" name="Footer Placeholder 5">
            <a:extLst>
              <a:ext uri="{FF2B5EF4-FFF2-40B4-BE49-F238E27FC236}">
                <a16:creationId xmlns:a16="http://schemas.microsoft.com/office/drawing/2014/main" id="{82FB95AE-DED0-1F9A-AD5E-52667B40DA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652BCE-99ED-67D5-BEAE-667C0245FEF1}"/>
              </a:ext>
            </a:extLst>
          </p:cNvPr>
          <p:cNvSpPr>
            <a:spLocks noGrp="1"/>
          </p:cNvSpPr>
          <p:nvPr>
            <p:ph type="sldNum" sz="quarter" idx="12"/>
          </p:nvPr>
        </p:nvSpPr>
        <p:spPr/>
        <p:txBody>
          <a:bodyPr/>
          <a:lstStyle/>
          <a:p>
            <a:fld id="{0FE27E25-C7CE-3F49-981D-1D7EF50BD76C}" type="slidenum">
              <a:rPr lang="en-US" smtClean="0"/>
              <a:t>‹#›</a:t>
            </a:fld>
            <a:endParaRPr lang="en-US"/>
          </a:p>
        </p:txBody>
      </p:sp>
    </p:spTree>
    <p:extLst>
      <p:ext uri="{BB962C8B-B14F-4D97-AF65-F5344CB8AC3E}">
        <p14:creationId xmlns:p14="http://schemas.microsoft.com/office/powerpoint/2010/main" val="3476449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49C26-8E06-B5A1-6A64-16B11BE90BE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E4ADCD5-B0E4-E332-56EB-1BCD075D27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D6121F-93EC-BC87-3E59-7B60DBEDF3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A6577C-C8EB-9E92-D017-BDDECDB65397}"/>
              </a:ext>
            </a:extLst>
          </p:cNvPr>
          <p:cNvSpPr>
            <a:spLocks noGrp="1"/>
          </p:cNvSpPr>
          <p:nvPr>
            <p:ph type="dt" sz="half" idx="10"/>
          </p:nvPr>
        </p:nvSpPr>
        <p:spPr/>
        <p:txBody>
          <a:bodyPr/>
          <a:lstStyle/>
          <a:p>
            <a:fld id="{129B4A08-CA45-644D-AB21-0FDF83624AE1}" type="datetimeFigureOut">
              <a:rPr lang="en-US" smtClean="0"/>
              <a:t>9/3/24</a:t>
            </a:fld>
            <a:endParaRPr lang="en-US"/>
          </a:p>
        </p:txBody>
      </p:sp>
      <p:sp>
        <p:nvSpPr>
          <p:cNvPr id="6" name="Footer Placeholder 5">
            <a:extLst>
              <a:ext uri="{FF2B5EF4-FFF2-40B4-BE49-F238E27FC236}">
                <a16:creationId xmlns:a16="http://schemas.microsoft.com/office/drawing/2014/main" id="{40E43FCC-643B-201D-4683-B5CFDD011F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03A4B7-2465-4090-7D44-86DC8FFEF85D}"/>
              </a:ext>
            </a:extLst>
          </p:cNvPr>
          <p:cNvSpPr>
            <a:spLocks noGrp="1"/>
          </p:cNvSpPr>
          <p:nvPr>
            <p:ph type="sldNum" sz="quarter" idx="12"/>
          </p:nvPr>
        </p:nvSpPr>
        <p:spPr/>
        <p:txBody>
          <a:bodyPr/>
          <a:lstStyle/>
          <a:p>
            <a:fld id="{0FE27E25-C7CE-3F49-981D-1D7EF50BD76C}" type="slidenum">
              <a:rPr lang="en-US" smtClean="0"/>
              <a:t>‹#›</a:t>
            </a:fld>
            <a:endParaRPr lang="en-US"/>
          </a:p>
        </p:txBody>
      </p:sp>
    </p:spTree>
    <p:extLst>
      <p:ext uri="{BB962C8B-B14F-4D97-AF65-F5344CB8AC3E}">
        <p14:creationId xmlns:p14="http://schemas.microsoft.com/office/powerpoint/2010/main" val="2369121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55EF8-70B0-C7AC-831A-E44A6D63809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ECFCF58-ABA3-3430-95F0-267328494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23986F9-A6BD-AEBA-6300-3FF4005B09FF}"/>
              </a:ext>
            </a:extLst>
          </p:cNvPr>
          <p:cNvSpPr>
            <a:spLocks noGrp="1"/>
          </p:cNvSpPr>
          <p:nvPr>
            <p:ph type="dt" sz="half" idx="10"/>
          </p:nvPr>
        </p:nvSpPr>
        <p:spPr/>
        <p:txBody>
          <a:bodyPr/>
          <a:lstStyle/>
          <a:p>
            <a:fld id="{129B4A08-CA45-644D-AB21-0FDF83624AE1}" type="datetimeFigureOut">
              <a:rPr lang="en-US" smtClean="0"/>
              <a:t>9/3/24</a:t>
            </a:fld>
            <a:endParaRPr lang="en-US"/>
          </a:p>
        </p:txBody>
      </p:sp>
      <p:sp>
        <p:nvSpPr>
          <p:cNvPr id="5" name="Footer Placeholder 4">
            <a:extLst>
              <a:ext uri="{FF2B5EF4-FFF2-40B4-BE49-F238E27FC236}">
                <a16:creationId xmlns:a16="http://schemas.microsoft.com/office/drawing/2014/main" id="{B4BF826F-1009-6324-6B2B-D39F5381E6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8A6477-C92E-8A19-D32A-8111AFD88BF1}"/>
              </a:ext>
            </a:extLst>
          </p:cNvPr>
          <p:cNvSpPr>
            <a:spLocks noGrp="1"/>
          </p:cNvSpPr>
          <p:nvPr>
            <p:ph type="sldNum" sz="quarter" idx="12"/>
          </p:nvPr>
        </p:nvSpPr>
        <p:spPr/>
        <p:txBody>
          <a:bodyPr/>
          <a:lstStyle/>
          <a:p>
            <a:fld id="{0FE27E25-C7CE-3F49-981D-1D7EF50BD76C}" type="slidenum">
              <a:rPr lang="en-US" smtClean="0"/>
              <a:t>‹#›</a:t>
            </a:fld>
            <a:endParaRPr lang="en-US"/>
          </a:p>
        </p:txBody>
      </p:sp>
    </p:spTree>
    <p:extLst>
      <p:ext uri="{BB962C8B-B14F-4D97-AF65-F5344CB8AC3E}">
        <p14:creationId xmlns:p14="http://schemas.microsoft.com/office/powerpoint/2010/main" val="3772559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F05548-F065-3770-CF9C-2D8927212D5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BFF4D43-5BE8-84D7-1521-65A0C47B228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7BF4A6C-2CD3-18D9-6C9D-D4E633CEF42F}"/>
              </a:ext>
            </a:extLst>
          </p:cNvPr>
          <p:cNvSpPr>
            <a:spLocks noGrp="1"/>
          </p:cNvSpPr>
          <p:nvPr>
            <p:ph type="dt" sz="half" idx="10"/>
          </p:nvPr>
        </p:nvSpPr>
        <p:spPr/>
        <p:txBody>
          <a:bodyPr/>
          <a:lstStyle/>
          <a:p>
            <a:fld id="{129B4A08-CA45-644D-AB21-0FDF83624AE1}" type="datetimeFigureOut">
              <a:rPr lang="en-US" smtClean="0"/>
              <a:t>9/3/24</a:t>
            </a:fld>
            <a:endParaRPr lang="en-US"/>
          </a:p>
        </p:txBody>
      </p:sp>
      <p:sp>
        <p:nvSpPr>
          <p:cNvPr id="5" name="Footer Placeholder 4">
            <a:extLst>
              <a:ext uri="{FF2B5EF4-FFF2-40B4-BE49-F238E27FC236}">
                <a16:creationId xmlns:a16="http://schemas.microsoft.com/office/drawing/2014/main" id="{60F57281-69A8-BD3A-4584-9B833E80C7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FA7D8E-2AA1-CA4E-0D56-937D1C84E9B2}"/>
              </a:ext>
            </a:extLst>
          </p:cNvPr>
          <p:cNvSpPr>
            <a:spLocks noGrp="1"/>
          </p:cNvSpPr>
          <p:nvPr>
            <p:ph type="sldNum" sz="quarter" idx="12"/>
          </p:nvPr>
        </p:nvSpPr>
        <p:spPr/>
        <p:txBody>
          <a:bodyPr/>
          <a:lstStyle/>
          <a:p>
            <a:fld id="{0FE27E25-C7CE-3F49-981D-1D7EF50BD76C}" type="slidenum">
              <a:rPr lang="en-US" smtClean="0"/>
              <a:t>‹#›</a:t>
            </a:fld>
            <a:endParaRPr lang="en-US"/>
          </a:p>
        </p:txBody>
      </p:sp>
    </p:spTree>
    <p:extLst>
      <p:ext uri="{BB962C8B-B14F-4D97-AF65-F5344CB8AC3E}">
        <p14:creationId xmlns:p14="http://schemas.microsoft.com/office/powerpoint/2010/main" val="3448634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27C43A-CFF1-7787-FD94-60099B06A3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F9100DB-5193-DFE1-64B9-0C194D5E6E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C70E34D-BAFF-1D05-F2A3-2450685FDB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9B4A08-CA45-644D-AB21-0FDF83624AE1}" type="datetimeFigureOut">
              <a:rPr lang="en-US" smtClean="0"/>
              <a:t>9/3/24</a:t>
            </a:fld>
            <a:endParaRPr lang="en-US"/>
          </a:p>
        </p:txBody>
      </p:sp>
      <p:sp>
        <p:nvSpPr>
          <p:cNvPr id="5" name="Footer Placeholder 4">
            <a:extLst>
              <a:ext uri="{FF2B5EF4-FFF2-40B4-BE49-F238E27FC236}">
                <a16:creationId xmlns:a16="http://schemas.microsoft.com/office/drawing/2014/main" id="{F1C66A88-A67A-0F03-A722-50A308400B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398636B-4562-EEED-ED8B-9959B7F08E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E27E25-C7CE-3F49-981D-1D7EF50BD76C}" type="slidenum">
              <a:rPr lang="en-US" smtClean="0"/>
              <a:t>‹#›</a:t>
            </a:fld>
            <a:endParaRPr lang="en-US"/>
          </a:p>
        </p:txBody>
      </p:sp>
    </p:spTree>
    <p:extLst>
      <p:ext uri="{BB962C8B-B14F-4D97-AF65-F5344CB8AC3E}">
        <p14:creationId xmlns:p14="http://schemas.microsoft.com/office/powerpoint/2010/main" val="3380498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oogle.nl/url?sa=i&amp;rct=j&amp;q=&amp;esrc=s&amp;source=images&amp;cd=&amp;cad=rja&amp;uact=8&amp;ved=0ahUKEwjIqL2Xs97NAhXMJsAKHV54BIgQjRwIBw&amp;url=https://www.pinterest.com/pin/325525879292828933/&amp;bvm=bv.126130881,d.d2s&amp;psig=AFQjCNFqChv1Do-59xci7NOWZrF5-oUyVg&amp;ust=1467879426540455"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hyperlink" Target="http://www.google.nl/url?sa=i&amp;rct=j&amp;q=&amp;esrc=s&amp;source=images&amp;cd=&amp;cad=rja&amp;uact=8&amp;ved=0ahUKEwiB3NnQqd7NAhUnB8AKHUWpC2QQjRwIBw&amp;url=http://www.scilogs.com/stripped_science/why-to-wear-a-labcoat-cartoon/&amp;bvm=bv.126130881,d.d2s&amp;psig=AFQjCNGaIZPc8IyiGC_zjEqIXV-0QqoxkA&amp;ust=1467876872925772"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gif"/></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7.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slides/_rels/slide1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16.emf"/><Relationship Id="rId1" Type="http://schemas.openxmlformats.org/officeDocument/2006/relationships/slideLayout" Target="../slideLayouts/slideLayout7.xml"/><Relationship Id="rId4" Type="http://schemas.openxmlformats.org/officeDocument/2006/relationships/image" Target="../media/image22.emf"/></Relationships>
</file>

<file path=ppt/slides/_rels/slide1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59"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61" name="Freeform: Shape 2060">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0" name="Picture 2" descr="The Fundamentals of Lab Safety -- Occupational Health &amp; Safety">
            <a:extLst>
              <a:ext uri="{FF2B5EF4-FFF2-40B4-BE49-F238E27FC236}">
                <a16:creationId xmlns:a16="http://schemas.microsoft.com/office/drawing/2014/main" id="{472A91BB-151C-AD1E-898E-ACA48A4BEFF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7376" y="2171615"/>
            <a:ext cx="3343202" cy="1617678"/>
          </a:xfrm>
          <a:prstGeom prst="rect">
            <a:avLst/>
          </a:prstGeom>
          <a:noFill/>
          <a:extLst>
            <a:ext uri="{909E8E84-426E-40DD-AFC4-6F175D3DCCD1}">
              <a14:hiddenFill xmlns:a14="http://schemas.microsoft.com/office/drawing/2010/main">
                <a:solidFill>
                  <a:srgbClr val="FFFFFF"/>
                </a:solidFill>
              </a14:hiddenFill>
            </a:ext>
          </a:extLst>
        </p:spPr>
      </p:pic>
      <p:sp>
        <p:nvSpPr>
          <p:cNvPr id="2063" name="Freeform: Shape 2062">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6"/>
          <p:cNvSpPr>
            <a:spLocks noGrp="1" noChangeArrowheads="1"/>
          </p:cNvSpPr>
          <p:nvPr>
            <p:ph type="sldNum" sz="quarter" idx="4294967295"/>
          </p:nvPr>
        </p:nvSpPr>
        <p:spPr>
          <a:xfrm>
            <a:off x="10707624" y="6382512"/>
            <a:ext cx="685800" cy="320040"/>
          </a:xfrm>
          <a:prstGeom prst="rect">
            <a:avLst/>
          </a:prstGeom>
        </p:spPr>
        <p:txBody>
          <a:bodyPr vert="horz" lIns="91440" tIns="45720" rIns="91440" bIns="45720" rtlCol="0" anchor="ctr">
            <a:normAutofit/>
          </a:bodyPr>
          <a:lstStyle>
            <a:lvl1pPr algn="ctr" eaLnBrk="0" hangingPunct="0">
              <a:defRPr>
                <a:solidFill>
                  <a:schemeClr val="tx1"/>
                </a:solidFill>
                <a:latin typeface="Arial" charset="0"/>
              </a:defRPr>
            </a:lvl1pPr>
            <a:lvl2pPr marL="742950" indent="-285750" algn="ctr" eaLnBrk="0" hangingPunct="0">
              <a:defRPr>
                <a:solidFill>
                  <a:schemeClr val="tx1"/>
                </a:solidFill>
                <a:latin typeface="Arial" charset="0"/>
              </a:defRPr>
            </a:lvl2pPr>
            <a:lvl3pPr marL="1143000" indent="-228600" algn="ctr" eaLnBrk="0" hangingPunct="0">
              <a:defRPr>
                <a:solidFill>
                  <a:schemeClr val="tx1"/>
                </a:solidFill>
                <a:latin typeface="Arial" charset="0"/>
              </a:defRPr>
            </a:lvl3pPr>
            <a:lvl4pPr marL="1600200" indent="-228600" algn="ctr" eaLnBrk="0" hangingPunct="0">
              <a:defRPr>
                <a:solidFill>
                  <a:schemeClr val="tx1"/>
                </a:solidFill>
                <a:latin typeface="Arial" charset="0"/>
              </a:defRPr>
            </a:lvl4pPr>
            <a:lvl5pPr marL="2057400" indent="-228600" algn="ctr"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spcAft>
                <a:spcPts val="600"/>
              </a:spcAft>
              <a:defRPr/>
            </a:pPr>
            <a:fld id="{1E101D71-1B26-4B51-87C9-F074178619A0}" type="slidenum">
              <a:rPr lang="en-US">
                <a:solidFill>
                  <a:schemeClr val="tx1">
                    <a:tint val="75000"/>
                  </a:schemeClr>
                </a:solidFill>
                <a:latin typeface="+mn-lt"/>
              </a:rPr>
              <a:pPr algn="r" eaLnBrk="1" hangingPunct="1">
                <a:spcAft>
                  <a:spcPts val="600"/>
                </a:spcAft>
                <a:defRPr/>
              </a:pPr>
              <a:t>1</a:t>
            </a:fld>
            <a:endParaRPr lang="en-US">
              <a:solidFill>
                <a:schemeClr val="tx1">
                  <a:tint val="75000"/>
                </a:schemeClr>
              </a:solidFill>
              <a:latin typeface="+mn-lt"/>
            </a:endParaRPr>
          </a:p>
        </p:txBody>
      </p:sp>
      <p:grpSp>
        <p:nvGrpSpPr>
          <p:cNvPr id="9" name="Group 8">
            <a:extLst>
              <a:ext uri="{FF2B5EF4-FFF2-40B4-BE49-F238E27FC236}">
                <a16:creationId xmlns:a16="http://schemas.microsoft.com/office/drawing/2014/main" id="{8ED9A1CE-DD8E-B76B-1A38-DF3A0B352DFA}"/>
              </a:ext>
            </a:extLst>
          </p:cNvPr>
          <p:cNvGrpSpPr/>
          <p:nvPr/>
        </p:nvGrpSpPr>
        <p:grpSpPr>
          <a:xfrm>
            <a:off x="5545244" y="2963691"/>
            <a:ext cx="6020730" cy="1469790"/>
            <a:chOff x="1524000" y="1268760"/>
            <a:chExt cx="9144000" cy="2232248"/>
          </a:xfrm>
        </p:grpSpPr>
        <p:sp>
          <p:nvSpPr>
            <p:cNvPr id="7" name="Rectangle 3"/>
            <p:cNvSpPr>
              <a:spLocks noChangeArrowheads="1"/>
            </p:cNvSpPr>
            <p:nvPr/>
          </p:nvSpPr>
          <p:spPr bwMode="auto">
            <a:xfrm>
              <a:off x="1524000" y="1268760"/>
              <a:ext cx="9144000" cy="2232248"/>
            </a:xfrm>
            <a:prstGeom prst="rect">
              <a:avLst/>
            </a:prstGeom>
            <a:solidFill>
              <a:srgbClr val="CC0000"/>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457200" lvl="1" indent="0" algn="ctr">
                <a:buNone/>
              </a:pPr>
              <a:endParaRPr lang="en-US" sz="2200">
                <a:solidFill>
                  <a:schemeClr val="bg1"/>
                </a:solidFill>
                <a:latin typeface="Calibri" panose="020F0502020204030204" pitchFamily="34" charset="0"/>
                <a:cs typeface="Calibri" panose="020F0502020204030204" pitchFamily="34" charset="0"/>
              </a:endParaRPr>
            </a:p>
          </p:txBody>
        </p:sp>
        <p:sp>
          <p:nvSpPr>
            <p:cNvPr id="6" name="TextBox 5"/>
            <p:cNvSpPr txBox="1"/>
            <p:nvPr/>
          </p:nvSpPr>
          <p:spPr>
            <a:xfrm>
              <a:off x="1752600" y="1371600"/>
              <a:ext cx="8763000" cy="1938992"/>
            </a:xfrm>
            <a:prstGeom prst="rect">
              <a:avLst/>
            </a:prstGeom>
            <a:noFill/>
          </p:spPr>
          <p:txBody>
            <a:bodyPr wrap="square" rtlCol="0">
              <a:spAutoFit/>
            </a:bodyPr>
            <a:lstStyle/>
            <a:p>
              <a:pPr algn="ctr" defTabSz="594360">
                <a:spcAft>
                  <a:spcPts val="600"/>
                </a:spcAft>
              </a:pPr>
              <a:r>
                <a:rPr lang="nl-NL" sz="2600" kern="1200" err="1">
                  <a:solidFill>
                    <a:schemeClr val="bg1"/>
                  </a:solidFill>
                  <a:latin typeface="Calibri" panose="020F0502020204030204" pitchFamily="34" charset="0"/>
                  <a:ea typeface="+mn-ea"/>
                  <a:cs typeface="Calibri" panose="020F0502020204030204" pitchFamily="34" charset="0"/>
                </a:rPr>
                <a:t>Laboratory</a:t>
              </a:r>
              <a:r>
                <a:rPr lang="nl-NL" sz="2600" kern="1200">
                  <a:solidFill>
                    <a:schemeClr val="bg1"/>
                  </a:solidFill>
                  <a:latin typeface="Calibri" panose="020F0502020204030204" pitchFamily="34" charset="0"/>
                  <a:ea typeface="+mn-ea"/>
                  <a:cs typeface="Calibri" panose="020F0502020204030204" pitchFamily="34" charset="0"/>
                </a:rPr>
                <a:t> </a:t>
              </a:r>
              <a:r>
                <a:rPr lang="nl-NL" sz="2600" kern="1200" err="1">
                  <a:solidFill>
                    <a:schemeClr val="bg1"/>
                  </a:solidFill>
                  <a:latin typeface="Calibri" panose="020F0502020204030204" pitchFamily="34" charset="0"/>
                  <a:ea typeface="+mn-ea"/>
                  <a:cs typeface="Calibri" panose="020F0502020204030204" pitchFamily="34" charset="0"/>
                </a:rPr>
                <a:t>safety</a:t>
              </a:r>
              <a:endParaRPr lang="nl-NL" sz="2600" kern="1200">
                <a:solidFill>
                  <a:schemeClr val="bg1"/>
                </a:solidFill>
                <a:latin typeface="Calibri" panose="020F0502020204030204" pitchFamily="34" charset="0"/>
                <a:ea typeface="+mn-ea"/>
                <a:cs typeface="Calibri" panose="020F0502020204030204" pitchFamily="34" charset="0"/>
              </a:endParaRPr>
            </a:p>
            <a:p>
              <a:pPr algn="ctr" defTabSz="594360">
                <a:spcAft>
                  <a:spcPts val="600"/>
                </a:spcAft>
              </a:pPr>
              <a:endParaRPr lang="nl-NL" sz="2600" kern="1200">
                <a:solidFill>
                  <a:schemeClr val="bg1"/>
                </a:solidFill>
                <a:latin typeface="Calibri" panose="020F0502020204030204" pitchFamily="34" charset="0"/>
                <a:ea typeface="+mn-ea"/>
                <a:cs typeface="Calibri" panose="020F0502020204030204" pitchFamily="34" charset="0"/>
              </a:endParaRPr>
            </a:p>
            <a:p>
              <a:pPr algn="ctr" defTabSz="594360">
                <a:spcAft>
                  <a:spcPts val="600"/>
                </a:spcAft>
              </a:pPr>
              <a:r>
                <a:rPr lang="nl-NL" sz="2600" i="1" kern="1200">
                  <a:solidFill>
                    <a:schemeClr val="bg1"/>
                  </a:solidFill>
                  <a:latin typeface="Calibri" panose="020F0502020204030204" pitchFamily="34" charset="0"/>
                  <a:ea typeface="+mn-ea"/>
                  <a:cs typeface="Calibri" panose="020F0502020204030204" pitchFamily="34" charset="0"/>
                </a:rPr>
                <a:t>Safety is a MUST ! </a:t>
              </a:r>
              <a:endParaRPr lang="en-US" i="1">
                <a:solidFill>
                  <a:schemeClr val="bg1"/>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5841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Content Placeholder 2"/>
          <p:cNvSpPr>
            <a:spLocks noGrp="1"/>
          </p:cNvSpPr>
          <p:nvPr>
            <p:ph idx="1"/>
          </p:nvPr>
        </p:nvSpPr>
        <p:spPr/>
        <p:txBody>
          <a:bodyPr/>
          <a:lstStyle/>
          <a:p>
            <a:pPr eaLnBrk="1" hangingPunct="1"/>
            <a:endParaRPr lang="nl-NL" dirty="0">
              <a:latin typeface="Calibri" panose="020F0502020204030204" pitchFamily="34" charset="0"/>
              <a:cs typeface="Calibri" panose="020F0502020204030204" pitchFamily="34" charset="0"/>
            </a:endParaRPr>
          </a:p>
          <a:p>
            <a:pPr eaLnBrk="1" hangingPunct="1"/>
            <a:endParaRPr lang="nl-NL" dirty="0">
              <a:latin typeface="Calibri" panose="020F0502020204030204" pitchFamily="34" charset="0"/>
              <a:cs typeface="Calibri" panose="020F0502020204030204" pitchFamily="34" charset="0"/>
            </a:endParaRPr>
          </a:p>
          <a:p>
            <a:pPr marL="457200" lvl="1" indent="0">
              <a:buNone/>
            </a:pPr>
            <a:endParaRPr lang="nl-NL" sz="2000" dirty="0">
              <a:latin typeface="Calibri" panose="020F0502020204030204" pitchFamily="34" charset="0"/>
              <a:cs typeface="Calibri" panose="020F0502020204030204" pitchFamily="34" charset="0"/>
              <a:sym typeface="Wingdings" pitchFamily="2" charset="2"/>
            </a:endParaRPr>
          </a:p>
        </p:txBody>
      </p:sp>
      <p:sp>
        <p:nvSpPr>
          <p:cNvPr id="22530" name="Title 1"/>
          <p:cNvSpPr txBox="1">
            <a:spLocks/>
          </p:cNvSpPr>
          <p:nvPr/>
        </p:nvSpPr>
        <p:spPr bwMode="auto">
          <a:xfrm>
            <a:off x="2135189" y="188913"/>
            <a:ext cx="7869237" cy="1143000"/>
          </a:xfrm>
          <a:prstGeom prst="rect">
            <a:avLst/>
          </a:prstGeom>
          <a:noFill/>
          <a:ln w="9525">
            <a:noFill/>
            <a:miter lim="800000"/>
            <a:headEnd/>
            <a:tailEnd/>
          </a:ln>
        </p:spPr>
        <p:txBody>
          <a:bodyPr anchor="ctr"/>
          <a:lstStyle/>
          <a:p>
            <a:pPr lvl="1"/>
            <a:endParaRPr lang="en-US" sz="3200" dirty="0">
              <a:latin typeface="Calibri" panose="020F0502020204030204" pitchFamily="34" charset="0"/>
              <a:cs typeface="Calibri" panose="020F0502020204030204" pitchFamily="34" charset="0"/>
            </a:endParaRPr>
          </a:p>
        </p:txBody>
      </p:sp>
      <p:sp>
        <p:nvSpPr>
          <p:cNvPr id="6" name="Rectangle 3"/>
          <p:cNvSpPr>
            <a:spLocks noChangeArrowheads="1"/>
          </p:cNvSpPr>
          <p:nvPr/>
        </p:nvSpPr>
        <p:spPr bwMode="auto">
          <a:xfrm>
            <a:off x="1524000" y="188641"/>
            <a:ext cx="9144000" cy="720725"/>
          </a:xfrm>
          <a:prstGeom prst="rect">
            <a:avLst/>
          </a:prstGeom>
          <a:solidFill>
            <a:srgbClr val="CC0000"/>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457200" lvl="1" indent="0" algn="ctr">
              <a:buNone/>
            </a:pPr>
            <a:r>
              <a:rPr lang="nl-NL" sz="2200" dirty="0">
                <a:solidFill>
                  <a:schemeClr val="bg1"/>
                </a:solidFill>
                <a:latin typeface="Calibri" panose="020F0502020204030204" pitchFamily="34" charset="0"/>
                <a:cs typeface="Calibri" panose="020F0502020204030204" pitchFamily="34" charset="0"/>
              </a:rPr>
              <a:t>General </a:t>
            </a:r>
            <a:r>
              <a:rPr lang="nl-NL" sz="2200" dirty="0" err="1">
                <a:solidFill>
                  <a:schemeClr val="bg1"/>
                </a:solidFill>
                <a:latin typeface="Calibri" panose="020F0502020204030204" pitchFamily="34" charset="0"/>
                <a:cs typeface="Calibri" panose="020F0502020204030204" pitchFamily="34" charset="0"/>
              </a:rPr>
              <a:t>principles</a:t>
            </a:r>
            <a:endParaRPr lang="en-US" sz="2200" dirty="0">
              <a:solidFill>
                <a:schemeClr val="bg1"/>
              </a:solidFill>
              <a:latin typeface="Calibri" panose="020F0502020204030204" pitchFamily="34" charset="0"/>
              <a:cs typeface="Calibri" panose="020F0502020204030204" pitchFamily="34" charset="0"/>
            </a:endParaRPr>
          </a:p>
        </p:txBody>
      </p:sp>
      <p:sp>
        <p:nvSpPr>
          <p:cNvPr id="8" name="Rectangle 6"/>
          <p:cNvSpPr>
            <a:spLocks noGrp="1" noChangeArrowheads="1"/>
          </p:cNvSpPr>
          <p:nvPr>
            <p:ph type="sldNum" sz="quarter" idx="4294967295"/>
          </p:nvPr>
        </p:nvSpPr>
        <p:spPr>
          <a:xfrm>
            <a:off x="8077200" y="6245225"/>
            <a:ext cx="2133600" cy="476250"/>
          </a:xfrm>
          <a:prstGeom prst="rect">
            <a:avLst/>
          </a:prstGeom>
        </p:spPr>
        <p:txBody>
          <a:bodyPr/>
          <a:lstStyle>
            <a:lvl1pPr algn="ctr" eaLnBrk="0" hangingPunct="0">
              <a:defRPr>
                <a:solidFill>
                  <a:schemeClr val="tx1"/>
                </a:solidFill>
                <a:latin typeface="Arial" charset="0"/>
              </a:defRPr>
            </a:lvl1pPr>
            <a:lvl2pPr marL="742950" indent="-285750" algn="ctr" eaLnBrk="0" hangingPunct="0">
              <a:defRPr>
                <a:solidFill>
                  <a:schemeClr val="tx1"/>
                </a:solidFill>
                <a:latin typeface="Arial" charset="0"/>
              </a:defRPr>
            </a:lvl2pPr>
            <a:lvl3pPr marL="1143000" indent="-228600" algn="ctr" eaLnBrk="0" hangingPunct="0">
              <a:defRPr>
                <a:solidFill>
                  <a:schemeClr val="tx1"/>
                </a:solidFill>
                <a:latin typeface="Arial" charset="0"/>
              </a:defRPr>
            </a:lvl3pPr>
            <a:lvl4pPr marL="1600200" indent="-228600" algn="ctr" eaLnBrk="0" hangingPunct="0">
              <a:defRPr>
                <a:solidFill>
                  <a:schemeClr val="tx1"/>
                </a:solidFill>
                <a:latin typeface="Arial" charset="0"/>
              </a:defRPr>
            </a:lvl4pPr>
            <a:lvl5pPr marL="2057400" indent="-228600" algn="ctr"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defRPr/>
            </a:pPr>
            <a:fld id="{1E101D71-1B26-4B51-87C9-F074178619A0}" type="slidenum">
              <a:rPr lang="en-US" sz="1600">
                <a:solidFill>
                  <a:schemeClr val="bg2"/>
                </a:solidFill>
                <a:latin typeface="Calibri" panose="020F0502020204030204" pitchFamily="34" charset="0"/>
                <a:cs typeface="Calibri" panose="020F0502020204030204" pitchFamily="34" charset="0"/>
              </a:rPr>
              <a:pPr algn="r" eaLnBrk="1" hangingPunct="1">
                <a:defRPr/>
              </a:pPr>
              <a:t>2</a:t>
            </a:fld>
            <a:endParaRPr lang="en-US" sz="1600" dirty="0">
              <a:solidFill>
                <a:schemeClr val="bg2"/>
              </a:solidFill>
              <a:latin typeface="Calibri" panose="020F0502020204030204" pitchFamily="34" charset="0"/>
              <a:cs typeface="Calibri" panose="020F0502020204030204" pitchFamily="34" charset="0"/>
            </a:endParaRPr>
          </a:p>
        </p:txBody>
      </p:sp>
      <p:sp>
        <p:nvSpPr>
          <p:cNvPr id="7" name="TextBox 6"/>
          <p:cNvSpPr txBox="1"/>
          <p:nvPr/>
        </p:nvSpPr>
        <p:spPr>
          <a:xfrm>
            <a:off x="1828800" y="983839"/>
            <a:ext cx="5419328" cy="5355312"/>
          </a:xfrm>
          <a:prstGeom prst="rect">
            <a:avLst/>
          </a:prstGeom>
          <a:noFill/>
        </p:spPr>
        <p:txBody>
          <a:bodyPr wrap="square" rtlCol="0">
            <a:spAutoFit/>
          </a:bodyPr>
          <a:lstStyle/>
          <a:p>
            <a:pPr marL="285750" indent="-285750">
              <a:buFont typeface="Arial" panose="020B0604020202020204" pitchFamily="34" charset="0"/>
              <a:buChar char="•"/>
            </a:pPr>
            <a:r>
              <a:rPr lang="en-US" dirty="0"/>
              <a:t>Working safely is your own responsibility.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Inform yourself on the safety risks of specific procedures.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you feel uncertain, ask help from experienced lab members.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Keep the working space clean and organized.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Work with a well-organized lab journal and register your files.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Never work in a hurry.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Keep notice of your colleagues in the lab.</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Know where the emergency exit and fire extinguishers are.</a:t>
            </a:r>
          </a:p>
        </p:txBody>
      </p:sp>
      <p:pic>
        <p:nvPicPr>
          <p:cNvPr id="5122" name="Picture 2" descr="https://s-media-cache-ak0.pinimg.com/564x/36/98/58/36985891025b59166079880642593e02.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0839" y="2356664"/>
            <a:ext cx="3607161" cy="2561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5311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Content Placeholder 2"/>
          <p:cNvSpPr>
            <a:spLocks noGrp="1"/>
          </p:cNvSpPr>
          <p:nvPr>
            <p:ph idx="1"/>
          </p:nvPr>
        </p:nvSpPr>
        <p:spPr/>
        <p:txBody>
          <a:bodyPr/>
          <a:lstStyle/>
          <a:p>
            <a:pPr eaLnBrk="1" hangingPunct="1"/>
            <a:endParaRPr lang="nl-NL" dirty="0">
              <a:latin typeface="Calibri" panose="020F0502020204030204" pitchFamily="34" charset="0"/>
              <a:cs typeface="Calibri" panose="020F0502020204030204" pitchFamily="34" charset="0"/>
            </a:endParaRPr>
          </a:p>
          <a:p>
            <a:pPr eaLnBrk="1" hangingPunct="1"/>
            <a:endParaRPr lang="nl-NL" dirty="0">
              <a:latin typeface="Calibri" panose="020F0502020204030204" pitchFamily="34" charset="0"/>
              <a:cs typeface="Calibri" panose="020F0502020204030204" pitchFamily="34" charset="0"/>
            </a:endParaRPr>
          </a:p>
          <a:p>
            <a:pPr marL="457200" lvl="1" indent="0">
              <a:buNone/>
            </a:pPr>
            <a:endParaRPr lang="nl-NL" sz="2000" dirty="0">
              <a:latin typeface="Calibri" panose="020F0502020204030204" pitchFamily="34" charset="0"/>
              <a:cs typeface="Calibri" panose="020F0502020204030204" pitchFamily="34" charset="0"/>
              <a:sym typeface="Wingdings" pitchFamily="2" charset="2"/>
            </a:endParaRPr>
          </a:p>
        </p:txBody>
      </p:sp>
      <p:sp>
        <p:nvSpPr>
          <p:cNvPr id="22530" name="Title 1"/>
          <p:cNvSpPr txBox="1">
            <a:spLocks/>
          </p:cNvSpPr>
          <p:nvPr/>
        </p:nvSpPr>
        <p:spPr bwMode="auto">
          <a:xfrm>
            <a:off x="2135189" y="188913"/>
            <a:ext cx="7869237" cy="1143000"/>
          </a:xfrm>
          <a:prstGeom prst="rect">
            <a:avLst/>
          </a:prstGeom>
          <a:noFill/>
          <a:ln w="9525">
            <a:noFill/>
            <a:miter lim="800000"/>
            <a:headEnd/>
            <a:tailEnd/>
          </a:ln>
        </p:spPr>
        <p:txBody>
          <a:bodyPr anchor="ctr"/>
          <a:lstStyle/>
          <a:p>
            <a:pPr lvl="1"/>
            <a:endParaRPr lang="en-US" sz="3200" dirty="0">
              <a:latin typeface="Calibri" panose="020F0502020204030204" pitchFamily="34" charset="0"/>
              <a:cs typeface="Calibri" panose="020F0502020204030204" pitchFamily="34" charset="0"/>
            </a:endParaRPr>
          </a:p>
        </p:txBody>
      </p:sp>
      <p:sp>
        <p:nvSpPr>
          <p:cNvPr id="6" name="Rectangle 3"/>
          <p:cNvSpPr>
            <a:spLocks noChangeArrowheads="1"/>
          </p:cNvSpPr>
          <p:nvPr/>
        </p:nvSpPr>
        <p:spPr bwMode="auto">
          <a:xfrm>
            <a:off x="1524000" y="332657"/>
            <a:ext cx="9144000" cy="720725"/>
          </a:xfrm>
          <a:prstGeom prst="rect">
            <a:avLst/>
          </a:prstGeom>
          <a:solidFill>
            <a:srgbClr val="CC0000"/>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457200" lvl="1" indent="0" algn="ctr">
              <a:buNone/>
            </a:pPr>
            <a:r>
              <a:rPr lang="en-US" sz="2200" dirty="0">
                <a:solidFill>
                  <a:schemeClr val="bg1"/>
                </a:solidFill>
                <a:latin typeface="Calibri" panose="020F0502020204030204" pitchFamily="34" charset="0"/>
                <a:cs typeface="Calibri" panose="020F0502020204030204" pitchFamily="34" charset="0"/>
              </a:rPr>
              <a:t>Personal Protective Equipment</a:t>
            </a:r>
          </a:p>
        </p:txBody>
      </p:sp>
      <p:sp>
        <p:nvSpPr>
          <p:cNvPr id="8" name="Rectangle 6"/>
          <p:cNvSpPr>
            <a:spLocks noGrp="1" noChangeArrowheads="1"/>
          </p:cNvSpPr>
          <p:nvPr>
            <p:ph type="sldNum" sz="quarter" idx="4294967295"/>
          </p:nvPr>
        </p:nvSpPr>
        <p:spPr>
          <a:xfrm>
            <a:off x="8077200" y="6245225"/>
            <a:ext cx="2133600" cy="476250"/>
          </a:xfrm>
          <a:prstGeom prst="rect">
            <a:avLst/>
          </a:prstGeom>
        </p:spPr>
        <p:txBody>
          <a:bodyPr/>
          <a:lstStyle>
            <a:lvl1pPr algn="ctr" eaLnBrk="0" hangingPunct="0">
              <a:defRPr>
                <a:solidFill>
                  <a:schemeClr val="tx1"/>
                </a:solidFill>
                <a:latin typeface="Arial" charset="0"/>
              </a:defRPr>
            </a:lvl1pPr>
            <a:lvl2pPr marL="742950" indent="-285750" algn="ctr" eaLnBrk="0" hangingPunct="0">
              <a:defRPr>
                <a:solidFill>
                  <a:schemeClr val="tx1"/>
                </a:solidFill>
                <a:latin typeface="Arial" charset="0"/>
              </a:defRPr>
            </a:lvl2pPr>
            <a:lvl3pPr marL="1143000" indent="-228600" algn="ctr" eaLnBrk="0" hangingPunct="0">
              <a:defRPr>
                <a:solidFill>
                  <a:schemeClr val="tx1"/>
                </a:solidFill>
                <a:latin typeface="Arial" charset="0"/>
              </a:defRPr>
            </a:lvl3pPr>
            <a:lvl4pPr marL="1600200" indent="-228600" algn="ctr" eaLnBrk="0" hangingPunct="0">
              <a:defRPr>
                <a:solidFill>
                  <a:schemeClr val="tx1"/>
                </a:solidFill>
                <a:latin typeface="Arial" charset="0"/>
              </a:defRPr>
            </a:lvl4pPr>
            <a:lvl5pPr marL="2057400" indent="-228600" algn="ctr"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defRPr/>
            </a:pPr>
            <a:fld id="{1E101D71-1B26-4B51-87C9-F074178619A0}" type="slidenum">
              <a:rPr lang="en-US" sz="1600">
                <a:solidFill>
                  <a:schemeClr val="bg2"/>
                </a:solidFill>
                <a:latin typeface="Calibri" panose="020F0502020204030204" pitchFamily="34" charset="0"/>
                <a:cs typeface="Calibri" panose="020F0502020204030204" pitchFamily="34" charset="0"/>
              </a:rPr>
              <a:pPr algn="r" eaLnBrk="1" hangingPunct="1">
                <a:defRPr/>
              </a:pPr>
              <a:t>3</a:t>
            </a:fld>
            <a:endParaRPr lang="en-US" sz="1600" dirty="0">
              <a:solidFill>
                <a:schemeClr val="bg2"/>
              </a:solidFill>
              <a:latin typeface="Calibri" panose="020F0502020204030204" pitchFamily="34" charset="0"/>
              <a:cs typeface="Calibri" panose="020F0502020204030204" pitchFamily="34" charset="0"/>
            </a:endParaRPr>
          </a:p>
        </p:txBody>
      </p:sp>
      <p:sp>
        <p:nvSpPr>
          <p:cNvPr id="7" name="TextBox 6"/>
          <p:cNvSpPr txBox="1"/>
          <p:nvPr/>
        </p:nvSpPr>
        <p:spPr>
          <a:xfrm>
            <a:off x="1828800" y="1124744"/>
            <a:ext cx="8610600" cy="1969770"/>
          </a:xfrm>
          <a:prstGeom prst="rect">
            <a:avLst/>
          </a:prstGeom>
          <a:noFill/>
        </p:spPr>
        <p:txBody>
          <a:bodyPr wrap="square" rtlCol="0">
            <a:spAutoFit/>
          </a:bodyPr>
          <a:lstStyle/>
          <a:p>
            <a:pPr marL="285750" indent="-285750">
              <a:buFont typeface="Arial" panose="020B0604020202020204" pitchFamily="34" charset="0"/>
              <a:buChar char="•"/>
            </a:pPr>
            <a:r>
              <a:rPr lang="en-US" dirty="0"/>
              <a:t>In the Chemistry lab, always wear a Full Sleeve lab coat.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lab coats should not leave the lab.</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Wear gloves before handling chemicals.</a:t>
            </a:r>
          </a:p>
          <a:p>
            <a:pPr marL="285750" indent="-285750">
              <a:buFont typeface="Arial" panose="020B0604020202020204" pitchFamily="34" charset="0"/>
              <a:buChar char="•"/>
            </a:pPr>
            <a:endParaRPr lang="en-US" sz="1400" dirty="0"/>
          </a:p>
          <a:p>
            <a:endParaRPr lang="en-US" dirty="0"/>
          </a:p>
        </p:txBody>
      </p:sp>
      <p:pic>
        <p:nvPicPr>
          <p:cNvPr id="1026" name="Picture 2" descr="http://www.phdcomics.com/comics/archive/phd082710s.gif">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2496" y="3165876"/>
            <a:ext cx="5544616" cy="3631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2699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c 2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TextBox 5">
            <a:extLst>
              <a:ext uri="{FF2B5EF4-FFF2-40B4-BE49-F238E27FC236}">
                <a16:creationId xmlns:a16="http://schemas.microsoft.com/office/drawing/2014/main" id="{A9849B1C-88F1-5736-9E9C-46B81BFB08ED}"/>
              </a:ext>
            </a:extLst>
          </p:cNvPr>
          <p:cNvSpPr txBox="1"/>
          <p:nvPr/>
        </p:nvSpPr>
        <p:spPr>
          <a:xfrm>
            <a:off x="753762" y="2236573"/>
            <a:ext cx="1638847" cy="369332"/>
          </a:xfrm>
          <a:prstGeom prst="rect">
            <a:avLst/>
          </a:prstGeom>
          <a:noFill/>
        </p:spPr>
        <p:txBody>
          <a:bodyPr wrap="none" rtlCol="0">
            <a:spAutoFit/>
          </a:bodyPr>
          <a:lstStyle/>
          <a:p>
            <a:r>
              <a:rPr lang="en-US" dirty="0"/>
              <a:t>Foot Protection</a:t>
            </a:r>
          </a:p>
        </p:txBody>
      </p:sp>
      <p:graphicFrame>
        <p:nvGraphicFramePr>
          <p:cNvPr id="30" name="TextBox 4">
            <a:extLst>
              <a:ext uri="{FF2B5EF4-FFF2-40B4-BE49-F238E27FC236}">
                <a16:creationId xmlns:a16="http://schemas.microsoft.com/office/drawing/2014/main" id="{95548448-BAE1-5FA2-1C1E-8ECD906055A2}"/>
              </a:ext>
            </a:extLst>
          </p:cNvPr>
          <p:cNvGraphicFramePr/>
          <p:nvPr>
            <p:extLst>
              <p:ext uri="{D42A27DB-BD31-4B8C-83A1-F6EECF244321}">
                <p14:modId xmlns:p14="http://schemas.microsoft.com/office/powerpoint/2010/main" val="3261519749"/>
              </p:ext>
            </p:extLst>
          </p:nvPr>
        </p:nvGraphicFramePr>
        <p:xfrm>
          <a:off x="4447308" y="591344"/>
          <a:ext cx="6906491" cy="55856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2919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c 2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TextBox 5">
            <a:extLst>
              <a:ext uri="{FF2B5EF4-FFF2-40B4-BE49-F238E27FC236}">
                <a16:creationId xmlns:a16="http://schemas.microsoft.com/office/drawing/2014/main" id="{A9849B1C-88F1-5736-9E9C-46B81BFB08ED}"/>
              </a:ext>
            </a:extLst>
          </p:cNvPr>
          <p:cNvSpPr txBox="1"/>
          <p:nvPr/>
        </p:nvSpPr>
        <p:spPr>
          <a:xfrm>
            <a:off x="753762" y="2236573"/>
            <a:ext cx="1592103" cy="369332"/>
          </a:xfrm>
          <a:prstGeom prst="rect">
            <a:avLst/>
          </a:prstGeom>
          <a:noFill/>
        </p:spPr>
        <p:txBody>
          <a:bodyPr wrap="none" rtlCol="0">
            <a:spAutoFit/>
          </a:bodyPr>
          <a:lstStyle/>
          <a:p>
            <a:r>
              <a:rPr lang="en-US" dirty="0"/>
              <a:t>Eye Protection</a:t>
            </a:r>
          </a:p>
        </p:txBody>
      </p:sp>
      <p:sp>
        <p:nvSpPr>
          <p:cNvPr id="2" name="TextBox 1">
            <a:extLst>
              <a:ext uri="{FF2B5EF4-FFF2-40B4-BE49-F238E27FC236}">
                <a16:creationId xmlns:a16="http://schemas.microsoft.com/office/drawing/2014/main" id="{CD840C2C-AE12-1281-EA1F-6687FB1CF03C}"/>
              </a:ext>
            </a:extLst>
          </p:cNvPr>
          <p:cNvSpPr txBox="1"/>
          <p:nvPr/>
        </p:nvSpPr>
        <p:spPr>
          <a:xfrm>
            <a:off x="5223483" y="2984437"/>
            <a:ext cx="5155454" cy="830997"/>
          </a:xfrm>
          <a:prstGeom prst="rect">
            <a:avLst/>
          </a:prstGeom>
          <a:noFill/>
        </p:spPr>
        <p:txBody>
          <a:bodyPr wrap="square" rtlCol="0">
            <a:spAutoFit/>
          </a:bodyPr>
          <a:lstStyle/>
          <a:p>
            <a:r>
              <a:rPr lang="en-US" sz="2400" dirty="0"/>
              <a:t>Wear Safety Googles all the time while doing the Experiments.</a:t>
            </a:r>
          </a:p>
        </p:txBody>
      </p:sp>
      <p:sp>
        <p:nvSpPr>
          <p:cNvPr id="3" name="TextBox 2">
            <a:extLst>
              <a:ext uri="{FF2B5EF4-FFF2-40B4-BE49-F238E27FC236}">
                <a16:creationId xmlns:a16="http://schemas.microsoft.com/office/drawing/2014/main" id="{E58E2914-A6C2-6F59-0FEF-4A4EE8C8A62A}"/>
              </a:ext>
            </a:extLst>
          </p:cNvPr>
          <p:cNvSpPr txBox="1"/>
          <p:nvPr/>
        </p:nvSpPr>
        <p:spPr>
          <a:xfrm>
            <a:off x="5223845" y="2071843"/>
            <a:ext cx="4831492" cy="461665"/>
          </a:xfrm>
          <a:prstGeom prst="rect">
            <a:avLst/>
          </a:prstGeom>
          <a:noFill/>
        </p:spPr>
        <p:txBody>
          <a:bodyPr wrap="square" rtlCol="0">
            <a:spAutoFit/>
          </a:bodyPr>
          <a:lstStyle/>
          <a:p>
            <a:r>
              <a:rPr lang="en-US" sz="2400" dirty="0"/>
              <a:t>Your eyes are precious.</a:t>
            </a:r>
          </a:p>
        </p:txBody>
      </p:sp>
      <p:sp>
        <p:nvSpPr>
          <p:cNvPr id="5" name="TextBox 4">
            <a:extLst>
              <a:ext uri="{FF2B5EF4-FFF2-40B4-BE49-F238E27FC236}">
                <a16:creationId xmlns:a16="http://schemas.microsoft.com/office/drawing/2014/main" id="{F55C39F2-5937-729C-4626-87C496A27AAD}"/>
              </a:ext>
            </a:extLst>
          </p:cNvPr>
          <p:cNvSpPr txBox="1"/>
          <p:nvPr/>
        </p:nvSpPr>
        <p:spPr>
          <a:xfrm>
            <a:off x="5223483" y="4497195"/>
            <a:ext cx="6097656" cy="1200329"/>
          </a:xfrm>
          <a:prstGeom prst="rect">
            <a:avLst/>
          </a:prstGeom>
          <a:noFill/>
        </p:spPr>
        <p:txBody>
          <a:bodyPr wrap="square">
            <a:spAutoFit/>
          </a:bodyPr>
          <a:lstStyle/>
          <a:p>
            <a:r>
              <a:rPr lang="en-IN" b="0" i="0" u="none" strike="noStrike" dirty="0">
                <a:solidFill>
                  <a:srgbClr val="212529"/>
                </a:solidFill>
                <a:effectLst/>
                <a:latin typeface="Roboto" panose="02000000000000000000" pitchFamily="2" charset="0"/>
              </a:rPr>
              <a:t>Tight fitting eye protection that completely covers the eyes, eye sockets and facial area surrounding the eyes.  Provides protection from impact, dust and splashes.  </a:t>
            </a:r>
            <a:endParaRPr lang="en-US" dirty="0"/>
          </a:p>
        </p:txBody>
      </p:sp>
    </p:spTree>
    <p:extLst>
      <p:ext uri="{BB962C8B-B14F-4D97-AF65-F5344CB8AC3E}">
        <p14:creationId xmlns:p14="http://schemas.microsoft.com/office/powerpoint/2010/main" val="149891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354AE41-BF8D-74B1-DFA0-F7F3B833BCD0}"/>
              </a:ext>
            </a:extLst>
          </p:cNvPr>
          <p:cNvSpPr txBox="1"/>
          <p:nvPr/>
        </p:nvSpPr>
        <p:spPr>
          <a:xfrm>
            <a:off x="838200" y="1929384"/>
            <a:ext cx="10515600" cy="425196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200" b="1" i="0" u="none" strike="noStrike">
                <a:effectLst/>
              </a:rPr>
              <a:t>Hand and Arm Protection</a:t>
            </a:r>
          </a:p>
        </p:txBody>
      </p:sp>
      <p:sp>
        <p:nvSpPr>
          <p:cNvPr id="5" name="TextBox 4">
            <a:extLst>
              <a:ext uri="{FF2B5EF4-FFF2-40B4-BE49-F238E27FC236}">
                <a16:creationId xmlns:a16="http://schemas.microsoft.com/office/drawing/2014/main" id="{79AD713E-BCC2-2FB1-33B4-BC8F26153065}"/>
              </a:ext>
            </a:extLst>
          </p:cNvPr>
          <p:cNvSpPr txBox="1"/>
          <p:nvPr/>
        </p:nvSpPr>
        <p:spPr>
          <a:xfrm>
            <a:off x="1639957" y="2413338"/>
            <a:ext cx="9183755" cy="1200329"/>
          </a:xfrm>
          <a:prstGeom prst="rect">
            <a:avLst/>
          </a:prstGeom>
          <a:noFill/>
        </p:spPr>
        <p:txBody>
          <a:bodyPr wrap="square">
            <a:spAutoFit/>
          </a:bodyPr>
          <a:lstStyle/>
          <a:p>
            <a:pPr>
              <a:spcAft>
                <a:spcPts val="600"/>
              </a:spcAft>
            </a:pPr>
            <a:r>
              <a:rPr lang="en-IN" b="0" i="0" u="none" strike="noStrike" dirty="0">
                <a:solidFill>
                  <a:srgbClr val="212529"/>
                </a:solidFill>
                <a:effectLst/>
                <a:latin typeface="Roboto" panose="02000000000000000000" pitchFamily="2" charset="0"/>
              </a:rPr>
              <a:t>Chemical and liquid resistant gloves: When working with chemicals with a high acute toxicity, working with corrosive materials in high concentrations, handling chemicals for extended periods of time or immersing all or part of a hand into a chemical, the appropriate glove material should be selected, based on chemical compatibility.</a:t>
            </a:r>
            <a:endParaRPr lang="en-US"/>
          </a:p>
        </p:txBody>
      </p:sp>
      <p:sp>
        <p:nvSpPr>
          <p:cNvPr id="7" name="TextBox 6">
            <a:extLst>
              <a:ext uri="{FF2B5EF4-FFF2-40B4-BE49-F238E27FC236}">
                <a16:creationId xmlns:a16="http://schemas.microsoft.com/office/drawing/2014/main" id="{873672D1-53BB-52D1-B620-6BEF2942DBBB}"/>
              </a:ext>
            </a:extLst>
          </p:cNvPr>
          <p:cNvSpPr txBox="1"/>
          <p:nvPr/>
        </p:nvSpPr>
        <p:spPr>
          <a:xfrm>
            <a:off x="1639956" y="3704127"/>
            <a:ext cx="8965095" cy="923330"/>
          </a:xfrm>
          <a:prstGeom prst="rect">
            <a:avLst/>
          </a:prstGeom>
          <a:noFill/>
        </p:spPr>
        <p:txBody>
          <a:bodyPr wrap="square">
            <a:spAutoFit/>
          </a:bodyPr>
          <a:lstStyle/>
          <a:p>
            <a:pPr>
              <a:spcAft>
                <a:spcPts val="600"/>
              </a:spcAft>
            </a:pPr>
            <a:r>
              <a:rPr lang="en-IN" b="0" i="0" u="none" strike="noStrike" dirty="0">
                <a:solidFill>
                  <a:srgbClr val="212529"/>
                </a:solidFill>
                <a:effectLst/>
                <a:latin typeface="Roboto" panose="02000000000000000000" pitchFamily="2" charset="0"/>
              </a:rPr>
              <a:t>While wearing gloves, be careful not to handle anything but the materials involved in the procedure.  Touching equipment, phones, wastebaskets or other surfaces may cause contamination.  Be aware of touching the face, hair, and clothing as well.</a:t>
            </a:r>
            <a:endParaRPr lang="en-US"/>
          </a:p>
        </p:txBody>
      </p:sp>
      <p:sp>
        <p:nvSpPr>
          <p:cNvPr id="9" name="TextBox 8">
            <a:extLst>
              <a:ext uri="{FF2B5EF4-FFF2-40B4-BE49-F238E27FC236}">
                <a16:creationId xmlns:a16="http://schemas.microsoft.com/office/drawing/2014/main" id="{BFECB822-19DF-CC53-8263-B324C1B02C7A}"/>
              </a:ext>
            </a:extLst>
          </p:cNvPr>
          <p:cNvSpPr txBox="1"/>
          <p:nvPr/>
        </p:nvSpPr>
        <p:spPr>
          <a:xfrm>
            <a:off x="1639956" y="4794476"/>
            <a:ext cx="9030943" cy="1477328"/>
          </a:xfrm>
          <a:prstGeom prst="rect">
            <a:avLst/>
          </a:prstGeom>
          <a:noFill/>
        </p:spPr>
        <p:txBody>
          <a:bodyPr wrap="square">
            <a:spAutoFit/>
          </a:bodyPr>
          <a:lstStyle/>
          <a:p>
            <a:pPr>
              <a:spcAft>
                <a:spcPts val="600"/>
              </a:spcAft>
            </a:pPr>
            <a:r>
              <a:rPr lang="en-IN" b="0" i="0" u="none" strike="noStrike" dirty="0">
                <a:solidFill>
                  <a:srgbClr val="212529"/>
                </a:solidFill>
                <a:effectLst/>
                <a:latin typeface="Roboto" panose="02000000000000000000" pitchFamily="2" charset="0"/>
              </a:rPr>
              <a:t>Before removing them, wash the outside of the glove.  To avoid accidental skin exposure, remove the first glove by grasping the cuff and peeling the glove off the hand so that the glove is inside out.  Repeat this process with the second hand, touching the inside of the glove cuff, rather than the outside.  Wash hands immediately with soap and water.</a:t>
            </a:r>
            <a:endParaRPr lang="en-US" dirty="0"/>
          </a:p>
        </p:txBody>
      </p:sp>
    </p:spTree>
    <p:extLst>
      <p:ext uri="{BB962C8B-B14F-4D97-AF65-F5344CB8AC3E}">
        <p14:creationId xmlns:p14="http://schemas.microsoft.com/office/powerpoint/2010/main" val="2844692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Content Placeholder 2"/>
          <p:cNvSpPr>
            <a:spLocks noGrp="1"/>
          </p:cNvSpPr>
          <p:nvPr>
            <p:ph idx="1"/>
          </p:nvPr>
        </p:nvSpPr>
        <p:spPr/>
        <p:txBody>
          <a:bodyPr/>
          <a:lstStyle/>
          <a:p>
            <a:pPr eaLnBrk="1" hangingPunct="1"/>
            <a:endParaRPr lang="nl-NL">
              <a:latin typeface="Calibri" panose="020F0502020204030204" pitchFamily="34" charset="0"/>
              <a:cs typeface="Calibri" panose="020F0502020204030204" pitchFamily="34" charset="0"/>
            </a:endParaRPr>
          </a:p>
          <a:p>
            <a:pPr eaLnBrk="1" hangingPunct="1"/>
            <a:endParaRPr lang="nl-NL">
              <a:latin typeface="Calibri" panose="020F0502020204030204" pitchFamily="34" charset="0"/>
              <a:cs typeface="Calibri" panose="020F0502020204030204" pitchFamily="34" charset="0"/>
            </a:endParaRPr>
          </a:p>
          <a:p>
            <a:pPr marL="457200" lvl="1" indent="0">
              <a:buNone/>
            </a:pPr>
            <a:endParaRPr lang="nl-NL" sz="2000">
              <a:latin typeface="Calibri" panose="020F0502020204030204" pitchFamily="34" charset="0"/>
              <a:cs typeface="Calibri" panose="020F0502020204030204" pitchFamily="34" charset="0"/>
              <a:sym typeface="Wingdings" pitchFamily="2" charset="2"/>
            </a:endParaRPr>
          </a:p>
        </p:txBody>
      </p:sp>
      <p:sp>
        <p:nvSpPr>
          <p:cNvPr id="22530" name="Title 1"/>
          <p:cNvSpPr txBox="1">
            <a:spLocks/>
          </p:cNvSpPr>
          <p:nvPr/>
        </p:nvSpPr>
        <p:spPr bwMode="auto">
          <a:xfrm>
            <a:off x="2135189" y="188913"/>
            <a:ext cx="7869237" cy="1143000"/>
          </a:xfrm>
          <a:prstGeom prst="rect">
            <a:avLst/>
          </a:prstGeom>
          <a:noFill/>
          <a:ln w="9525">
            <a:noFill/>
            <a:miter lim="800000"/>
            <a:headEnd/>
            <a:tailEnd/>
          </a:ln>
        </p:spPr>
        <p:txBody>
          <a:bodyPr anchor="ctr"/>
          <a:lstStyle/>
          <a:p>
            <a:pPr lvl="1"/>
            <a:endParaRPr lang="en-US" sz="3200" dirty="0">
              <a:latin typeface="Calibri" panose="020F0502020204030204" pitchFamily="34" charset="0"/>
              <a:cs typeface="Calibri" panose="020F0502020204030204" pitchFamily="34" charset="0"/>
            </a:endParaRPr>
          </a:p>
        </p:txBody>
      </p:sp>
      <p:sp>
        <p:nvSpPr>
          <p:cNvPr id="6" name="Rectangle 3"/>
          <p:cNvSpPr>
            <a:spLocks noChangeArrowheads="1"/>
          </p:cNvSpPr>
          <p:nvPr/>
        </p:nvSpPr>
        <p:spPr bwMode="auto">
          <a:xfrm>
            <a:off x="1524000" y="1184276"/>
            <a:ext cx="9144000" cy="720725"/>
          </a:xfrm>
          <a:prstGeom prst="rect">
            <a:avLst/>
          </a:prstGeom>
          <a:solidFill>
            <a:srgbClr val="CC0000"/>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457200" lvl="1" indent="0" algn="ctr">
              <a:buNone/>
            </a:pPr>
            <a:r>
              <a:rPr lang="nl-NL" sz="2200" dirty="0">
                <a:solidFill>
                  <a:schemeClr val="bg1"/>
                </a:solidFill>
                <a:latin typeface="Calibri" panose="020F0502020204030204" pitchFamily="34" charset="0"/>
                <a:cs typeface="Calibri" panose="020F0502020204030204" pitchFamily="34" charset="0"/>
              </a:rPr>
              <a:t>Handling </a:t>
            </a:r>
            <a:r>
              <a:rPr lang="nl-NL" sz="2200" dirty="0" err="1">
                <a:solidFill>
                  <a:schemeClr val="bg1"/>
                </a:solidFill>
                <a:latin typeface="Calibri" panose="020F0502020204030204" pitchFamily="34" charset="0"/>
                <a:cs typeface="Calibri" panose="020F0502020204030204" pitchFamily="34" charset="0"/>
              </a:rPr>
              <a:t>glassware</a:t>
            </a:r>
            <a:endParaRPr lang="en-US" sz="2200" dirty="0">
              <a:solidFill>
                <a:schemeClr val="bg1"/>
              </a:solidFill>
              <a:latin typeface="Calibri" panose="020F0502020204030204" pitchFamily="34" charset="0"/>
              <a:cs typeface="Calibri" panose="020F0502020204030204" pitchFamily="34" charset="0"/>
            </a:endParaRPr>
          </a:p>
        </p:txBody>
      </p:sp>
      <p:sp>
        <p:nvSpPr>
          <p:cNvPr id="8" name="Rectangle 6"/>
          <p:cNvSpPr>
            <a:spLocks noGrp="1" noChangeArrowheads="1"/>
          </p:cNvSpPr>
          <p:nvPr>
            <p:ph type="sldNum" sz="quarter" idx="4294967295"/>
          </p:nvPr>
        </p:nvSpPr>
        <p:spPr>
          <a:xfrm>
            <a:off x="8077200" y="6245225"/>
            <a:ext cx="2133600" cy="476250"/>
          </a:xfrm>
          <a:prstGeom prst="rect">
            <a:avLst/>
          </a:prstGeom>
        </p:spPr>
        <p:txBody>
          <a:bodyPr/>
          <a:lstStyle>
            <a:lvl1pPr algn="ctr" eaLnBrk="0" hangingPunct="0">
              <a:defRPr>
                <a:solidFill>
                  <a:schemeClr val="tx1"/>
                </a:solidFill>
                <a:latin typeface="Arial" charset="0"/>
              </a:defRPr>
            </a:lvl1pPr>
            <a:lvl2pPr marL="742950" indent="-285750" algn="ctr" eaLnBrk="0" hangingPunct="0">
              <a:defRPr>
                <a:solidFill>
                  <a:schemeClr val="tx1"/>
                </a:solidFill>
                <a:latin typeface="Arial" charset="0"/>
              </a:defRPr>
            </a:lvl2pPr>
            <a:lvl3pPr marL="1143000" indent="-228600" algn="ctr" eaLnBrk="0" hangingPunct="0">
              <a:defRPr>
                <a:solidFill>
                  <a:schemeClr val="tx1"/>
                </a:solidFill>
                <a:latin typeface="Arial" charset="0"/>
              </a:defRPr>
            </a:lvl3pPr>
            <a:lvl4pPr marL="1600200" indent="-228600" algn="ctr" eaLnBrk="0" hangingPunct="0">
              <a:defRPr>
                <a:solidFill>
                  <a:schemeClr val="tx1"/>
                </a:solidFill>
                <a:latin typeface="Arial" charset="0"/>
              </a:defRPr>
            </a:lvl4pPr>
            <a:lvl5pPr marL="2057400" indent="-228600" algn="ctr"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defRPr/>
            </a:pPr>
            <a:fld id="{1E101D71-1B26-4B51-87C9-F074178619A0}" type="slidenum">
              <a:rPr lang="en-US" sz="1600">
                <a:solidFill>
                  <a:schemeClr val="bg2"/>
                </a:solidFill>
                <a:latin typeface="Calibri" panose="020F0502020204030204" pitchFamily="34" charset="0"/>
                <a:cs typeface="Calibri" panose="020F0502020204030204" pitchFamily="34" charset="0"/>
              </a:rPr>
              <a:pPr algn="r" eaLnBrk="1" hangingPunct="1">
                <a:defRPr/>
              </a:pPr>
              <a:t>7</a:t>
            </a:fld>
            <a:endParaRPr lang="en-US" sz="1600" dirty="0">
              <a:solidFill>
                <a:schemeClr val="bg2"/>
              </a:solidFill>
              <a:latin typeface="Calibri" panose="020F0502020204030204" pitchFamily="34" charset="0"/>
              <a:cs typeface="Calibri" panose="020F0502020204030204" pitchFamily="34" charset="0"/>
            </a:endParaRPr>
          </a:p>
        </p:txBody>
      </p:sp>
      <p:graphicFrame>
        <p:nvGraphicFramePr>
          <p:cNvPr id="22532" name="TextBox 6">
            <a:extLst>
              <a:ext uri="{FF2B5EF4-FFF2-40B4-BE49-F238E27FC236}">
                <a16:creationId xmlns:a16="http://schemas.microsoft.com/office/drawing/2014/main" id="{285E0397-5D4E-C2BE-7BFB-0E9555B93AE4}"/>
              </a:ext>
            </a:extLst>
          </p:cNvPr>
          <p:cNvGraphicFramePr/>
          <p:nvPr/>
        </p:nvGraphicFramePr>
        <p:xfrm>
          <a:off x="1828800" y="1979474"/>
          <a:ext cx="8610600" cy="3970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04042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3" name="Freeform: Shape 12">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6DECBCE-3178-5E19-C545-38614928B224}"/>
              </a:ext>
            </a:extLst>
          </p:cNvPr>
          <p:cNvPicPr>
            <a:picLocks noChangeAspect="1"/>
          </p:cNvPicPr>
          <p:nvPr/>
        </p:nvPicPr>
        <p:blipFill>
          <a:blip r:embed="rId2"/>
          <a:stretch>
            <a:fillRect/>
          </a:stretch>
        </p:blipFill>
        <p:spPr>
          <a:xfrm>
            <a:off x="3516225" y="90467"/>
            <a:ext cx="5070376" cy="6561665"/>
          </a:xfrm>
          <a:prstGeom prst="rect">
            <a:avLst/>
          </a:prstGeom>
          <a:ln>
            <a:noFill/>
          </a:ln>
        </p:spPr>
      </p:pic>
    </p:spTree>
    <p:extLst>
      <p:ext uri="{BB962C8B-B14F-4D97-AF65-F5344CB8AC3E}">
        <p14:creationId xmlns:p14="http://schemas.microsoft.com/office/powerpoint/2010/main" val="247943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0" name="Rectangle 104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ectangle 105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Default Alt text">
            <a:extLst>
              <a:ext uri="{FF2B5EF4-FFF2-40B4-BE49-F238E27FC236}">
                <a16:creationId xmlns:a16="http://schemas.microsoft.com/office/drawing/2014/main" id="{6AF719A1-4D9A-CC32-C96A-13462D4B9CF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46054" y="457200"/>
            <a:ext cx="3699891"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8587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30865FE-7F44-C880-3820-B7C3FF9C86C4}"/>
              </a:ext>
            </a:extLst>
          </p:cNvPr>
          <p:cNvSpPr txBox="1"/>
          <p:nvPr/>
        </p:nvSpPr>
        <p:spPr>
          <a:xfrm>
            <a:off x="1113810" y="2960716"/>
            <a:ext cx="4036334" cy="2387600"/>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5400" kern="1200">
                <a:solidFill>
                  <a:schemeClr val="tx1"/>
                </a:solidFill>
                <a:latin typeface="+mj-lt"/>
                <a:ea typeface="+mj-ea"/>
                <a:cs typeface="+mj-cs"/>
              </a:rPr>
              <a:t>Know these signs</a:t>
            </a: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58A84F3-7FC0-032F-0FC7-60A53D13558B}"/>
              </a:ext>
            </a:extLst>
          </p:cNvPr>
          <p:cNvPicPr>
            <a:picLocks noChangeAspect="1"/>
          </p:cNvPicPr>
          <p:nvPr/>
        </p:nvPicPr>
        <p:blipFill>
          <a:blip r:embed="rId2"/>
          <a:stretch>
            <a:fillRect/>
          </a:stretch>
        </p:blipFill>
        <p:spPr>
          <a:xfrm>
            <a:off x="5922492" y="1419767"/>
            <a:ext cx="5536001" cy="3959712"/>
          </a:xfrm>
          <a:prstGeom prst="rect">
            <a:avLst/>
          </a:prstGeom>
        </p:spPr>
      </p:pic>
    </p:spTree>
    <p:extLst>
      <p:ext uri="{BB962C8B-B14F-4D97-AF65-F5344CB8AC3E}">
        <p14:creationId xmlns:p14="http://schemas.microsoft.com/office/powerpoint/2010/main" val="608043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D73696-5D2F-0DF4-382E-77685BB60A8E}"/>
              </a:ext>
            </a:extLst>
          </p:cNvPr>
          <p:cNvPicPr>
            <a:picLocks noChangeAspect="1"/>
          </p:cNvPicPr>
          <p:nvPr/>
        </p:nvPicPr>
        <p:blipFill>
          <a:blip r:embed="rId2"/>
          <a:stretch>
            <a:fillRect/>
          </a:stretch>
        </p:blipFill>
        <p:spPr>
          <a:xfrm>
            <a:off x="4743278" y="2708189"/>
            <a:ext cx="2705443" cy="2823071"/>
          </a:xfrm>
          <a:prstGeom prst="rect">
            <a:avLst/>
          </a:prstGeom>
        </p:spPr>
      </p:pic>
      <p:sp>
        <p:nvSpPr>
          <p:cNvPr id="7" name="Title 6">
            <a:extLst>
              <a:ext uri="{FF2B5EF4-FFF2-40B4-BE49-F238E27FC236}">
                <a16:creationId xmlns:a16="http://schemas.microsoft.com/office/drawing/2014/main" id="{674E6354-15A1-9E44-8B1F-562ADAB09670}"/>
              </a:ext>
            </a:extLst>
          </p:cNvPr>
          <p:cNvSpPr>
            <a:spLocks noGrp="1"/>
          </p:cNvSpPr>
          <p:nvPr>
            <p:ph type="title"/>
          </p:nvPr>
        </p:nvSpPr>
        <p:spPr/>
        <p:txBody>
          <a:bodyPr/>
          <a:lstStyle/>
          <a:p>
            <a:pPr algn="ctr"/>
            <a:r>
              <a:rPr lang="en-US" dirty="0"/>
              <a:t>National Fire Protection Association</a:t>
            </a:r>
            <a:br>
              <a:rPr lang="en-US" dirty="0"/>
            </a:br>
            <a:r>
              <a:rPr lang="en-US" dirty="0"/>
              <a:t>(NFPA)</a:t>
            </a:r>
          </a:p>
        </p:txBody>
      </p:sp>
    </p:spTree>
    <p:extLst>
      <p:ext uri="{BB962C8B-B14F-4D97-AF65-F5344CB8AC3E}">
        <p14:creationId xmlns:p14="http://schemas.microsoft.com/office/powerpoint/2010/main" val="2821529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A91115-9B4C-BC64-585A-5C63DD3C9C05}"/>
              </a:ext>
            </a:extLst>
          </p:cNvPr>
          <p:cNvPicPr>
            <a:picLocks noChangeAspect="1"/>
          </p:cNvPicPr>
          <p:nvPr/>
        </p:nvPicPr>
        <p:blipFill>
          <a:blip r:embed="rId2"/>
          <a:stretch>
            <a:fillRect/>
          </a:stretch>
        </p:blipFill>
        <p:spPr>
          <a:xfrm>
            <a:off x="1511300" y="1700856"/>
            <a:ext cx="8968624" cy="3456288"/>
          </a:xfrm>
          <a:prstGeom prst="rect">
            <a:avLst/>
          </a:prstGeom>
        </p:spPr>
      </p:pic>
    </p:spTree>
    <p:extLst>
      <p:ext uri="{BB962C8B-B14F-4D97-AF65-F5344CB8AC3E}">
        <p14:creationId xmlns:p14="http://schemas.microsoft.com/office/powerpoint/2010/main" val="3190204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302E3B-7EEC-9947-553B-B261BBA5EB30}"/>
              </a:ext>
            </a:extLst>
          </p:cNvPr>
          <p:cNvPicPr>
            <a:picLocks noChangeAspect="1"/>
          </p:cNvPicPr>
          <p:nvPr/>
        </p:nvPicPr>
        <p:blipFill>
          <a:blip r:embed="rId2"/>
          <a:stretch>
            <a:fillRect/>
          </a:stretch>
        </p:blipFill>
        <p:spPr>
          <a:xfrm>
            <a:off x="733166" y="1210961"/>
            <a:ext cx="10725667" cy="4151871"/>
          </a:xfrm>
          <a:prstGeom prst="rect">
            <a:avLst/>
          </a:prstGeom>
        </p:spPr>
      </p:pic>
    </p:spTree>
    <p:extLst>
      <p:ext uri="{BB962C8B-B14F-4D97-AF65-F5344CB8AC3E}">
        <p14:creationId xmlns:p14="http://schemas.microsoft.com/office/powerpoint/2010/main" val="3193161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2E4965-AF6B-2F4B-C2D1-CA2B3DF972AA}"/>
              </a:ext>
            </a:extLst>
          </p:cNvPr>
          <p:cNvPicPr>
            <a:picLocks noChangeAspect="1"/>
          </p:cNvPicPr>
          <p:nvPr/>
        </p:nvPicPr>
        <p:blipFill>
          <a:blip r:embed="rId2"/>
          <a:stretch>
            <a:fillRect/>
          </a:stretch>
        </p:blipFill>
        <p:spPr>
          <a:xfrm>
            <a:off x="1267206" y="1272747"/>
            <a:ext cx="9398322" cy="4102442"/>
          </a:xfrm>
          <a:prstGeom prst="rect">
            <a:avLst/>
          </a:prstGeom>
        </p:spPr>
      </p:pic>
    </p:spTree>
    <p:extLst>
      <p:ext uri="{BB962C8B-B14F-4D97-AF65-F5344CB8AC3E}">
        <p14:creationId xmlns:p14="http://schemas.microsoft.com/office/powerpoint/2010/main" val="2975944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6E9F6F-8CC2-1E0D-B454-E7FDBF0B410A}"/>
              </a:ext>
            </a:extLst>
          </p:cNvPr>
          <p:cNvPicPr>
            <a:picLocks noChangeAspect="1"/>
          </p:cNvPicPr>
          <p:nvPr/>
        </p:nvPicPr>
        <p:blipFill>
          <a:blip r:embed="rId2"/>
          <a:stretch>
            <a:fillRect/>
          </a:stretch>
        </p:blipFill>
        <p:spPr>
          <a:xfrm>
            <a:off x="1260389" y="2076007"/>
            <a:ext cx="9934833" cy="2705985"/>
          </a:xfrm>
          <a:prstGeom prst="rect">
            <a:avLst/>
          </a:prstGeom>
        </p:spPr>
      </p:pic>
    </p:spTree>
    <p:extLst>
      <p:ext uri="{BB962C8B-B14F-4D97-AF65-F5344CB8AC3E}">
        <p14:creationId xmlns:p14="http://schemas.microsoft.com/office/powerpoint/2010/main" val="24000356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2B0596-8069-6D30-309E-B469EAA2854D}"/>
              </a:ext>
            </a:extLst>
          </p:cNvPr>
          <p:cNvPicPr>
            <a:picLocks noChangeAspect="1"/>
          </p:cNvPicPr>
          <p:nvPr/>
        </p:nvPicPr>
        <p:blipFill>
          <a:blip r:embed="rId2"/>
          <a:stretch>
            <a:fillRect/>
          </a:stretch>
        </p:blipFill>
        <p:spPr>
          <a:xfrm>
            <a:off x="2293035" y="762170"/>
            <a:ext cx="7802539" cy="473505"/>
          </a:xfrm>
          <a:prstGeom prst="rect">
            <a:avLst/>
          </a:prstGeom>
        </p:spPr>
      </p:pic>
      <p:pic>
        <p:nvPicPr>
          <p:cNvPr id="4" name="Picture 3">
            <a:extLst>
              <a:ext uri="{FF2B5EF4-FFF2-40B4-BE49-F238E27FC236}">
                <a16:creationId xmlns:a16="http://schemas.microsoft.com/office/drawing/2014/main" id="{4F11433F-6E99-2AF3-CB0C-FEE4123A726C}"/>
              </a:ext>
            </a:extLst>
          </p:cNvPr>
          <p:cNvPicPr>
            <a:picLocks noChangeAspect="1"/>
          </p:cNvPicPr>
          <p:nvPr/>
        </p:nvPicPr>
        <p:blipFill>
          <a:blip r:embed="rId3"/>
          <a:stretch>
            <a:fillRect/>
          </a:stretch>
        </p:blipFill>
        <p:spPr>
          <a:xfrm>
            <a:off x="2590892" y="1248032"/>
            <a:ext cx="7405826" cy="766120"/>
          </a:xfrm>
          <a:prstGeom prst="rect">
            <a:avLst/>
          </a:prstGeom>
        </p:spPr>
      </p:pic>
      <p:pic>
        <p:nvPicPr>
          <p:cNvPr id="5" name="Picture 4">
            <a:extLst>
              <a:ext uri="{FF2B5EF4-FFF2-40B4-BE49-F238E27FC236}">
                <a16:creationId xmlns:a16="http://schemas.microsoft.com/office/drawing/2014/main" id="{56791C8A-43A6-94A4-43D8-A045D590BDE4}"/>
              </a:ext>
            </a:extLst>
          </p:cNvPr>
          <p:cNvPicPr>
            <a:picLocks noChangeAspect="1"/>
          </p:cNvPicPr>
          <p:nvPr/>
        </p:nvPicPr>
        <p:blipFill>
          <a:blip r:embed="rId4"/>
          <a:stretch>
            <a:fillRect/>
          </a:stretch>
        </p:blipFill>
        <p:spPr>
          <a:xfrm>
            <a:off x="2590893" y="2026508"/>
            <a:ext cx="7405826" cy="962561"/>
          </a:xfrm>
          <a:prstGeom prst="rect">
            <a:avLst/>
          </a:prstGeom>
        </p:spPr>
      </p:pic>
      <p:pic>
        <p:nvPicPr>
          <p:cNvPr id="6" name="Picture 5">
            <a:extLst>
              <a:ext uri="{FF2B5EF4-FFF2-40B4-BE49-F238E27FC236}">
                <a16:creationId xmlns:a16="http://schemas.microsoft.com/office/drawing/2014/main" id="{E850F472-4E9C-0E38-594C-744D05549FA1}"/>
              </a:ext>
            </a:extLst>
          </p:cNvPr>
          <p:cNvPicPr>
            <a:picLocks noChangeAspect="1"/>
          </p:cNvPicPr>
          <p:nvPr/>
        </p:nvPicPr>
        <p:blipFill>
          <a:blip r:embed="rId5"/>
          <a:stretch>
            <a:fillRect/>
          </a:stretch>
        </p:blipFill>
        <p:spPr>
          <a:xfrm>
            <a:off x="2590892" y="3016313"/>
            <a:ext cx="7405826" cy="746476"/>
          </a:xfrm>
          <a:prstGeom prst="rect">
            <a:avLst/>
          </a:prstGeom>
        </p:spPr>
      </p:pic>
      <p:pic>
        <p:nvPicPr>
          <p:cNvPr id="7" name="Picture 6">
            <a:extLst>
              <a:ext uri="{FF2B5EF4-FFF2-40B4-BE49-F238E27FC236}">
                <a16:creationId xmlns:a16="http://schemas.microsoft.com/office/drawing/2014/main" id="{445EF58B-A3A6-8E06-4480-44B57CB5B0A8}"/>
              </a:ext>
            </a:extLst>
          </p:cNvPr>
          <p:cNvPicPr>
            <a:picLocks noChangeAspect="1"/>
          </p:cNvPicPr>
          <p:nvPr/>
        </p:nvPicPr>
        <p:blipFill>
          <a:blip r:embed="rId5"/>
          <a:stretch>
            <a:fillRect/>
          </a:stretch>
        </p:blipFill>
        <p:spPr>
          <a:xfrm>
            <a:off x="2590892" y="3762789"/>
            <a:ext cx="7405828" cy="746476"/>
          </a:xfrm>
          <a:prstGeom prst="rect">
            <a:avLst/>
          </a:prstGeom>
        </p:spPr>
      </p:pic>
      <p:pic>
        <p:nvPicPr>
          <p:cNvPr id="8" name="Picture 7">
            <a:extLst>
              <a:ext uri="{FF2B5EF4-FFF2-40B4-BE49-F238E27FC236}">
                <a16:creationId xmlns:a16="http://schemas.microsoft.com/office/drawing/2014/main" id="{76C7F3A8-65F5-8892-5F49-3512701D35B0}"/>
              </a:ext>
            </a:extLst>
          </p:cNvPr>
          <p:cNvPicPr>
            <a:picLocks noChangeAspect="1"/>
          </p:cNvPicPr>
          <p:nvPr/>
        </p:nvPicPr>
        <p:blipFill>
          <a:blip r:embed="rId6"/>
          <a:stretch>
            <a:fillRect/>
          </a:stretch>
        </p:blipFill>
        <p:spPr>
          <a:xfrm>
            <a:off x="2590891" y="4509265"/>
            <a:ext cx="7405825" cy="1270128"/>
          </a:xfrm>
          <a:prstGeom prst="rect">
            <a:avLst/>
          </a:prstGeom>
        </p:spPr>
      </p:pic>
    </p:spTree>
    <p:extLst>
      <p:ext uri="{BB962C8B-B14F-4D97-AF65-F5344CB8AC3E}">
        <p14:creationId xmlns:p14="http://schemas.microsoft.com/office/powerpoint/2010/main" val="4278724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2B0596-8069-6D30-309E-B469EAA2854D}"/>
              </a:ext>
            </a:extLst>
          </p:cNvPr>
          <p:cNvPicPr>
            <a:picLocks noChangeAspect="1"/>
          </p:cNvPicPr>
          <p:nvPr/>
        </p:nvPicPr>
        <p:blipFill>
          <a:blip r:embed="rId2"/>
          <a:stretch>
            <a:fillRect/>
          </a:stretch>
        </p:blipFill>
        <p:spPr>
          <a:xfrm>
            <a:off x="2293035" y="762170"/>
            <a:ext cx="7802539" cy="473505"/>
          </a:xfrm>
          <a:prstGeom prst="rect">
            <a:avLst/>
          </a:prstGeom>
        </p:spPr>
      </p:pic>
      <p:pic>
        <p:nvPicPr>
          <p:cNvPr id="3" name="Picture 2">
            <a:extLst>
              <a:ext uri="{FF2B5EF4-FFF2-40B4-BE49-F238E27FC236}">
                <a16:creationId xmlns:a16="http://schemas.microsoft.com/office/drawing/2014/main" id="{37E3E406-F55E-17B5-2594-9BBF004C6FBE}"/>
              </a:ext>
            </a:extLst>
          </p:cNvPr>
          <p:cNvPicPr>
            <a:picLocks noChangeAspect="1"/>
          </p:cNvPicPr>
          <p:nvPr/>
        </p:nvPicPr>
        <p:blipFill>
          <a:blip r:embed="rId3"/>
          <a:stretch>
            <a:fillRect/>
          </a:stretch>
        </p:blipFill>
        <p:spPr>
          <a:xfrm>
            <a:off x="2160939" y="1331531"/>
            <a:ext cx="8066730" cy="599120"/>
          </a:xfrm>
          <a:prstGeom prst="rect">
            <a:avLst/>
          </a:prstGeom>
        </p:spPr>
      </p:pic>
      <p:pic>
        <p:nvPicPr>
          <p:cNvPr id="9" name="Picture 8">
            <a:extLst>
              <a:ext uri="{FF2B5EF4-FFF2-40B4-BE49-F238E27FC236}">
                <a16:creationId xmlns:a16="http://schemas.microsoft.com/office/drawing/2014/main" id="{6056D6A6-F265-A57F-24B4-A4A5F3AAF083}"/>
              </a:ext>
            </a:extLst>
          </p:cNvPr>
          <p:cNvPicPr>
            <a:picLocks noChangeAspect="1"/>
          </p:cNvPicPr>
          <p:nvPr/>
        </p:nvPicPr>
        <p:blipFill>
          <a:blip r:embed="rId4"/>
          <a:stretch>
            <a:fillRect/>
          </a:stretch>
        </p:blipFill>
        <p:spPr>
          <a:xfrm>
            <a:off x="2152414" y="2026506"/>
            <a:ext cx="8066730" cy="557806"/>
          </a:xfrm>
          <a:prstGeom prst="rect">
            <a:avLst/>
          </a:prstGeom>
        </p:spPr>
      </p:pic>
    </p:spTree>
    <p:extLst>
      <p:ext uri="{BB962C8B-B14F-4D97-AF65-F5344CB8AC3E}">
        <p14:creationId xmlns:p14="http://schemas.microsoft.com/office/powerpoint/2010/main" val="4067498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5D09A7B-372E-654F-22CB-803A91B4A95F}"/>
              </a:ext>
            </a:extLst>
          </p:cNvPr>
          <p:cNvPicPr>
            <a:picLocks noChangeAspect="1"/>
          </p:cNvPicPr>
          <p:nvPr/>
        </p:nvPicPr>
        <p:blipFill>
          <a:blip r:embed="rId2"/>
          <a:stretch>
            <a:fillRect/>
          </a:stretch>
        </p:blipFill>
        <p:spPr>
          <a:xfrm>
            <a:off x="2187145" y="1832917"/>
            <a:ext cx="8106033" cy="4053017"/>
          </a:xfrm>
          <a:prstGeom prst="rect">
            <a:avLst/>
          </a:prstGeom>
        </p:spPr>
      </p:pic>
      <p:sp>
        <p:nvSpPr>
          <p:cNvPr id="3" name="Title 2">
            <a:extLst>
              <a:ext uri="{FF2B5EF4-FFF2-40B4-BE49-F238E27FC236}">
                <a16:creationId xmlns:a16="http://schemas.microsoft.com/office/drawing/2014/main" id="{95D1985C-0B9B-CFB1-89A6-7722B3E5BD1E}"/>
              </a:ext>
            </a:extLst>
          </p:cNvPr>
          <p:cNvSpPr>
            <a:spLocks noGrp="1"/>
          </p:cNvSpPr>
          <p:nvPr>
            <p:ph type="title"/>
          </p:nvPr>
        </p:nvSpPr>
        <p:spPr/>
        <p:txBody>
          <a:bodyPr/>
          <a:lstStyle/>
          <a:p>
            <a:pPr algn="ctr"/>
            <a:r>
              <a:rPr lang="en-US" dirty="0"/>
              <a:t>Safety and Emergency </a:t>
            </a:r>
            <a:r>
              <a:rPr lang="en-US" dirty="0" err="1"/>
              <a:t>Equipments</a:t>
            </a:r>
            <a:endParaRPr lang="en-US" dirty="0"/>
          </a:p>
        </p:txBody>
      </p:sp>
    </p:spTree>
    <p:extLst>
      <p:ext uri="{BB962C8B-B14F-4D97-AF65-F5344CB8AC3E}">
        <p14:creationId xmlns:p14="http://schemas.microsoft.com/office/powerpoint/2010/main" val="2938756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Test tubes with one test tube in orange with drops">
            <a:extLst>
              <a:ext uri="{FF2B5EF4-FFF2-40B4-BE49-F238E27FC236}">
                <a16:creationId xmlns:a16="http://schemas.microsoft.com/office/drawing/2014/main" id="{51E39DAF-45C4-FCE8-D656-2A9928A711B8}"/>
              </a:ext>
            </a:extLst>
          </p:cNvPr>
          <p:cNvPicPr>
            <a:picLocks noChangeAspect="1"/>
          </p:cNvPicPr>
          <p:nvPr/>
        </p:nvPicPr>
        <p:blipFill>
          <a:blip r:embed="rId2"/>
          <a:srcRect l="2526" r="11207" b="1"/>
          <a:stretch/>
        </p:blipFill>
        <p:spPr>
          <a:xfrm>
            <a:off x="3523488" y="10"/>
            <a:ext cx="8668512" cy="6857990"/>
          </a:xfrm>
          <a:prstGeom prst="rect">
            <a:avLst/>
          </a:prstGeom>
        </p:spPr>
      </p:pic>
      <p:sp>
        <p:nvSpPr>
          <p:cNvPr id="16" name="Rectangle 15">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96C84F3-104F-86EF-DAF7-916F061965E5}"/>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dirty="0">
                <a:solidFill>
                  <a:schemeClr val="bg1"/>
                </a:solidFill>
              </a:rPr>
              <a:t>Recommended Action in the event of Chemical Accident or Spill</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3377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Isosceles Triangle 2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EF40FDAA-D1D0-3ECE-F36D-D95D1299C7B4}"/>
              </a:ext>
            </a:extLst>
          </p:cNvPr>
          <p:cNvPicPr>
            <a:picLocks noChangeAspect="1"/>
          </p:cNvPicPr>
          <p:nvPr/>
        </p:nvPicPr>
        <p:blipFill>
          <a:blip r:embed="rId2"/>
          <a:stretch>
            <a:fillRect/>
          </a:stretch>
        </p:blipFill>
        <p:spPr>
          <a:xfrm>
            <a:off x="643467" y="2196510"/>
            <a:ext cx="10905066" cy="2464978"/>
          </a:xfrm>
          <a:prstGeom prst="rect">
            <a:avLst/>
          </a:prstGeom>
          <a:ln>
            <a:noFill/>
          </a:ln>
        </p:spPr>
      </p:pic>
      <p:sp>
        <p:nvSpPr>
          <p:cNvPr id="24" name="Isosceles Triangle 2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7271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3B77FBD-DDD0-6AE5-A95B-AF82CFD2D797}"/>
              </a:ext>
            </a:extLst>
          </p:cNvPr>
          <p:cNvPicPr>
            <a:picLocks noChangeAspect="1"/>
          </p:cNvPicPr>
          <p:nvPr/>
        </p:nvPicPr>
        <p:blipFill>
          <a:blip r:embed="rId2"/>
          <a:stretch>
            <a:fillRect/>
          </a:stretch>
        </p:blipFill>
        <p:spPr>
          <a:xfrm>
            <a:off x="643467" y="1541584"/>
            <a:ext cx="10905066" cy="3774830"/>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4456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B7A6535-90A6-3AA6-3337-03121837CACF}"/>
              </a:ext>
            </a:extLst>
          </p:cNvPr>
          <p:cNvPicPr>
            <a:picLocks noChangeAspect="1"/>
          </p:cNvPicPr>
          <p:nvPr/>
        </p:nvPicPr>
        <p:blipFill>
          <a:blip r:embed="rId2"/>
          <a:stretch>
            <a:fillRect/>
          </a:stretch>
        </p:blipFill>
        <p:spPr>
          <a:xfrm>
            <a:off x="643467" y="1896961"/>
            <a:ext cx="10905066" cy="3064076"/>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7853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Vibrant multicolour checkered floor design">
            <a:extLst>
              <a:ext uri="{FF2B5EF4-FFF2-40B4-BE49-F238E27FC236}">
                <a16:creationId xmlns:a16="http://schemas.microsoft.com/office/drawing/2014/main" id="{11D0A240-16FF-73E8-2DB9-D9D405741093}"/>
              </a:ext>
            </a:extLst>
          </p:cNvPr>
          <p:cNvPicPr>
            <a:picLocks noChangeAspect="1"/>
          </p:cNvPicPr>
          <p:nvPr/>
        </p:nvPicPr>
        <p:blipFill>
          <a:blip r:embed="rId2"/>
          <a:srcRect t="16667"/>
          <a:stretch/>
        </p:blipFill>
        <p:spPr>
          <a:xfrm>
            <a:off x="-3047" y="10"/>
            <a:ext cx="12191999" cy="6857990"/>
          </a:xfrm>
          <a:prstGeom prst="rect">
            <a:avLst/>
          </a:prstGeom>
        </p:spPr>
      </p:pic>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E5DFB7-01B7-47D5-42E3-83FC472CDEC1}"/>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Material Safety Data Sheet</a:t>
            </a:r>
          </a:p>
        </p:txBody>
      </p:sp>
    </p:spTree>
    <p:extLst>
      <p:ext uri="{BB962C8B-B14F-4D97-AF65-F5344CB8AC3E}">
        <p14:creationId xmlns:p14="http://schemas.microsoft.com/office/powerpoint/2010/main" val="3844303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A0DF103-1EBC-0E36-6232-F03A872D7DBD}"/>
              </a:ext>
            </a:extLst>
          </p:cNvPr>
          <p:cNvPicPr>
            <a:picLocks noChangeAspect="1"/>
          </p:cNvPicPr>
          <p:nvPr/>
        </p:nvPicPr>
        <p:blipFill>
          <a:blip r:embed="rId2"/>
          <a:stretch>
            <a:fillRect/>
          </a:stretch>
        </p:blipFill>
        <p:spPr>
          <a:xfrm>
            <a:off x="893608" y="643467"/>
            <a:ext cx="10404783" cy="5571065"/>
          </a:xfrm>
          <a:prstGeom prst="rect">
            <a:avLst/>
          </a:prstGeom>
          <a:ln>
            <a:noFill/>
          </a:ln>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5487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0" name="Freeform: Shape 9">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091372F5-9FCB-71CA-1C39-016D1EB865F9}"/>
              </a:ext>
            </a:extLst>
          </p:cNvPr>
          <p:cNvPicPr>
            <a:picLocks noChangeAspect="1"/>
          </p:cNvPicPr>
          <p:nvPr/>
        </p:nvPicPr>
        <p:blipFill>
          <a:blip r:embed="rId2"/>
          <a:stretch>
            <a:fillRect/>
          </a:stretch>
        </p:blipFill>
        <p:spPr>
          <a:xfrm>
            <a:off x="643467" y="2360978"/>
            <a:ext cx="10905066" cy="2136043"/>
          </a:xfrm>
          <a:prstGeom prst="rect">
            <a:avLst/>
          </a:prstGeom>
          <a:ln>
            <a:noFill/>
          </a:ln>
        </p:spPr>
      </p:pic>
    </p:spTree>
    <p:extLst>
      <p:ext uri="{BB962C8B-B14F-4D97-AF65-F5344CB8AC3E}">
        <p14:creationId xmlns:p14="http://schemas.microsoft.com/office/powerpoint/2010/main" val="727239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321DEF-8208-3C15-C7D4-53175BB02630}"/>
              </a:ext>
            </a:extLst>
          </p:cNvPr>
          <p:cNvPicPr>
            <a:picLocks noChangeAspect="1"/>
          </p:cNvPicPr>
          <p:nvPr/>
        </p:nvPicPr>
        <p:blipFill>
          <a:blip r:embed="rId2"/>
          <a:stretch>
            <a:fillRect/>
          </a:stretch>
        </p:blipFill>
        <p:spPr>
          <a:xfrm>
            <a:off x="2160921" y="557481"/>
            <a:ext cx="7106645" cy="3799440"/>
          </a:xfrm>
          <a:prstGeom prst="rect">
            <a:avLst/>
          </a:prstGeom>
        </p:spPr>
      </p:pic>
      <p:pic>
        <p:nvPicPr>
          <p:cNvPr id="3" name="Picture 2">
            <a:extLst>
              <a:ext uri="{FF2B5EF4-FFF2-40B4-BE49-F238E27FC236}">
                <a16:creationId xmlns:a16="http://schemas.microsoft.com/office/drawing/2014/main" id="{AADDF5DA-E20A-E47D-AAD1-540803FAB8E5}"/>
              </a:ext>
            </a:extLst>
          </p:cNvPr>
          <p:cNvPicPr>
            <a:picLocks noChangeAspect="1"/>
          </p:cNvPicPr>
          <p:nvPr/>
        </p:nvPicPr>
        <p:blipFill>
          <a:blip r:embed="rId3"/>
          <a:stretch>
            <a:fillRect/>
          </a:stretch>
        </p:blipFill>
        <p:spPr>
          <a:xfrm>
            <a:off x="2741176" y="4137797"/>
            <a:ext cx="6059713" cy="1917014"/>
          </a:xfrm>
          <a:prstGeom prst="rect">
            <a:avLst/>
          </a:prstGeom>
        </p:spPr>
      </p:pic>
    </p:spTree>
    <p:extLst>
      <p:ext uri="{BB962C8B-B14F-4D97-AF65-F5344CB8AC3E}">
        <p14:creationId xmlns:p14="http://schemas.microsoft.com/office/powerpoint/2010/main" val="33682626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0" name="Freeform: Shape 9">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B1F1B845-16A7-3D24-049D-586C3FB13E09}"/>
              </a:ext>
            </a:extLst>
          </p:cNvPr>
          <p:cNvPicPr>
            <a:picLocks noChangeAspect="1"/>
          </p:cNvPicPr>
          <p:nvPr/>
        </p:nvPicPr>
        <p:blipFill>
          <a:blip r:embed="rId2"/>
          <a:stretch>
            <a:fillRect/>
          </a:stretch>
        </p:blipFill>
        <p:spPr>
          <a:xfrm>
            <a:off x="1420867" y="643467"/>
            <a:ext cx="9350266" cy="5571065"/>
          </a:xfrm>
          <a:prstGeom prst="rect">
            <a:avLst/>
          </a:prstGeom>
          <a:ln>
            <a:noFill/>
          </a:ln>
        </p:spPr>
      </p:pic>
    </p:spTree>
    <p:extLst>
      <p:ext uri="{BB962C8B-B14F-4D97-AF65-F5344CB8AC3E}">
        <p14:creationId xmlns:p14="http://schemas.microsoft.com/office/powerpoint/2010/main" val="25470488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0" name="Freeform: Shape 9">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7CFEBB99-90F5-C37B-65B6-D60F1F768A6E}"/>
              </a:ext>
            </a:extLst>
          </p:cNvPr>
          <p:cNvPicPr>
            <a:picLocks noChangeAspect="1"/>
          </p:cNvPicPr>
          <p:nvPr/>
        </p:nvPicPr>
        <p:blipFill>
          <a:blip r:embed="rId2"/>
          <a:stretch>
            <a:fillRect/>
          </a:stretch>
        </p:blipFill>
        <p:spPr>
          <a:xfrm>
            <a:off x="1896383" y="643467"/>
            <a:ext cx="8399233" cy="5571065"/>
          </a:xfrm>
          <a:prstGeom prst="rect">
            <a:avLst/>
          </a:prstGeom>
          <a:ln>
            <a:noFill/>
          </a:ln>
        </p:spPr>
      </p:pic>
    </p:spTree>
    <p:extLst>
      <p:ext uri="{BB962C8B-B14F-4D97-AF65-F5344CB8AC3E}">
        <p14:creationId xmlns:p14="http://schemas.microsoft.com/office/powerpoint/2010/main" val="10352177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9BB75903-2436-683E-8918-6EF3B6697E9F}"/>
              </a:ext>
            </a:extLst>
          </p:cNvPr>
          <p:cNvPicPr>
            <a:picLocks noChangeAspect="1"/>
          </p:cNvPicPr>
          <p:nvPr/>
        </p:nvPicPr>
        <p:blipFill>
          <a:blip r:embed="rId2"/>
          <a:stretch>
            <a:fillRect/>
          </a:stretch>
        </p:blipFill>
        <p:spPr>
          <a:xfrm>
            <a:off x="643467" y="1691379"/>
            <a:ext cx="10905066" cy="3475240"/>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73342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B56A22D0-3B74-8A9F-C7A7-090AFD398C4F}"/>
              </a:ext>
            </a:extLst>
          </p:cNvPr>
          <p:cNvPicPr>
            <a:picLocks noChangeAspect="1"/>
          </p:cNvPicPr>
          <p:nvPr/>
        </p:nvPicPr>
        <p:blipFill>
          <a:blip r:embed="rId2"/>
          <a:stretch>
            <a:fillRect/>
          </a:stretch>
        </p:blipFill>
        <p:spPr>
          <a:xfrm>
            <a:off x="643467" y="929520"/>
            <a:ext cx="10905066" cy="4998959"/>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5810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01053A-39FD-1508-870C-5E1952A9E96A}"/>
              </a:ext>
            </a:extLst>
          </p:cNvPr>
          <p:cNvPicPr>
            <a:picLocks noChangeAspect="1"/>
          </p:cNvPicPr>
          <p:nvPr/>
        </p:nvPicPr>
        <p:blipFill>
          <a:blip r:embed="rId2"/>
          <a:stretch>
            <a:fillRect/>
          </a:stretch>
        </p:blipFill>
        <p:spPr>
          <a:xfrm>
            <a:off x="2358456" y="617838"/>
            <a:ext cx="7330899" cy="3348681"/>
          </a:xfrm>
          <a:prstGeom prst="rect">
            <a:avLst/>
          </a:prstGeom>
        </p:spPr>
      </p:pic>
      <p:pic>
        <p:nvPicPr>
          <p:cNvPr id="3" name="Picture 2">
            <a:extLst>
              <a:ext uri="{FF2B5EF4-FFF2-40B4-BE49-F238E27FC236}">
                <a16:creationId xmlns:a16="http://schemas.microsoft.com/office/drawing/2014/main" id="{825D6C75-8CBD-8E04-D9C1-35C71754B576}"/>
              </a:ext>
            </a:extLst>
          </p:cNvPr>
          <p:cNvPicPr>
            <a:picLocks noChangeAspect="1"/>
          </p:cNvPicPr>
          <p:nvPr/>
        </p:nvPicPr>
        <p:blipFill>
          <a:blip r:embed="rId3"/>
          <a:stretch>
            <a:fillRect/>
          </a:stretch>
        </p:blipFill>
        <p:spPr>
          <a:xfrm>
            <a:off x="2617947" y="4312508"/>
            <a:ext cx="7205674" cy="1344870"/>
          </a:xfrm>
          <a:prstGeom prst="rect">
            <a:avLst/>
          </a:prstGeom>
        </p:spPr>
      </p:pic>
    </p:spTree>
    <p:extLst>
      <p:ext uri="{BB962C8B-B14F-4D97-AF65-F5344CB8AC3E}">
        <p14:creationId xmlns:p14="http://schemas.microsoft.com/office/powerpoint/2010/main" val="17423656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8403F693-C89C-1E08-91DB-E5C6578DA8C2}"/>
              </a:ext>
            </a:extLst>
          </p:cNvPr>
          <p:cNvPicPr>
            <a:picLocks noChangeAspect="1"/>
          </p:cNvPicPr>
          <p:nvPr/>
        </p:nvPicPr>
        <p:blipFill>
          <a:blip r:embed="rId2"/>
          <a:stretch>
            <a:fillRect/>
          </a:stretch>
        </p:blipFill>
        <p:spPr>
          <a:xfrm>
            <a:off x="962795" y="643467"/>
            <a:ext cx="10266410" cy="5571065"/>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61070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2AB8AA47-97A4-0764-3110-45384B67D322}"/>
              </a:ext>
            </a:extLst>
          </p:cNvPr>
          <p:cNvPicPr>
            <a:picLocks noChangeAspect="1"/>
          </p:cNvPicPr>
          <p:nvPr/>
        </p:nvPicPr>
        <p:blipFill>
          <a:blip r:embed="rId2"/>
          <a:stretch>
            <a:fillRect/>
          </a:stretch>
        </p:blipFill>
        <p:spPr>
          <a:xfrm>
            <a:off x="643467" y="889595"/>
            <a:ext cx="10905066" cy="5078809"/>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6834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4360E4-A6B1-51D0-3277-9CC80D07BA31}"/>
              </a:ext>
            </a:extLst>
          </p:cNvPr>
          <p:cNvPicPr>
            <a:picLocks noChangeAspect="1"/>
          </p:cNvPicPr>
          <p:nvPr/>
        </p:nvPicPr>
        <p:blipFill>
          <a:blip r:embed="rId2"/>
          <a:stretch>
            <a:fillRect/>
          </a:stretch>
        </p:blipFill>
        <p:spPr>
          <a:xfrm>
            <a:off x="1834268" y="824127"/>
            <a:ext cx="8523464" cy="2784046"/>
          </a:xfrm>
          <a:prstGeom prst="rect">
            <a:avLst/>
          </a:prstGeom>
        </p:spPr>
      </p:pic>
      <p:pic>
        <p:nvPicPr>
          <p:cNvPr id="3" name="Picture 2">
            <a:extLst>
              <a:ext uri="{FF2B5EF4-FFF2-40B4-BE49-F238E27FC236}">
                <a16:creationId xmlns:a16="http://schemas.microsoft.com/office/drawing/2014/main" id="{374FB914-C283-513F-7A71-DABF67CCE985}"/>
              </a:ext>
            </a:extLst>
          </p:cNvPr>
          <p:cNvPicPr>
            <a:picLocks noChangeAspect="1"/>
          </p:cNvPicPr>
          <p:nvPr/>
        </p:nvPicPr>
        <p:blipFill>
          <a:blip r:embed="rId3"/>
          <a:stretch>
            <a:fillRect/>
          </a:stretch>
        </p:blipFill>
        <p:spPr>
          <a:xfrm>
            <a:off x="2375118" y="2895772"/>
            <a:ext cx="7789411" cy="2491774"/>
          </a:xfrm>
          <a:prstGeom prst="rect">
            <a:avLst/>
          </a:prstGeom>
        </p:spPr>
      </p:pic>
    </p:spTree>
    <p:extLst>
      <p:ext uri="{BB962C8B-B14F-4D97-AF65-F5344CB8AC3E}">
        <p14:creationId xmlns:p14="http://schemas.microsoft.com/office/powerpoint/2010/main" val="22692329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4B20286-ED88-90B6-3DE8-C2E85F6FFA13}"/>
              </a:ext>
            </a:extLst>
          </p:cNvPr>
          <p:cNvPicPr>
            <a:picLocks noChangeAspect="1"/>
          </p:cNvPicPr>
          <p:nvPr/>
        </p:nvPicPr>
        <p:blipFill>
          <a:blip r:embed="rId2"/>
          <a:stretch>
            <a:fillRect/>
          </a:stretch>
        </p:blipFill>
        <p:spPr>
          <a:xfrm>
            <a:off x="643467" y="1173763"/>
            <a:ext cx="10905066" cy="4510472"/>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37074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EAC9FFFF-BBD3-06D2-9491-32694E842A0E}"/>
              </a:ext>
            </a:extLst>
          </p:cNvPr>
          <p:cNvPicPr>
            <a:picLocks noChangeAspect="1"/>
          </p:cNvPicPr>
          <p:nvPr/>
        </p:nvPicPr>
        <p:blipFill>
          <a:blip r:embed="rId2"/>
          <a:stretch>
            <a:fillRect/>
          </a:stretch>
        </p:blipFill>
        <p:spPr>
          <a:xfrm>
            <a:off x="666572" y="643467"/>
            <a:ext cx="10858855" cy="5571065"/>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3103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0B55ED6-8F9B-BBEA-FF60-D9ABCEA55582}"/>
              </a:ext>
            </a:extLst>
          </p:cNvPr>
          <p:cNvPicPr>
            <a:picLocks noChangeAspect="1"/>
          </p:cNvPicPr>
          <p:nvPr/>
        </p:nvPicPr>
        <p:blipFill>
          <a:blip r:embed="rId2"/>
          <a:stretch>
            <a:fillRect/>
          </a:stretch>
        </p:blipFill>
        <p:spPr>
          <a:xfrm>
            <a:off x="1180354" y="643467"/>
            <a:ext cx="9831291" cy="5571065"/>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18994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2F5AB27-1CA8-B72D-D092-C58723241C0F}"/>
              </a:ext>
            </a:extLst>
          </p:cNvPr>
          <p:cNvSpPr txBox="1"/>
          <p:nvPr/>
        </p:nvSpPr>
        <p:spPr>
          <a:xfrm>
            <a:off x="838200" y="1929384"/>
            <a:ext cx="10515600" cy="4251960"/>
          </a:xfrm>
          <a:prstGeom prst="rect">
            <a:avLst/>
          </a:prstGeom>
        </p:spPr>
        <p:txBody>
          <a:bodyPr vert="horz" lIns="91440" tIns="45720" rIns="91440" bIns="45720" rtlCol="0">
            <a:normAutofit/>
          </a:bodyPr>
          <a:lstStyle/>
          <a:p>
            <a:pPr>
              <a:lnSpc>
                <a:spcPct val="90000"/>
              </a:lnSpc>
              <a:spcAft>
                <a:spcPts val="600"/>
              </a:spcAft>
            </a:pPr>
            <a:r>
              <a:rPr lang="en-US" sz="2200" b="1" dirty="0">
                <a:effectLst/>
              </a:rPr>
              <a:t>How to use a burette: </a:t>
            </a:r>
          </a:p>
          <a:p>
            <a:pPr indent="-228600">
              <a:lnSpc>
                <a:spcPct val="90000"/>
              </a:lnSpc>
              <a:spcAft>
                <a:spcPts val="600"/>
              </a:spcAft>
              <a:buFont typeface="Arial" panose="020B0604020202020204" pitchFamily="34" charset="0"/>
              <a:buChar char="•"/>
            </a:pPr>
            <a:r>
              <a:rPr lang="en-US" sz="2400" dirty="0">
                <a:effectLst/>
              </a:rPr>
              <a:t>The burette should be washed thoroughly before using. </a:t>
            </a:r>
          </a:p>
          <a:p>
            <a:pPr indent="-228600">
              <a:lnSpc>
                <a:spcPct val="90000"/>
              </a:lnSpc>
              <a:spcAft>
                <a:spcPts val="600"/>
              </a:spcAft>
              <a:buFont typeface="Arial" panose="020B0604020202020204" pitchFamily="34" charset="0"/>
              <a:buChar char="•"/>
            </a:pPr>
            <a:r>
              <a:rPr lang="en-US" sz="2400" dirty="0">
                <a:effectLst/>
              </a:rPr>
              <a:t>When mounting the burette, make sure that it is clamped vertically and the tap is on your right side. It is then filled up to the zero mark and the nozzle is filled by opening the tap for two or three seconds. </a:t>
            </a:r>
          </a:p>
          <a:p>
            <a:pPr indent="-228600">
              <a:lnSpc>
                <a:spcPct val="90000"/>
              </a:lnSpc>
              <a:spcAft>
                <a:spcPts val="600"/>
              </a:spcAft>
              <a:buFont typeface="Arial" panose="020B0604020202020204" pitchFamily="34" charset="0"/>
              <a:buChar char="•"/>
            </a:pPr>
            <a:r>
              <a:rPr lang="en-US" sz="2400" dirty="0">
                <a:effectLst/>
              </a:rPr>
              <a:t>The reading of the bottom level of the meniscus is taken. The tap is held by left hand (Thumb and fore-finger). The flask containing the solution is held in the right hand. During the titration, the solution is added slowly from the burette and the flask is whirled with right hand. </a:t>
            </a:r>
          </a:p>
          <a:p>
            <a:pPr indent="-228600">
              <a:lnSpc>
                <a:spcPct val="90000"/>
              </a:lnSpc>
              <a:spcAft>
                <a:spcPts val="600"/>
              </a:spcAft>
              <a:buFont typeface="Arial" panose="020B0604020202020204" pitchFamily="34" charset="0"/>
              <a:buChar char="•"/>
            </a:pPr>
            <a:r>
              <a:rPr lang="en-US" sz="2400" dirty="0">
                <a:effectLst/>
              </a:rPr>
              <a:t>The burette after use should be emptied and washed thoroughly with water before leaving the lab. </a:t>
            </a:r>
            <a:endParaRPr lang="en-US" sz="2400" dirty="0"/>
          </a:p>
        </p:txBody>
      </p:sp>
    </p:spTree>
    <p:extLst>
      <p:ext uri="{BB962C8B-B14F-4D97-AF65-F5344CB8AC3E}">
        <p14:creationId xmlns:p14="http://schemas.microsoft.com/office/powerpoint/2010/main" val="34392781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A32ABD-9E7D-3226-3A32-E49DB5872783}"/>
              </a:ext>
            </a:extLst>
          </p:cNvPr>
          <p:cNvSpPr txBox="1"/>
          <p:nvPr/>
        </p:nvSpPr>
        <p:spPr>
          <a:xfrm>
            <a:off x="838200" y="1929384"/>
            <a:ext cx="10515600" cy="4251960"/>
          </a:xfrm>
          <a:prstGeom prst="rect">
            <a:avLst/>
          </a:prstGeom>
        </p:spPr>
        <p:txBody>
          <a:bodyPr vert="horz" lIns="91440" tIns="45720" rIns="91440" bIns="45720" rtlCol="0">
            <a:normAutofit/>
          </a:bodyPr>
          <a:lstStyle/>
          <a:p>
            <a:pPr>
              <a:lnSpc>
                <a:spcPct val="90000"/>
              </a:lnSpc>
              <a:spcAft>
                <a:spcPts val="600"/>
              </a:spcAft>
            </a:pPr>
            <a:r>
              <a:rPr lang="en-US" sz="2400" b="1" dirty="0">
                <a:effectLst/>
              </a:rPr>
              <a:t>How to use a standard measuring flask: </a:t>
            </a:r>
          </a:p>
          <a:p>
            <a:pPr marL="342900" indent="-342900">
              <a:lnSpc>
                <a:spcPct val="90000"/>
              </a:lnSpc>
              <a:spcAft>
                <a:spcPts val="600"/>
              </a:spcAft>
              <a:buFont typeface="Arial" panose="020B0604020202020204" pitchFamily="34" charset="0"/>
              <a:buChar char="•"/>
            </a:pPr>
            <a:r>
              <a:rPr lang="en-US" sz="2400" dirty="0">
                <a:effectLst/>
              </a:rPr>
              <a:t>Standard flask is a narrow necked flask fitted with a glass stopper. </a:t>
            </a:r>
          </a:p>
          <a:p>
            <a:pPr marL="342900" indent="-342900">
              <a:lnSpc>
                <a:spcPct val="90000"/>
              </a:lnSpc>
              <a:spcAft>
                <a:spcPts val="600"/>
              </a:spcAft>
              <a:buFont typeface="Arial" panose="020B0604020202020204" pitchFamily="34" charset="0"/>
              <a:buChar char="•"/>
            </a:pPr>
            <a:r>
              <a:rPr lang="en-US" sz="2400" dirty="0">
                <a:effectLst/>
              </a:rPr>
              <a:t>A weighed amount of the substance is usually transferred to it by using a funnel.</a:t>
            </a:r>
          </a:p>
          <a:p>
            <a:pPr marL="342900" indent="-342900">
              <a:lnSpc>
                <a:spcPct val="90000"/>
              </a:lnSpc>
              <a:spcAft>
                <a:spcPts val="600"/>
              </a:spcAft>
              <a:buFont typeface="Arial" panose="020B0604020202020204" pitchFamily="34" charset="0"/>
              <a:buChar char="•"/>
            </a:pPr>
            <a:r>
              <a:rPr lang="en-US" sz="2400" dirty="0">
                <a:effectLst/>
              </a:rPr>
              <a:t>The funnel and its stems are washed down into the flask. </a:t>
            </a:r>
          </a:p>
          <a:p>
            <a:pPr marL="342900" indent="-342900">
              <a:lnSpc>
                <a:spcPct val="90000"/>
              </a:lnSpc>
              <a:spcAft>
                <a:spcPts val="600"/>
              </a:spcAft>
              <a:buFont typeface="Arial" panose="020B0604020202020204" pitchFamily="34" charset="0"/>
              <a:buChar char="•"/>
            </a:pPr>
            <a:r>
              <a:rPr lang="en-US" sz="2400" dirty="0">
                <a:effectLst/>
              </a:rPr>
              <a:t>The funnel is removed and the substance is then dissolved by giving a rotating motion to the flask. </a:t>
            </a:r>
          </a:p>
          <a:p>
            <a:pPr marL="342900" indent="-342900">
              <a:lnSpc>
                <a:spcPct val="90000"/>
              </a:lnSpc>
              <a:spcAft>
                <a:spcPts val="600"/>
              </a:spcAft>
              <a:buFont typeface="Arial" panose="020B0604020202020204" pitchFamily="34" charset="0"/>
              <a:buChar char="•"/>
            </a:pPr>
            <a:r>
              <a:rPr lang="en-US" sz="2400" dirty="0">
                <a:effectLst/>
              </a:rPr>
              <a:t>Water is then added to it till the lower water meniscus coincides with the mark on the standard flask. </a:t>
            </a:r>
          </a:p>
          <a:p>
            <a:pPr marL="342900" indent="-342900">
              <a:lnSpc>
                <a:spcPct val="90000"/>
              </a:lnSpc>
              <a:spcAft>
                <a:spcPts val="600"/>
              </a:spcAft>
              <a:buFont typeface="Arial" panose="020B0604020202020204" pitchFamily="34" charset="0"/>
              <a:buChar char="•"/>
            </a:pPr>
            <a:r>
              <a:rPr lang="en-US" sz="2400" dirty="0">
                <a:effectLst/>
              </a:rPr>
              <a:t>The flask is then closed and shaken well till the solution gets a uniform concentration. </a:t>
            </a:r>
            <a:endParaRPr lang="en-US" sz="2400" dirty="0"/>
          </a:p>
        </p:txBody>
      </p:sp>
    </p:spTree>
    <p:extLst>
      <p:ext uri="{BB962C8B-B14F-4D97-AF65-F5344CB8AC3E}">
        <p14:creationId xmlns:p14="http://schemas.microsoft.com/office/powerpoint/2010/main" val="35052087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44D9DB-367E-344C-82DA-017244927632}"/>
              </a:ext>
            </a:extLst>
          </p:cNvPr>
          <p:cNvSpPr txBox="1"/>
          <p:nvPr/>
        </p:nvSpPr>
        <p:spPr>
          <a:xfrm>
            <a:off x="1290918" y="1409252"/>
            <a:ext cx="9692639" cy="3323987"/>
          </a:xfrm>
          <a:prstGeom prst="rect">
            <a:avLst/>
          </a:prstGeom>
          <a:noFill/>
        </p:spPr>
        <p:txBody>
          <a:bodyPr wrap="square">
            <a:spAutoFit/>
          </a:bodyPr>
          <a:lstStyle/>
          <a:p>
            <a:pPr>
              <a:buFont typeface="+mj-lt"/>
              <a:buAutoNum type="arabicPeriod"/>
            </a:pPr>
            <a:r>
              <a:rPr lang="en-IN" sz="2400" dirty="0">
                <a:effectLst/>
                <a:latin typeface="TimesNewRomanPSMT"/>
              </a:rPr>
              <a:t>All apparatus should be extremely clean to start with. Test tubes, beakers can be cleaned with soap powder with a semi-micro brush. At the end of the day’s work, you must clean all the apparatus and return to the lab staff. </a:t>
            </a:r>
          </a:p>
          <a:p>
            <a:endParaRPr lang="en-IN" sz="2400" dirty="0">
              <a:effectLst/>
              <a:latin typeface="TimesNewRomanPSMT"/>
            </a:endParaRPr>
          </a:p>
          <a:p>
            <a:r>
              <a:rPr lang="en-IN" sz="2400" dirty="0">
                <a:effectLst/>
                <a:latin typeface="TimesNewRomanPSMT"/>
              </a:rPr>
              <a:t>2. Droppers containing the reagents should not be allowed to touch on the sides of the test tube during addition. Reagent drops should be allowed to fall directly into the test tube without touching the sides; otherwise the reagent bottle will get contaminated. </a:t>
            </a:r>
          </a:p>
          <a:p>
            <a:pPr>
              <a:buFont typeface="+mj-lt"/>
              <a:buAutoNum type="arabicPeriod"/>
            </a:pPr>
            <a:endParaRPr lang="en-IN" sz="1800" dirty="0">
              <a:effectLst/>
              <a:latin typeface="TimesNewRomanPSMT"/>
            </a:endParaRPr>
          </a:p>
        </p:txBody>
      </p:sp>
    </p:spTree>
    <p:extLst>
      <p:ext uri="{BB962C8B-B14F-4D97-AF65-F5344CB8AC3E}">
        <p14:creationId xmlns:p14="http://schemas.microsoft.com/office/powerpoint/2010/main" val="27997769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txBox="1">
            <a:spLocks/>
          </p:cNvSpPr>
          <p:nvPr/>
        </p:nvSpPr>
        <p:spPr bwMode="auto">
          <a:xfrm>
            <a:off x="2135189" y="188913"/>
            <a:ext cx="7869237" cy="1143000"/>
          </a:xfrm>
          <a:prstGeom prst="rect">
            <a:avLst/>
          </a:prstGeom>
          <a:noFill/>
          <a:ln w="9525">
            <a:noFill/>
            <a:miter lim="800000"/>
            <a:headEnd/>
            <a:tailEnd/>
          </a:ln>
        </p:spPr>
        <p:txBody>
          <a:bodyPr anchor="ctr"/>
          <a:lstStyle/>
          <a:p>
            <a:pPr lvl="1"/>
            <a:endParaRPr lang="en-US" sz="3200" dirty="0">
              <a:latin typeface="Calibri" panose="020F0502020204030204" pitchFamily="34" charset="0"/>
              <a:cs typeface="Calibri" panose="020F0502020204030204" pitchFamily="34" charset="0"/>
            </a:endParaRPr>
          </a:p>
        </p:txBody>
      </p:sp>
      <p:sp>
        <p:nvSpPr>
          <p:cNvPr id="6" name="Rectangle 3"/>
          <p:cNvSpPr>
            <a:spLocks noChangeArrowheads="1"/>
          </p:cNvSpPr>
          <p:nvPr/>
        </p:nvSpPr>
        <p:spPr bwMode="auto">
          <a:xfrm>
            <a:off x="1524000" y="1184276"/>
            <a:ext cx="9144000" cy="720725"/>
          </a:xfrm>
          <a:prstGeom prst="rect">
            <a:avLst/>
          </a:prstGeom>
          <a:solidFill>
            <a:srgbClr val="CC0000"/>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457200" lvl="1" indent="0" algn="ctr">
              <a:buNone/>
            </a:pPr>
            <a:r>
              <a:rPr lang="nl-NL" sz="2200" dirty="0">
                <a:solidFill>
                  <a:schemeClr val="bg1"/>
                </a:solidFill>
                <a:latin typeface="Calibri" panose="020F0502020204030204" pitchFamily="34" charset="0"/>
                <a:cs typeface="Calibri" panose="020F0502020204030204" pitchFamily="34" charset="0"/>
              </a:rPr>
              <a:t>Summary</a:t>
            </a:r>
            <a:endParaRPr lang="en-US" sz="2200" dirty="0">
              <a:solidFill>
                <a:schemeClr val="bg1"/>
              </a:solidFill>
              <a:latin typeface="Calibri" panose="020F0502020204030204" pitchFamily="34" charset="0"/>
              <a:cs typeface="Calibri" panose="020F0502020204030204" pitchFamily="34" charset="0"/>
            </a:endParaRPr>
          </a:p>
        </p:txBody>
      </p:sp>
      <p:sp>
        <p:nvSpPr>
          <p:cNvPr id="8" name="Rectangle 6"/>
          <p:cNvSpPr>
            <a:spLocks noGrp="1" noChangeArrowheads="1"/>
          </p:cNvSpPr>
          <p:nvPr>
            <p:ph type="sldNum" sz="quarter" idx="4294967295"/>
          </p:nvPr>
        </p:nvSpPr>
        <p:spPr>
          <a:xfrm>
            <a:off x="8077200" y="6245225"/>
            <a:ext cx="2133600" cy="476250"/>
          </a:xfrm>
          <a:prstGeom prst="rect">
            <a:avLst/>
          </a:prstGeom>
        </p:spPr>
        <p:txBody>
          <a:bodyPr/>
          <a:lstStyle>
            <a:lvl1pPr algn="ctr" eaLnBrk="0" hangingPunct="0">
              <a:defRPr>
                <a:solidFill>
                  <a:schemeClr val="tx1"/>
                </a:solidFill>
                <a:latin typeface="Arial" charset="0"/>
              </a:defRPr>
            </a:lvl1pPr>
            <a:lvl2pPr marL="742950" indent="-285750" algn="ctr" eaLnBrk="0" hangingPunct="0">
              <a:defRPr>
                <a:solidFill>
                  <a:schemeClr val="tx1"/>
                </a:solidFill>
                <a:latin typeface="Arial" charset="0"/>
              </a:defRPr>
            </a:lvl2pPr>
            <a:lvl3pPr marL="1143000" indent="-228600" algn="ctr" eaLnBrk="0" hangingPunct="0">
              <a:defRPr>
                <a:solidFill>
                  <a:schemeClr val="tx1"/>
                </a:solidFill>
                <a:latin typeface="Arial" charset="0"/>
              </a:defRPr>
            </a:lvl3pPr>
            <a:lvl4pPr marL="1600200" indent="-228600" algn="ctr" eaLnBrk="0" hangingPunct="0">
              <a:defRPr>
                <a:solidFill>
                  <a:schemeClr val="tx1"/>
                </a:solidFill>
                <a:latin typeface="Arial" charset="0"/>
              </a:defRPr>
            </a:lvl4pPr>
            <a:lvl5pPr marL="2057400" indent="-228600" algn="ctr"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defRPr/>
            </a:pPr>
            <a:fld id="{1E101D71-1B26-4B51-87C9-F074178619A0}" type="slidenum">
              <a:rPr lang="en-US" sz="1600">
                <a:solidFill>
                  <a:schemeClr val="bg2"/>
                </a:solidFill>
                <a:latin typeface="Calibri" panose="020F0502020204030204" pitchFamily="34" charset="0"/>
                <a:cs typeface="Calibri" panose="020F0502020204030204" pitchFamily="34" charset="0"/>
              </a:rPr>
              <a:pPr algn="r" eaLnBrk="1" hangingPunct="1">
                <a:defRPr/>
              </a:pPr>
              <a:t>41</a:t>
            </a:fld>
            <a:endParaRPr lang="en-US" sz="1600" dirty="0">
              <a:solidFill>
                <a:schemeClr val="bg2"/>
              </a:solidFill>
              <a:latin typeface="Calibri" panose="020F0502020204030204" pitchFamily="34" charset="0"/>
              <a:cs typeface="Calibri" panose="020F0502020204030204" pitchFamily="34" charset="0"/>
            </a:endParaRPr>
          </a:p>
        </p:txBody>
      </p:sp>
      <p:pic>
        <p:nvPicPr>
          <p:cNvPr id="1026" name="Picture 2" descr="Image result for a clean la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2420888"/>
            <a:ext cx="4267200" cy="3331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78104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837739C111174AA4612B428596DF21" ma:contentTypeVersion="4" ma:contentTypeDescription="Create a new document." ma:contentTypeScope="" ma:versionID="6e6e8068e86c0e180584346e904a2c79">
  <xsd:schema xmlns:xsd="http://www.w3.org/2001/XMLSchema" xmlns:xs="http://www.w3.org/2001/XMLSchema" xmlns:p="http://schemas.microsoft.com/office/2006/metadata/properties" xmlns:ns2="cafaf399-ff3b-4908-9708-7f93ec344edf" targetNamespace="http://schemas.microsoft.com/office/2006/metadata/properties" ma:root="true" ma:fieldsID="d9aae05cd4ffab418111fc159f790dce" ns2:_="">
    <xsd:import namespace="cafaf399-ff3b-4908-9708-7f93ec344ed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faf399-ff3b-4908-9708-7f93ec344e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9728697-DB44-4DBD-B7BE-BF1BC90D8D6B}"/>
</file>

<file path=customXml/itemProps2.xml><?xml version="1.0" encoding="utf-8"?>
<ds:datastoreItem xmlns:ds="http://schemas.openxmlformats.org/officeDocument/2006/customXml" ds:itemID="{B77B899D-54FF-4A5C-9650-82A0A0CFBDDE}"/>
</file>

<file path=customXml/itemProps3.xml><?xml version="1.0" encoding="utf-8"?>
<ds:datastoreItem xmlns:ds="http://schemas.openxmlformats.org/officeDocument/2006/customXml" ds:itemID="{C2F6340F-23D6-402E-8A66-EE2AECD23C8B}"/>
</file>

<file path=docProps/app.xml><?xml version="1.0" encoding="utf-8"?>
<Properties xmlns="http://schemas.openxmlformats.org/officeDocument/2006/extended-properties" xmlns:vt="http://schemas.openxmlformats.org/officeDocument/2006/docPropsVTypes">
  <TotalTime>302</TotalTime>
  <Words>838</Words>
  <Application>Microsoft Macintosh PowerPoint</Application>
  <PresentationFormat>Widescreen</PresentationFormat>
  <Paragraphs>77</Paragraphs>
  <Slides>41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Calibri Light</vt:lpstr>
      <vt:lpstr>Roboto</vt:lpstr>
      <vt:lpstr>TimesNewRomanPSMT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National Fire Protection Association (NFPA)</vt:lpstr>
      <vt:lpstr>PowerPoint Presentation</vt:lpstr>
      <vt:lpstr>PowerPoint Presentation</vt:lpstr>
      <vt:lpstr>PowerPoint Presentation</vt:lpstr>
      <vt:lpstr>PowerPoint Presentation</vt:lpstr>
      <vt:lpstr>PowerPoint Presentation</vt:lpstr>
      <vt:lpstr>PowerPoint Presentation</vt:lpstr>
      <vt:lpstr>Safety and Emergency Equipments</vt:lpstr>
      <vt:lpstr>Recommended Action in the event of Chemical Accident or Spill</vt:lpstr>
      <vt:lpstr>PowerPoint Presentation</vt:lpstr>
      <vt:lpstr>PowerPoint Presentation</vt:lpstr>
      <vt:lpstr>PowerPoint Presentation</vt:lpstr>
      <vt:lpstr>Material Safety Data 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Shashank Deep</dc:creator>
  <cp:lastModifiedBy>Shashank Deep</cp:lastModifiedBy>
  <cp:revision>9</cp:revision>
  <dcterms:created xsi:type="dcterms:W3CDTF">2024-09-03T05:51:50Z</dcterms:created>
  <dcterms:modified xsi:type="dcterms:W3CDTF">2024-09-03T14:43:50Z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0x01010053837739C111174AA4612B428596DF21</vt:lpwstr>
  </property>
</Properties>
</file>