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340" r:id="rId6"/>
    <p:sldId id="297" r:id="rId7"/>
    <p:sldId id="341" r:id="rId8"/>
    <p:sldId id="334" r:id="rId9"/>
    <p:sldId id="311" r:id="rId10"/>
    <p:sldId id="337" r:id="rId11"/>
    <p:sldId id="293" r:id="rId12"/>
    <p:sldId id="313" r:id="rId13"/>
    <p:sldId id="338" r:id="rId14"/>
    <p:sldId id="33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3A261-1855-2E73-88E4-508233649F7C}" v="6" dt="2024-12-19T22:59:01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1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yya Shakir Syed" userId="S::24a1eenb0081@iitdabudhabi.ac.ae::6fd9bf6f-a9d4-4d24-8e21-b8e1cf9cb74d" providerId="AD" clId="Web-{4DD3A261-1855-2E73-88E4-508233649F7C}"/>
    <pc:docChg chg="modSld">
      <pc:chgData name="Sumayya Shakir Syed" userId="S::24a1eenb0081@iitdabudhabi.ac.ae::6fd9bf6f-a9d4-4d24-8e21-b8e1cf9cb74d" providerId="AD" clId="Web-{4DD3A261-1855-2E73-88E4-508233649F7C}" dt="2024-12-19T22:59:01.877" v="4" actId="20577"/>
      <pc:docMkLst>
        <pc:docMk/>
      </pc:docMkLst>
      <pc:sldChg chg="modSp">
        <pc:chgData name="Sumayya Shakir Syed" userId="S::24a1eenb0081@iitdabudhabi.ac.ae::6fd9bf6f-a9d4-4d24-8e21-b8e1cf9cb74d" providerId="AD" clId="Web-{4DD3A261-1855-2E73-88E4-508233649F7C}" dt="2024-12-19T22:59:01.877" v="4" actId="20577"/>
        <pc:sldMkLst>
          <pc:docMk/>
          <pc:sldMk cId="247509715" sldId="341"/>
        </pc:sldMkLst>
        <pc:spChg chg="mod">
          <ac:chgData name="Sumayya Shakir Syed" userId="S::24a1eenb0081@iitdabudhabi.ac.ae::6fd9bf6f-a9d4-4d24-8e21-b8e1cf9cb74d" providerId="AD" clId="Web-{4DD3A261-1855-2E73-88E4-508233649F7C}" dt="2024-12-19T22:59:01.877" v="4" actId="20577"/>
          <ac:spMkLst>
            <pc:docMk/>
            <pc:sldMk cId="247509715" sldId="341"/>
            <ac:spMk id="4" creationId="{00000000-0000-0000-0000-000000000000}"/>
          </ac:spMkLst>
        </pc:spChg>
      </pc:sldChg>
    </pc:docChg>
  </pc:docChgLst>
  <pc:docChgLst>
    <pc:chgData name="Subrata Kundu" userId="9309fae4-ea27-4581-8b06-cb16c796517c" providerId="ADAL" clId="{C0B345F2-628D-E84A-9483-84D5D5CC0E85}"/>
    <pc:docChg chg="custSel addSld modSld">
      <pc:chgData name="Subrata Kundu" userId="9309fae4-ea27-4581-8b06-cb16c796517c" providerId="ADAL" clId="{C0B345F2-628D-E84A-9483-84D5D5CC0E85}" dt="2021-04-06T08:24:20.862" v="2" actId="7634"/>
      <pc:docMkLst>
        <pc:docMk/>
      </pc:docMkLst>
      <pc:sldChg chg="addSp">
        <pc:chgData name="Subrata Kundu" userId="9309fae4-ea27-4581-8b06-cb16c796517c" providerId="ADAL" clId="{C0B345F2-628D-E84A-9483-84D5D5CC0E85}" dt="2021-04-06T08:24:20.862" v="2" actId="7634"/>
        <pc:sldMkLst>
          <pc:docMk/>
          <pc:sldMk cId="2401960388" sldId="269"/>
        </pc:sldMkLst>
      </pc:sldChg>
      <pc:sldChg chg="addSp">
        <pc:chgData name="Subrata Kundu" userId="9309fae4-ea27-4581-8b06-cb16c796517c" providerId="ADAL" clId="{C0B345F2-628D-E84A-9483-84D5D5CC0E85}" dt="2021-04-06T08:24:20.862" v="2" actId="7634"/>
        <pc:sldMkLst>
          <pc:docMk/>
          <pc:sldMk cId="1565551744" sldId="293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3301291158" sldId="297"/>
        </pc:sldMkLst>
      </pc:sldChg>
      <pc:sldChg chg="addSp">
        <pc:chgData name="Subrata Kundu" userId="9309fae4-ea27-4581-8b06-cb16c796517c" providerId="ADAL" clId="{C0B345F2-628D-E84A-9483-84D5D5CC0E85}" dt="2021-04-06T08:24:20.862" v="2" actId="7634"/>
        <pc:sldMkLst>
          <pc:docMk/>
          <pc:sldMk cId="1846524958" sldId="311"/>
        </pc:sldMkLst>
      </pc:sldChg>
      <pc:sldChg chg="addSp">
        <pc:chgData name="Subrata Kundu" userId="9309fae4-ea27-4581-8b06-cb16c796517c" providerId="ADAL" clId="{C0B345F2-628D-E84A-9483-84D5D5CC0E85}" dt="2021-04-06T08:24:20.862" v="2" actId="7634"/>
        <pc:sldMkLst>
          <pc:docMk/>
          <pc:sldMk cId="872644971" sldId="313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359806575" sldId="324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487980596" sldId="325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965147000" sldId="327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4255625995" sldId="328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1900233689" sldId="329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1759877152" sldId="330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4274874570" sldId="331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815993984" sldId="333"/>
        </pc:sldMkLst>
      </pc:sldChg>
      <pc:sldChg chg="addSp">
        <pc:chgData name="Subrata Kundu" userId="9309fae4-ea27-4581-8b06-cb16c796517c" providerId="ADAL" clId="{C0B345F2-628D-E84A-9483-84D5D5CC0E85}" dt="2021-04-06T07:56:01.409" v="1" actId="7634"/>
        <pc:sldMkLst>
          <pc:docMk/>
          <pc:sldMk cId="987562101" sldId="334"/>
        </pc:sldMkLst>
      </pc:sldChg>
      <pc:sldChg chg="addSp">
        <pc:chgData name="Subrata Kundu" userId="9309fae4-ea27-4581-8b06-cb16c796517c" providerId="ADAL" clId="{C0B345F2-628D-E84A-9483-84D5D5CC0E85}" dt="2021-04-06T08:24:20.862" v="2" actId="7634"/>
        <pc:sldMkLst>
          <pc:docMk/>
          <pc:sldMk cId="3153620409" sldId="336"/>
        </pc:sldMkLst>
      </pc:sldChg>
      <pc:sldChg chg="addSp">
        <pc:chgData name="Subrata Kundu" userId="9309fae4-ea27-4581-8b06-cb16c796517c" providerId="ADAL" clId="{C0B345F2-628D-E84A-9483-84D5D5CC0E85}" dt="2021-04-06T08:24:20.862" v="2" actId="7634"/>
        <pc:sldMkLst>
          <pc:docMk/>
          <pc:sldMk cId="3172348405" sldId="337"/>
        </pc:sldMkLst>
      </pc:sldChg>
      <pc:sldChg chg="new">
        <pc:chgData name="Subrata Kundu" userId="9309fae4-ea27-4581-8b06-cb16c796517c" providerId="ADAL" clId="{C0B345F2-628D-E84A-9483-84D5D5CC0E85}" dt="2021-04-05T08:30:48.154" v="0" actId="680"/>
        <pc:sldMkLst>
          <pc:docMk/>
          <pc:sldMk cId="1050728789" sldId="338"/>
        </pc:sldMkLst>
      </pc:sldChg>
    </pc:docChg>
  </pc:docChgLst>
  <pc:docChgLst>
    <pc:chgData name="MOHAMMAD TAQI AHSAN" userId="S::24a1eenb0064@iitdabudhabi.ac.ae::b14286ee-61c5-4e82-907a-34d3d9049258" providerId="AD" clId="Web-{D5D047EF-515E-A155-8635-9A5264B64726}"/>
    <pc:docChg chg="modSld">
      <pc:chgData name="MOHAMMAD TAQI AHSAN" userId="S::24a1eenb0064@iitdabudhabi.ac.ae::b14286ee-61c5-4e82-907a-34d3d9049258" providerId="AD" clId="Web-{D5D047EF-515E-A155-8635-9A5264B64726}" dt="2024-12-19T16:57:00.655" v="1" actId="1076"/>
      <pc:docMkLst>
        <pc:docMk/>
      </pc:docMkLst>
      <pc:sldChg chg="modSp">
        <pc:chgData name="MOHAMMAD TAQI AHSAN" userId="S::24a1eenb0064@iitdabudhabi.ac.ae::b14286ee-61c5-4e82-907a-34d3d9049258" providerId="AD" clId="Web-{D5D047EF-515E-A155-8635-9A5264B64726}" dt="2024-12-19T16:57:00.655" v="1" actId="1076"/>
        <pc:sldMkLst>
          <pc:docMk/>
          <pc:sldMk cId="3547586804" sldId="339"/>
        </pc:sldMkLst>
        <pc:graphicFrameChg chg="mod">
          <ac:chgData name="MOHAMMAD TAQI AHSAN" userId="S::24a1eenb0064@iitdabudhabi.ac.ae::b14286ee-61c5-4e82-907a-34d3d9049258" providerId="AD" clId="Web-{D5D047EF-515E-A155-8635-9A5264B64726}" dt="2024-12-19T16:57:00.655" v="1" actId="1076"/>
          <ac:graphicFrameMkLst>
            <pc:docMk/>
            <pc:sldMk cId="3547586804" sldId="339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B9CD5-FDF9-094E-83AF-181D611F107C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96866-759F-5D45-A3E3-A430F89E1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7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endParaRPr lang="en-US" sz="1200" b="1">
              <a:latin typeface="Times New Roman" charset="0"/>
              <a:ea typeface="Times New Roman" charset="0"/>
              <a:cs typeface="Times New Roman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581118-A045-194E-9766-2BBBA5D6E8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0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96866-759F-5D45-A3E3-A430F89E11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22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043B-00FF-D848-88C9-BD46140C1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577BC-CC34-FF4A-8A26-436EDDB91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B5E87-9665-DF49-988C-EB1ECE268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9E145-D761-614B-A25C-BCD37E33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763-1FF3-F042-8216-6CE991A5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0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5D81-0B69-994B-8ACA-2A5897CE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14302-1DC9-4B4F-991B-148821D55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F2868-9BEB-9741-BCEB-334BBE01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C86A-9EDA-5C49-9784-1106304A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FE384-9625-1046-AE9A-68F8D8DE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0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58014-0356-3E47-AEFD-E4FB4D38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1E7E2-6D04-2848-9E01-7D685644F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6BD8B-92EB-D44A-8CAD-DB1F0A00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7E3FD-5D2C-BE46-9B37-5519D713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605AE-7A7A-2E42-A095-E0297981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0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31C0-02AE-6C4F-8497-7C7DC577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5E1D2-BC62-E640-A742-048E3061C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2BE4F-2950-5F44-9905-7CEE064D2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EAD35-24F1-8F45-A6A0-35BC975F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56B87-2C23-EA43-83EF-5FD97938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DCC6D-5741-DB4B-8673-24DD6925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6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3014-3652-A642-8D8E-6D87D5FEB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51281-0083-2F48-8FA5-A679FD953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1692D-0D6C-9A47-96C0-E1EF480C9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5231B-E667-2347-9282-0271F0D2C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70B22-72A5-6945-B464-F7846B97D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FFD04-FEF0-E441-835E-ACAE051C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021FA0-5595-2141-B873-6A3C4997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D0243-F496-0145-A4CF-4CE69A40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0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C77E-B4DB-EA4F-B9DF-75681264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3615B-4D46-1741-AEE5-066B4138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A54E9-D345-0546-AD86-512ED663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FBC80-CA0D-084E-9D14-A5649BD2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7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72E49-B202-F541-AE6A-9ACB4345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AF79F-2792-2645-93C8-DCCC75E4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62EE3-644F-7141-9BCC-75383869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0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78D0-3B1F-B44A-942B-5523E267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30302-A03E-5D4C-B0F4-C46CDB7D2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B7F0C-4F27-854E-8C9C-F32D32FFA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F3546-0E96-C548-9230-0E11992B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7610F-AAAF-5D47-872E-74CDBF2B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049E3-64C7-E54F-BA7B-F6473662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8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4DC2C-44CD-CF42-8826-D78DE4FAF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67D6E-BB73-7745-8FA0-CBF97B9A1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8B114-ADCB-D74F-8094-44D4CA504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EB8DD-4060-C547-9F8B-F6E497C5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495E9-85AF-7045-A9BE-FA7AEF4D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71FAA-9D6D-6E46-978D-F8D37E33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72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2A55-8B92-CB49-B4D1-EA15524F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82CD0-1232-0C49-ACAB-D7082131E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CF650-E562-C040-A41E-474A06A6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7602A-208C-B04C-96C4-E0985560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362E1-E5CC-C343-86E8-095E1880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9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A17C1-A480-864B-B6E1-B448B399D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537A2-C7CA-6B4D-8B4D-F0AF16BCE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3ED9-1DBB-CE4E-8452-6FAB6A8E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4C7A8-36E0-4842-B318-A2FC8C90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7E992-1A29-104C-A9E6-B45EF304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5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92770C-8DDA-C543-9125-3D173A3E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FF0A4-A407-1F49-984B-B006F57F7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CD1E8-A72C-4249-AA63-C6C77226A4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FC04F-47FC-BB4B-98D9-7259A8773C00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9FC16-24F5-9B43-A97F-5D768E156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0319C-AE3A-E34A-BFCF-3529879E6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4E447-3CBF-E346-AB39-DF7227C15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6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E9A0C3-D7FE-EB4F-B594-94CAA29DF08A}"/>
              </a:ext>
            </a:extLst>
          </p:cNvPr>
          <p:cNvSpPr txBox="1"/>
          <p:nvPr/>
        </p:nvSpPr>
        <p:spPr>
          <a:xfrm>
            <a:off x="2413334" y="985098"/>
            <a:ext cx="69130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ACML101: Introduction to Chemistry</a:t>
            </a:r>
          </a:p>
          <a:p>
            <a:pPr algn="ctr"/>
            <a:r>
              <a:rPr 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Inorganic Chemistry: Tutorial 1B</a:t>
            </a:r>
          </a:p>
        </p:txBody>
      </p:sp>
    </p:spTree>
    <p:extLst>
      <p:ext uri="{BB962C8B-B14F-4D97-AF65-F5344CB8AC3E}">
        <p14:creationId xmlns:p14="http://schemas.microsoft.com/office/powerpoint/2010/main" val="342494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3200" y="226810"/>
            <a:ext cx="11297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(a) How will you distinguish between cis and trans isomers of [CrCl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(NH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]Cl?</a:t>
            </a:r>
          </a:p>
          <a:p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(b) How will you determine whether MA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complex is square planner or tetrahedral by an experiment?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391" y="1551355"/>
            <a:ext cx="111993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cis isomer has two coordinated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chloro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groups as near neighbours. Hence it will react readily with oxalate ion giving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tetraammine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oxalato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) chromium (II) ion. The trans isomer will not react as readily as cis isomer. A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bidentate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oxalate </a:t>
            </a:r>
            <a:r>
              <a:rPr lang="en-IN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dianion</a:t>
            </a:r>
            <a:r>
              <a:rPr lang="en-I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ligand can span only two adjacent positions as in the cis but not in the trans. 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 square planar MA</a:t>
            </a:r>
            <a:r>
              <a:rPr lang="en-I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is capable of giving cis and trans isomers while a tetrahedral MA</a:t>
            </a:r>
            <a:r>
              <a:rPr lang="en-I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cannot do so.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3925" y="3327945"/>
            <a:ext cx="113562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Propose an experiment to predict the structure of [MnBr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IN" b="1" baseline="30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What are the limitations of VBT theory in predicting the properties of the compound. </a:t>
            </a:r>
            <a:r>
              <a:rPr lang="en-IN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(How crystal field theory is useful in predicting few properties of metal complexes will be explained in the class)</a:t>
            </a:r>
          </a:p>
          <a:p>
            <a:endParaRPr lang="en-IN" b="1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55638" y="4830495"/>
            <a:ext cx="110022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/>
              <a:t>Since the coordination number of Mn</a:t>
            </a:r>
            <a:r>
              <a:rPr lang="en-IN" baseline="30000"/>
              <a:t>2+</a:t>
            </a:r>
            <a:r>
              <a:rPr lang="en-IN"/>
              <a:t> is four it will mainly have two possibilities  Square planar (</a:t>
            </a:r>
            <a:r>
              <a:rPr lang="en-IN" i="1"/>
              <a:t>dsp</a:t>
            </a:r>
            <a:r>
              <a:rPr lang="en-IN" i="1" baseline="30000"/>
              <a:t>2</a:t>
            </a:r>
            <a:r>
              <a:rPr lang="en-IN" i="1"/>
              <a:t> </a:t>
            </a:r>
            <a:r>
              <a:rPr lang="en-IN"/>
              <a:t>hybridization) or tetrahedral (</a:t>
            </a:r>
            <a:r>
              <a:rPr lang="en-IN" i="1"/>
              <a:t>sp</a:t>
            </a:r>
            <a:r>
              <a:rPr lang="en-IN" i="1" baseline="30000"/>
              <a:t>3</a:t>
            </a:r>
            <a:r>
              <a:rPr lang="en-IN"/>
              <a:t> hybridization).  Unless magnetic moment is provided it will be difficult to predict its geometry.  It shows magnetism 5.9 BM which indicate the </a:t>
            </a:r>
            <a:r>
              <a:rPr lang="en-IN" i="1"/>
              <a:t>sp</a:t>
            </a:r>
            <a:r>
              <a:rPr lang="en-IN" i="1" baseline="30000"/>
              <a:t>3</a:t>
            </a:r>
            <a:r>
              <a:rPr lang="en-IN" i="1"/>
              <a:t> </a:t>
            </a:r>
            <a:r>
              <a:rPr lang="en-IN"/>
              <a:t>hybridization. </a:t>
            </a:r>
          </a:p>
        </p:txBody>
      </p:sp>
    </p:spTree>
    <p:extLst>
      <p:ext uri="{BB962C8B-B14F-4D97-AF65-F5344CB8AC3E}">
        <p14:creationId xmlns:p14="http://schemas.microsoft.com/office/powerpoint/2010/main" val="316032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A8143B-F9E9-A84F-88CD-0674EBAC5A7E}"/>
              </a:ext>
            </a:extLst>
          </p:cNvPr>
          <p:cNvSpPr/>
          <p:nvPr/>
        </p:nvSpPr>
        <p:spPr>
          <a:xfrm>
            <a:off x="371312" y="253840"/>
            <a:ext cx="116682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Write down the </a:t>
            </a:r>
            <a:r>
              <a:rPr lang="en-US" sz="22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-orbital splitting diagram for [NiCl</a:t>
            </a:r>
            <a:r>
              <a:rPr lang="en-US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2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[Ni(CN)</a:t>
            </a:r>
            <a:r>
              <a:rPr lang="en-US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2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Will these complexes be paramagnetic or diamagnetic?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7808E-361C-D847-811D-21FB6D9B2D8A}"/>
              </a:ext>
            </a:extLst>
          </p:cNvPr>
          <p:cNvSpPr txBox="1"/>
          <p:nvPr/>
        </p:nvSpPr>
        <p:spPr>
          <a:xfrm>
            <a:off x="485613" y="2844933"/>
            <a:ext cx="66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Thus, [Ni(CN)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diamagnetic and [NiCl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2−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paramagnetic.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44841-BB9A-1447-91D4-8369A2DB37AB}"/>
              </a:ext>
            </a:extLst>
          </p:cNvPr>
          <p:cNvSpPr txBox="1"/>
          <p:nvPr/>
        </p:nvSpPr>
        <p:spPr>
          <a:xfrm>
            <a:off x="482063" y="1164982"/>
            <a:ext cx="65780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Cyanide have strong ligand field. However, chloride is a weak ligand. Thus, [Ni(CN)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will be square-planer as Δ will be higher in this geometry. However, [NiCl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tetrahedral because of the weak ligand field of chloride anion.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DC97049-89F6-7843-ABDB-966C74220E1E}"/>
              </a:ext>
            </a:extLst>
          </p:cNvPr>
          <p:cNvGrpSpPr/>
          <p:nvPr/>
        </p:nvGrpSpPr>
        <p:grpSpPr>
          <a:xfrm>
            <a:off x="7422905" y="777965"/>
            <a:ext cx="4413125" cy="2968543"/>
            <a:chOff x="7422905" y="777965"/>
            <a:chExt cx="4413125" cy="2968543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2175F4-B20A-4745-BB1C-38B6B1691B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54229" y="2768973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8576C9-ACDC-BE4E-B9B9-B2640AF32F1B}"/>
                </a:ext>
              </a:extLst>
            </p:cNvPr>
            <p:cNvCxnSpPr>
              <a:cxnSpLocks/>
            </p:cNvCxnSpPr>
            <p:nvPr/>
          </p:nvCxnSpPr>
          <p:spPr>
            <a:xfrm>
              <a:off x="10517217" y="2768972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9FFB2B-9038-974A-B8D6-C2765D6BE07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0608" y="2289794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4D09629-539C-8348-9488-EEE07EBCC6FB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612" y="1024097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C4D7A2-D8F5-0442-A851-2E46E3D3D01D}"/>
                </a:ext>
              </a:extLst>
            </p:cNvPr>
            <p:cNvCxnSpPr>
              <a:cxnSpLocks/>
            </p:cNvCxnSpPr>
            <p:nvPr/>
          </p:nvCxnSpPr>
          <p:spPr>
            <a:xfrm>
              <a:off x="10270608" y="1647515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7F2833-5F51-6F41-9D8A-B77619489BB9}"/>
                </a:ext>
              </a:extLst>
            </p:cNvPr>
            <p:cNvSpPr txBox="1"/>
            <p:nvPr/>
          </p:nvSpPr>
          <p:spPr>
            <a:xfrm>
              <a:off x="9450395" y="2040595"/>
              <a:ext cx="3401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BA56CB-6A0F-7148-B8B2-0CDE732946F6}"/>
                </a:ext>
              </a:extLst>
            </p:cNvPr>
            <p:cNvSpPr txBox="1"/>
            <p:nvPr/>
          </p:nvSpPr>
          <p:spPr>
            <a:xfrm>
              <a:off x="9313195" y="2649457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7679927-10BD-C14E-BC8B-C56699B2D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9334" y="2547353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3BE8B4C-B2D8-6643-BB70-8A7445F346AD}"/>
                </a:ext>
              </a:extLst>
            </p:cNvPr>
            <p:cNvCxnSpPr>
              <a:cxnSpLocks/>
            </p:cNvCxnSpPr>
            <p:nvPr/>
          </p:nvCxnSpPr>
          <p:spPr>
            <a:xfrm>
              <a:off x="10318089" y="2546958"/>
              <a:ext cx="0" cy="3851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C781B7C-5C97-1D48-8A6E-0E6F91533E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78870" y="2556531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F028863-DC4D-1B4E-8113-91571143892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7625" y="2556136"/>
              <a:ext cx="0" cy="3851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4305A34-4471-2A43-A99C-7323C7BAA9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8462" y="2090637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C1A28FC-25CD-A049-B19E-3A824AEAABC6}"/>
                </a:ext>
              </a:extLst>
            </p:cNvPr>
            <p:cNvCxnSpPr>
              <a:cxnSpLocks/>
            </p:cNvCxnSpPr>
            <p:nvPr/>
          </p:nvCxnSpPr>
          <p:spPr>
            <a:xfrm>
              <a:off x="10517217" y="2090242"/>
              <a:ext cx="0" cy="3851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3220AE2-8E0C-C44D-AE9C-AAC7D70FBE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24990" y="1443598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4DF605D-2EB2-AA4D-A02C-F109855795C7}"/>
                </a:ext>
              </a:extLst>
            </p:cNvPr>
            <p:cNvCxnSpPr>
              <a:cxnSpLocks/>
            </p:cNvCxnSpPr>
            <p:nvPr/>
          </p:nvCxnSpPr>
          <p:spPr>
            <a:xfrm>
              <a:off x="10523745" y="1443203"/>
              <a:ext cx="0" cy="3851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55020-7B35-3B42-A9F0-256C5A067661}"/>
                </a:ext>
              </a:extLst>
            </p:cNvPr>
            <p:cNvCxnSpPr>
              <a:cxnSpLocks/>
            </p:cNvCxnSpPr>
            <p:nvPr/>
          </p:nvCxnSpPr>
          <p:spPr>
            <a:xfrm>
              <a:off x="8371034" y="2851055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D02C513-5473-8743-80FD-50F7E7350649}"/>
                </a:ext>
              </a:extLst>
            </p:cNvPr>
            <p:cNvCxnSpPr>
              <a:cxnSpLocks/>
            </p:cNvCxnSpPr>
            <p:nvPr/>
          </p:nvCxnSpPr>
          <p:spPr>
            <a:xfrm>
              <a:off x="8834022" y="2851054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7535F78-DE1E-B645-A1C8-4FC38A19AABC}"/>
                </a:ext>
              </a:extLst>
            </p:cNvPr>
            <p:cNvCxnSpPr>
              <a:cxnSpLocks/>
            </p:cNvCxnSpPr>
            <p:nvPr/>
          </p:nvCxnSpPr>
          <p:spPr>
            <a:xfrm>
              <a:off x="8131930" y="2281564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A18F4A9-BBE7-2646-A476-49DCE199A172}"/>
                </a:ext>
              </a:extLst>
            </p:cNvPr>
            <p:cNvCxnSpPr>
              <a:cxnSpLocks/>
            </p:cNvCxnSpPr>
            <p:nvPr/>
          </p:nvCxnSpPr>
          <p:spPr>
            <a:xfrm>
              <a:off x="9083198" y="2281563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3BA8D5E-6824-E741-AB3E-F1ED723D3460}"/>
                </a:ext>
              </a:extLst>
            </p:cNvPr>
            <p:cNvCxnSpPr>
              <a:cxnSpLocks/>
            </p:cNvCxnSpPr>
            <p:nvPr/>
          </p:nvCxnSpPr>
          <p:spPr>
            <a:xfrm>
              <a:off x="8607564" y="2281564"/>
              <a:ext cx="418986" cy="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32990D7-76BB-BF44-ACF2-5BBCC3DD24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36139" y="2629435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C19537B-1130-A64A-B5FA-0AF74F297F7C}"/>
                </a:ext>
              </a:extLst>
            </p:cNvPr>
            <p:cNvCxnSpPr>
              <a:cxnSpLocks/>
            </p:cNvCxnSpPr>
            <p:nvPr/>
          </p:nvCxnSpPr>
          <p:spPr>
            <a:xfrm>
              <a:off x="8634894" y="2629040"/>
              <a:ext cx="0" cy="3851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3D14B22-9976-1B4F-B521-9C30FF3912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5675" y="2638613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73F3E12-FFD7-AD46-8627-DB361770CDDE}"/>
                </a:ext>
              </a:extLst>
            </p:cNvPr>
            <p:cNvCxnSpPr>
              <a:cxnSpLocks/>
            </p:cNvCxnSpPr>
            <p:nvPr/>
          </p:nvCxnSpPr>
          <p:spPr>
            <a:xfrm>
              <a:off x="9094430" y="2638218"/>
              <a:ext cx="0" cy="3851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D2D49B9-C7CB-144C-8C84-C0D6B693CA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9784" y="2082407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04838E1-A1E8-7C40-B417-D078F02EA85F}"/>
                </a:ext>
              </a:extLst>
            </p:cNvPr>
            <p:cNvCxnSpPr>
              <a:cxnSpLocks/>
            </p:cNvCxnSpPr>
            <p:nvPr/>
          </p:nvCxnSpPr>
          <p:spPr>
            <a:xfrm>
              <a:off x="8378539" y="2082012"/>
              <a:ext cx="0" cy="3851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BE910D5-67D2-0F4A-AB06-7D729A9F72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20002" y="2090347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6AA8712-C056-B340-9047-4B0F84A1C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89745" y="2087795"/>
              <a:ext cx="1" cy="384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A75B45C-F52F-EE4D-932B-AB65CEAB1F70}"/>
                </a:ext>
              </a:extLst>
            </p:cNvPr>
            <p:cNvSpPr txBox="1"/>
            <p:nvPr/>
          </p:nvSpPr>
          <p:spPr>
            <a:xfrm>
              <a:off x="8165576" y="3038622"/>
              <a:ext cx="148521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Tetrahedral</a:t>
              </a:r>
            </a:p>
            <a:p>
              <a:pPr algn="ctr"/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[NiCl</a:t>
              </a:r>
              <a:r>
                <a:rPr lang="en-US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sz="2000" b="1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2−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74EBDA4-6A6C-4940-B513-7973E68F0265}"/>
                </a:ext>
              </a:extLst>
            </p:cNvPr>
            <p:cNvSpPr txBox="1"/>
            <p:nvPr/>
          </p:nvSpPr>
          <p:spPr>
            <a:xfrm>
              <a:off x="9646589" y="3030442"/>
              <a:ext cx="17541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Square planar</a:t>
              </a:r>
            </a:p>
            <a:p>
              <a:pPr algn="ctr"/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[Ni(CN)</a:t>
              </a:r>
              <a:r>
                <a:rPr lang="en-US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sz="2000" b="1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2−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9318A94-75AF-DB45-82BA-58AEEC44B7DF}"/>
                </a:ext>
              </a:extLst>
            </p:cNvPr>
            <p:cNvCxnSpPr/>
            <p:nvPr/>
          </p:nvCxnSpPr>
          <p:spPr>
            <a:xfrm flipV="1">
              <a:off x="7848600" y="947269"/>
              <a:ext cx="0" cy="2123486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D0CA913-1D35-E445-823A-8D0B74CAF02A}"/>
                </a:ext>
              </a:extLst>
            </p:cNvPr>
            <p:cNvSpPr txBox="1"/>
            <p:nvPr/>
          </p:nvSpPr>
          <p:spPr>
            <a:xfrm rot="16200000">
              <a:off x="6696482" y="1734983"/>
              <a:ext cx="18529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Orbital energy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2614F9-EB9B-E143-B553-826329FCCB88}"/>
                </a:ext>
              </a:extLst>
            </p:cNvPr>
            <p:cNvSpPr txBox="1"/>
            <p:nvPr/>
          </p:nvSpPr>
          <p:spPr>
            <a:xfrm>
              <a:off x="10678870" y="1420243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xy</a:t>
              </a:r>
              <a:endPara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6CFED23-2578-184F-9DDC-5A827A46B9FD}"/>
                </a:ext>
              </a:extLst>
            </p:cNvPr>
            <p:cNvSpPr txBox="1"/>
            <p:nvPr/>
          </p:nvSpPr>
          <p:spPr>
            <a:xfrm>
              <a:off x="10946043" y="2532032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xz</a:t>
              </a:r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000" b="1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yz</a:t>
              </a:r>
              <a:endPara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CBF7B20-0392-2C45-B4A6-F6C76804E780}"/>
                </a:ext>
              </a:extLst>
            </p:cNvPr>
            <p:cNvSpPr txBox="1"/>
            <p:nvPr/>
          </p:nvSpPr>
          <p:spPr>
            <a:xfrm>
              <a:off x="10678870" y="777965"/>
              <a:ext cx="7489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  <a:r>
                <a:rPr lang="en-US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−y2</a:t>
              </a:r>
              <a:endPara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687E498-BCE3-2842-91E3-940F2169917F}"/>
                </a:ext>
              </a:extLst>
            </p:cNvPr>
            <p:cNvSpPr txBox="1"/>
            <p:nvPr/>
          </p:nvSpPr>
          <p:spPr>
            <a:xfrm>
              <a:off x="10674733" y="2049003"/>
              <a:ext cx="4732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z2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371312" y="4075613"/>
            <a:ext cx="1186114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200" b="1">
                <a:solidFill>
                  <a:srgbClr val="C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IN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values of [Ru(H</a:t>
            </a:r>
            <a:r>
              <a:rPr lang="en-IN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O)</a:t>
            </a:r>
            <a:r>
              <a:rPr lang="en-IN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22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 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[RuCl</a:t>
            </a:r>
            <a:r>
              <a:rPr lang="en-IN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22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nearly same but according to </a:t>
            </a:r>
            <a:r>
              <a:rPr lang="en-IN" sz="22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spectrochemical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series, the value for </a:t>
            </a:r>
            <a:r>
              <a:rPr lang="en-IN" sz="2200" b="1">
                <a:solidFill>
                  <a:srgbClr val="C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IN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chlorine should be less compared to H</a:t>
            </a:r>
            <a:r>
              <a:rPr lang="en-IN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complex.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4661" y="5508713"/>
            <a:ext cx="106286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Oxidation state of the metal centre neutralize the ligand effect </a:t>
            </a:r>
          </a:p>
        </p:txBody>
      </p:sp>
    </p:spTree>
    <p:extLst>
      <p:ext uri="{BB962C8B-B14F-4D97-AF65-F5344CB8AC3E}">
        <p14:creationId xmlns:p14="http://schemas.microsoft.com/office/powerpoint/2010/main" val="330129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900" y="392429"/>
            <a:ext cx="1122843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>
                <a:solidFill>
                  <a:srgbClr val="C00000"/>
                </a:solidFill>
                <a:latin typeface="Arial"/>
                <a:cs typeface="Arial"/>
              </a:rPr>
              <a:t>(5) How many geometric isomers are possible for [</a:t>
            </a:r>
            <a:r>
              <a:rPr lang="en-IN" b="1" err="1">
                <a:solidFill>
                  <a:srgbClr val="C00000"/>
                </a:solidFill>
                <a:latin typeface="Arial"/>
                <a:cs typeface="Arial"/>
              </a:rPr>
              <a:t>Pd</a:t>
            </a:r>
            <a:r>
              <a:rPr lang="en-IN" b="1">
                <a:solidFill>
                  <a:srgbClr val="C00000"/>
                </a:solidFill>
                <a:latin typeface="Arial"/>
                <a:cs typeface="Arial"/>
              </a:rPr>
              <a:t>(NH</a:t>
            </a:r>
            <a:r>
              <a:rPr lang="en-IN" b="1" baseline="-2500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lang="en-IN" b="1">
                <a:solidFill>
                  <a:srgbClr val="C00000"/>
                </a:solidFill>
                <a:latin typeface="Arial"/>
                <a:cs typeface="Arial"/>
              </a:rPr>
              <a:t>)(NMe</a:t>
            </a:r>
            <a:r>
              <a:rPr lang="en-IN" b="1" baseline="-2500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lang="en-IN" b="1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lang="en-IN" b="1" err="1">
                <a:solidFill>
                  <a:srgbClr val="C00000"/>
                </a:solidFill>
                <a:latin typeface="Arial"/>
                <a:cs typeface="Arial"/>
              </a:rPr>
              <a:t>ClBr</a:t>
            </a:r>
            <a:r>
              <a:rPr lang="en-IN" b="1">
                <a:solidFill>
                  <a:srgbClr val="C00000"/>
                </a:solidFill>
                <a:latin typeface="Arial"/>
                <a:cs typeface="Arial"/>
              </a:rPr>
              <a:t>]?</a:t>
            </a:r>
            <a:r>
              <a:rPr lang="en-IN" b="1">
                <a:solidFill>
                  <a:srgbClr val="00B0F0"/>
                </a:solidFill>
                <a:latin typeface="Arial"/>
                <a:cs typeface="Arial"/>
              </a:rPr>
              <a:t> [why it has square planar geometry not tetrahedral, it will be discussed in the class] </a:t>
            </a:r>
            <a:r>
              <a:rPr lang="en-IN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</a:p>
          <a:p>
            <a:endParaRPr lang="en-IN"/>
          </a:p>
          <a:p>
            <a:r>
              <a:rPr lang="en-IN" dirty="0"/>
              <a:t>Ans:</a:t>
            </a:r>
            <a:endParaRPr lang="en-IN" dirty="0">
              <a:ea typeface="Calibri"/>
              <a:cs typeface="Calibri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847246"/>
              </p:ext>
            </p:extLst>
          </p:nvPr>
        </p:nvGraphicFramePr>
        <p:xfrm>
          <a:off x="2540048" y="1288248"/>
          <a:ext cx="56832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682467" imgH="1218801" progId="ChemDraw.Document.6.0">
                  <p:embed/>
                </p:oleObj>
              </mc:Choice>
              <mc:Fallback>
                <p:oleObj name="CS ChemDraw Drawing" r:id="rId2" imgW="5682467" imgH="1218801" progId="ChemDraw.Document.6.0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40048" y="1288248"/>
                        <a:ext cx="568325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1852" y="2652140"/>
            <a:ext cx="1119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(6) How do you expect (C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P, (C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 and (C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to behave as coordinating ligands?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852" y="3165831"/>
            <a:ext cx="112579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(C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P: Phosphorus is a group 15 element and it is trivalent in this compound, therefore it has  a lone pair of electrons on phosphorus. It can function as a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monodentate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ligand.   </a:t>
            </a:r>
          </a:p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)PO: However phosphorus has no lone pair but oxygen has lone pairs which may be used for donating to electron deficient species. Moreover the P-O bond is polar in nature. It is also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mondentate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ligand. Since the lone pairs are in the same atom, it has no scope to act as a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bidentate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ligand.  </a:t>
            </a:r>
          </a:p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(C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SO: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Sulfur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and oxygen both are group 16 elements. Therefore they have six electrons in their outer shell.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Sulfur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has one and oxygen has two lone pairs of electrons. Since the lone pairs are on different atoms the compound acts as an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ambidentate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ligand working either through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sulfur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or through oxygen. It prefers to bind Pt(II),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(II) through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sulfur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and Co(II), Ni(II),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Mn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(II), Zn(II) through oxygen.</a:t>
            </a:r>
          </a:p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0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7F888C-2E08-FD44-A708-E888B4D66599}"/>
              </a:ext>
            </a:extLst>
          </p:cNvPr>
          <p:cNvSpPr/>
          <p:nvPr/>
        </p:nvSpPr>
        <p:spPr>
          <a:xfrm>
            <a:off x="352262" y="68448"/>
            <a:ext cx="116682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Calculate the CFSE values for [NiCl</a:t>
            </a:r>
            <a:r>
              <a:rPr lang="en-US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[Mn(H</a:t>
            </a:r>
            <a:r>
              <a:rPr lang="en-US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O)</a:t>
            </a:r>
            <a:r>
              <a:rPr lang="en-US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[Co(NCS)</a:t>
            </a:r>
            <a:r>
              <a:rPr lang="en-US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4−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[Fe(CN)</a:t>
            </a:r>
            <a:r>
              <a:rPr lang="en-US" sz="2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4−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Explain why the CFSE for a low-spin d</a:t>
            </a:r>
            <a:r>
              <a:rPr lang="en-US" sz="20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contains a 2P term?  (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(previous year question)</a:t>
            </a:r>
            <a:endParaRPr 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5994A-18EA-E44C-AA1E-D8C5C7B0BD22}"/>
              </a:ext>
            </a:extLst>
          </p:cNvPr>
          <p:cNvSpPr txBox="1"/>
          <p:nvPr/>
        </p:nvSpPr>
        <p:spPr>
          <a:xfrm>
            <a:off x="2325946" y="3397316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75D50A-5702-4F41-9027-37248A69425C}"/>
              </a:ext>
            </a:extLst>
          </p:cNvPr>
          <p:cNvSpPr txBox="1"/>
          <p:nvPr/>
        </p:nvSpPr>
        <p:spPr>
          <a:xfrm>
            <a:off x="2188746" y="40061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20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D8CF7B-D5CA-C847-9F58-F700DD190F1C}"/>
              </a:ext>
            </a:extLst>
          </p:cNvPr>
          <p:cNvCxnSpPr>
            <a:cxnSpLocks/>
          </p:cNvCxnSpPr>
          <p:nvPr/>
        </p:nvCxnSpPr>
        <p:spPr>
          <a:xfrm flipH="1" flipV="1">
            <a:off x="9841748" y="3045122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497A99-3B7F-F542-9431-BF78029516D2}"/>
              </a:ext>
            </a:extLst>
          </p:cNvPr>
          <p:cNvCxnSpPr>
            <a:cxnSpLocks/>
          </p:cNvCxnSpPr>
          <p:nvPr/>
        </p:nvCxnSpPr>
        <p:spPr>
          <a:xfrm>
            <a:off x="1246585" y="4207776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30A31C-C9A2-F34A-BDE6-81822DEDE8E1}"/>
              </a:ext>
            </a:extLst>
          </p:cNvPr>
          <p:cNvCxnSpPr>
            <a:cxnSpLocks/>
          </p:cNvCxnSpPr>
          <p:nvPr/>
        </p:nvCxnSpPr>
        <p:spPr>
          <a:xfrm>
            <a:off x="1709573" y="4207775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1B9FD89-00C0-AA46-9286-9435CBB9A179}"/>
              </a:ext>
            </a:extLst>
          </p:cNvPr>
          <p:cNvCxnSpPr>
            <a:cxnSpLocks/>
          </p:cNvCxnSpPr>
          <p:nvPr/>
        </p:nvCxnSpPr>
        <p:spPr>
          <a:xfrm>
            <a:off x="1007481" y="3638285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D436DE-6F2A-D145-8AEC-E0DA4967E380}"/>
              </a:ext>
            </a:extLst>
          </p:cNvPr>
          <p:cNvCxnSpPr>
            <a:cxnSpLocks/>
          </p:cNvCxnSpPr>
          <p:nvPr/>
        </p:nvCxnSpPr>
        <p:spPr>
          <a:xfrm>
            <a:off x="1958749" y="3638284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DE776A-A456-AB40-9AAF-165F53A067AF}"/>
              </a:ext>
            </a:extLst>
          </p:cNvPr>
          <p:cNvCxnSpPr>
            <a:cxnSpLocks/>
          </p:cNvCxnSpPr>
          <p:nvPr/>
        </p:nvCxnSpPr>
        <p:spPr>
          <a:xfrm>
            <a:off x="1483115" y="3638285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33ACC1D-FFC3-4841-AA95-047EADEE9C03}"/>
              </a:ext>
            </a:extLst>
          </p:cNvPr>
          <p:cNvCxnSpPr>
            <a:cxnSpLocks/>
          </p:cNvCxnSpPr>
          <p:nvPr/>
        </p:nvCxnSpPr>
        <p:spPr>
          <a:xfrm flipH="1" flipV="1">
            <a:off x="1411690" y="3986156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A3835E-A6D4-174D-836B-878AF448A444}"/>
              </a:ext>
            </a:extLst>
          </p:cNvPr>
          <p:cNvCxnSpPr>
            <a:cxnSpLocks/>
          </p:cNvCxnSpPr>
          <p:nvPr/>
        </p:nvCxnSpPr>
        <p:spPr>
          <a:xfrm>
            <a:off x="1510445" y="3985761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E8E3DC-3B76-5D45-8B28-4E5338982651}"/>
              </a:ext>
            </a:extLst>
          </p:cNvPr>
          <p:cNvCxnSpPr>
            <a:cxnSpLocks/>
          </p:cNvCxnSpPr>
          <p:nvPr/>
        </p:nvCxnSpPr>
        <p:spPr>
          <a:xfrm flipH="1" flipV="1">
            <a:off x="1871226" y="3995334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C649FD-70C2-304F-A50F-04415716F082}"/>
              </a:ext>
            </a:extLst>
          </p:cNvPr>
          <p:cNvCxnSpPr>
            <a:cxnSpLocks/>
          </p:cNvCxnSpPr>
          <p:nvPr/>
        </p:nvCxnSpPr>
        <p:spPr>
          <a:xfrm>
            <a:off x="1969981" y="3994939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AB1D48-7EAC-954C-8492-48ADCD8C7349}"/>
              </a:ext>
            </a:extLst>
          </p:cNvPr>
          <p:cNvCxnSpPr>
            <a:cxnSpLocks/>
          </p:cNvCxnSpPr>
          <p:nvPr/>
        </p:nvCxnSpPr>
        <p:spPr>
          <a:xfrm flipH="1" flipV="1">
            <a:off x="1155335" y="3439128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D62C3A-B057-1F44-A039-BF39F5D346D2}"/>
              </a:ext>
            </a:extLst>
          </p:cNvPr>
          <p:cNvCxnSpPr>
            <a:cxnSpLocks/>
          </p:cNvCxnSpPr>
          <p:nvPr/>
        </p:nvCxnSpPr>
        <p:spPr>
          <a:xfrm>
            <a:off x="1254090" y="3438733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2D3C19B-9E98-CE46-AD61-7CB73762B747}"/>
              </a:ext>
            </a:extLst>
          </p:cNvPr>
          <p:cNvCxnSpPr>
            <a:cxnSpLocks/>
          </p:cNvCxnSpPr>
          <p:nvPr/>
        </p:nvCxnSpPr>
        <p:spPr>
          <a:xfrm flipH="1" flipV="1">
            <a:off x="1695553" y="3447068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B315CF5-A7C9-CC4A-8B2A-28CA29A1B6B1}"/>
              </a:ext>
            </a:extLst>
          </p:cNvPr>
          <p:cNvCxnSpPr>
            <a:cxnSpLocks/>
          </p:cNvCxnSpPr>
          <p:nvPr/>
        </p:nvCxnSpPr>
        <p:spPr>
          <a:xfrm flipH="1" flipV="1">
            <a:off x="2165296" y="3444516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5292575-B360-E546-9B0C-4DE4C18BB55A}"/>
              </a:ext>
            </a:extLst>
          </p:cNvPr>
          <p:cNvSpPr txBox="1"/>
          <p:nvPr/>
        </p:nvSpPr>
        <p:spPr>
          <a:xfrm>
            <a:off x="1216111" y="4395343"/>
            <a:ext cx="11352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[NiCl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F3CA911-1CA1-5F49-B77E-B64B5B5754E5}"/>
              </a:ext>
            </a:extLst>
          </p:cNvPr>
          <p:cNvCxnSpPr/>
          <p:nvPr/>
        </p:nvCxnSpPr>
        <p:spPr>
          <a:xfrm flipV="1">
            <a:off x="476157" y="3178013"/>
            <a:ext cx="0" cy="2123486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2CEAD42-4F78-0D45-9EC4-4CC96F51D4DD}"/>
              </a:ext>
            </a:extLst>
          </p:cNvPr>
          <p:cNvSpPr txBox="1"/>
          <p:nvPr/>
        </p:nvSpPr>
        <p:spPr>
          <a:xfrm rot="16200000">
            <a:off x="-689024" y="4161672"/>
            <a:ext cx="185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Orbital energy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1238EAF-4C8E-3143-8311-028F844F6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01" y="1028602"/>
            <a:ext cx="10455786" cy="171143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071F228-E2E1-084A-9766-830930F46102}"/>
              </a:ext>
            </a:extLst>
          </p:cNvPr>
          <p:cNvSpPr txBox="1"/>
          <p:nvPr/>
        </p:nvSpPr>
        <p:spPr>
          <a:xfrm>
            <a:off x="1600200" y="2660791"/>
            <a:ext cx="436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6775DE-0D51-9643-A8A1-BC31DDC52A7C}"/>
              </a:ext>
            </a:extLst>
          </p:cNvPr>
          <p:cNvSpPr txBox="1"/>
          <p:nvPr/>
        </p:nvSpPr>
        <p:spPr>
          <a:xfrm>
            <a:off x="4171950" y="2679841"/>
            <a:ext cx="436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F0C763-1651-F741-9B34-F2F4FF1FAC27}"/>
              </a:ext>
            </a:extLst>
          </p:cNvPr>
          <p:cNvSpPr txBox="1"/>
          <p:nvPr/>
        </p:nvSpPr>
        <p:spPr>
          <a:xfrm>
            <a:off x="6934200" y="2679841"/>
            <a:ext cx="436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CC19C8-7B4B-3044-BD5B-EFD517C0A768}"/>
              </a:ext>
            </a:extLst>
          </p:cNvPr>
          <p:cNvSpPr txBox="1"/>
          <p:nvPr/>
        </p:nvSpPr>
        <p:spPr>
          <a:xfrm>
            <a:off x="9582150" y="2698891"/>
            <a:ext cx="436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CC0646-E1CF-6C45-97A8-4778598D61EC}"/>
              </a:ext>
            </a:extLst>
          </p:cNvPr>
          <p:cNvSpPr txBox="1"/>
          <p:nvPr/>
        </p:nvSpPr>
        <p:spPr>
          <a:xfrm>
            <a:off x="608511" y="5159950"/>
            <a:ext cx="2926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CFSE = 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 × (−0.6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b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 + 4 × (0.4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b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= −0.8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b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0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628CDD-1816-3F43-BC4E-C46A1222AD57}"/>
              </a:ext>
            </a:extLst>
          </p:cNvPr>
          <p:cNvSpPr txBox="1"/>
          <p:nvPr/>
        </p:nvSpPr>
        <p:spPr>
          <a:xfrm>
            <a:off x="5012513" y="4254158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5DB8DE-2E0B-CB46-ADDD-97377E9239FA}"/>
              </a:ext>
            </a:extLst>
          </p:cNvPr>
          <p:cNvSpPr txBox="1"/>
          <p:nvPr/>
        </p:nvSpPr>
        <p:spPr>
          <a:xfrm>
            <a:off x="4755309" y="3259154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20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ADB006F-8216-0A4E-A482-2AA99B1B538B}"/>
              </a:ext>
            </a:extLst>
          </p:cNvPr>
          <p:cNvCxnSpPr>
            <a:cxnSpLocks/>
          </p:cNvCxnSpPr>
          <p:nvPr/>
        </p:nvCxnSpPr>
        <p:spPr>
          <a:xfrm>
            <a:off x="3924269" y="3509196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2C29D77-E0C8-D047-9449-6B07A692096B}"/>
              </a:ext>
            </a:extLst>
          </p:cNvPr>
          <p:cNvCxnSpPr>
            <a:cxnSpLocks/>
          </p:cNvCxnSpPr>
          <p:nvPr/>
        </p:nvCxnSpPr>
        <p:spPr>
          <a:xfrm>
            <a:off x="4387257" y="3509195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4E73368-1C32-FF41-8F85-92714351C189}"/>
              </a:ext>
            </a:extLst>
          </p:cNvPr>
          <p:cNvCxnSpPr>
            <a:cxnSpLocks/>
          </p:cNvCxnSpPr>
          <p:nvPr/>
        </p:nvCxnSpPr>
        <p:spPr>
          <a:xfrm>
            <a:off x="3694048" y="4495127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28A6B5E-D890-A04C-B492-71E84310D0E7}"/>
              </a:ext>
            </a:extLst>
          </p:cNvPr>
          <p:cNvCxnSpPr>
            <a:cxnSpLocks/>
          </p:cNvCxnSpPr>
          <p:nvPr/>
        </p:nvCxnSpPr>
        <p:spPr>
          <a:xfrm>
            <a:off x="4645316" y="4495126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63BA407-50B4-1E43-9AA6-A44D2AF8C936}"/>
              </a:ext>
            </a:extLst>
          </p:cNvPr>
          <p:cNvCxnSpPr>
            <a:cxnSpLocks/>
          </p:cNvCxnSpPr>
          <p:nvPr/>
        </p:nvCxnSpPr>
        <p:spPr>
          <a:xfrm>
            <a:off x="4169682" y="4495127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38D477-B2EF-6548-90B4-3061DFEE30D7}"/>
              </a:ext>
            </a:extLst>
          </p:cNvPr>
          <p:cNvCxnSpPr>
            <a:cxnSpLocks/>
          </p:cNvCxnSpPr>
          <p:nvPr/>
        </p:nvCxnSpPr>
        <p:spPr>
          <a:xfrm flipH="1" flipV="1">
            <a:off x="4141626" y="3287576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E5F6BE7-AA3E-1948-BCA4-7670DE98A194}"/>
              </a:ext>
            </a:extLst>
          </p:cNvPr>
          <p:cNvCxnSpPr>
            <a:cxnSpLocks/>
          </p:cNvCxnSpPr>
          <p:nvPr/>
        </p:nvCxnSpPr>
        <p:spPr>
          <a:xfrm flipH="1" flipV="1">
            <a:off x="4614225" y="3296754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B6B29B8-D073-DE43-8AB8-C7CB514C721A}"/>
              </a:ext>
            </a:extLst>
          </p:cNvPr>
          <p:cNvCxnSpPr>
            <a:cxnSpLocks/>
          </p:cNvCxnSpPr>
          <p:nvPr/>
        </p:nvCxnSpPr>
        <p:spPr>
          <a:xfrm flipH="1" flipV="1">
            <a:off x="3841902" y="4295970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4A8F7EA-F941-694F-93E3-23B2215D3395}"/>
              </a:ext>
            </a:extLst>
          </p:cNvPr>
          <p:cNvCxnSpPr>
            <a:cxnSpLocks/>
          </p:cNvCxnSpPr>
          <p:nvPr/>
        </p:nvCxnSpPr>
        <p:spPr>
          <a:xfrm flipH="1" flipV="1">
            <a:off x="4382120" y="4303910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0E0E98-9101-7A42-A193-D51E3C76ADC3}"/>
              </a:ext>
            </a:extLst>
          </p:cNvPr>
          <p:cNvCxnSpPr>
            <a:cxnSpLocks/>
          </p:cNvCxnSpPr>
          <p:nvPr/>
        </p:nvCxnSpPr>
        <p:spPr>
          <a:xfrm flipH="1" flipV="1">
            <a:off x="4851863" y="4301358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651BD0A-A9C7-BE4C-9720-C8887818750F}"/>
              </a:ext>
            </a:extLst>
          </p:cNvPr>
          <p:cNvCxnSpPr>
            <a:cxnSpLocks/>
          </p:cNvCxnSpPr>
          <p:nvPr/>
        </p:nvCxnSpPr>
        <p:spPr>
          <a:xfrm flipH="1" flipV="1">
            <a:off x="6636290" y="4555640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313B68A-4070-524E-BB0C-543008F38D5B}"/>
              </a:ext>
            </a:extLst>
          </p:cNvPr>
          <p:cNvCxnSpPr>
            <a:cxnSpLocks/>
          </p:cNvCxnSpPr>
          <p:nvPr/>
        </p:nvCxnSpPr>
        <p:spPr>
          <a:xfrm>
            <a:off x="6735045" y="4555245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7D78ACD-A441-4746-ABA0-686C9D4CF9B3}"/>
              </a:ext>
            </a:extLst>
          </p:cNvPr>
          <p:cNvSpPr txBox="1"/>
          <p:nvPr/>
        </p:nvSpPr>
        <p:spPr>
          <a:xfrm>
            <a:off x="7790553" y="4497997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2g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D78973-F622-424C-AFFB-E7E12CF6C83D}"/>
              </a:ext>
            </a:extLst>
          </p:cNvPr>
          <p:cNvSpPr txBox="1"/>
          <p:nvPr/>
        </p:nvSpPr>
        <p:spPr>
          <a:xfrm>
            <a:off x="7507223" y="3058853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20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DDFEAF-DB90-6D4A-9580-A3C00DC3570D}"/>
              </a:ext>
            </a:extLst>
          </p:cNvPr>
          <p:cNvCxnSpPr>
            <a:cxnSpLocks/>
          </p:cNvCxnSpPr>
          <p:nvPr/>
        </p:nvCxnSpPr>
        <p:spPr>
          <a:xfrm>
            <a:off x="6676183" y="3308895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8D9CEAA-6686-704B-AABB-618181D91FE1}"/>
              </a:ext>
            </a:extLst>
          </p:cNvPr>
          <p:cNvCxnSpPr>
            <a:cxnSpLocks/>
          </p:cNvCxnSpPr>
          <p:nvPr/>
        </p:nvCxnSpPr>
        <p:spPr>
          <a:xfrm>
            <a:off x="7139171" y="3308894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DBD8671-63D3-9B44-B22E-FFC344774DE0}"/>
              </a:ext>
            </a:extLst>
          </p:cNvPr>
          <p:cNvCxnSpPr>
            <a:cxnSpLocks/>
          </p:cNvCxnSpPr>
          <p:nvPr/>
        </p:nvCxnSpPr>
        <p:spPr>
          <a:xfrm>
            <a:off x="6472088" y="4738966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EBCFA26-6AD7-5C44-AE23-848F9D6A245A}"/>
              </a:ext>
            </a:extLst>
          </p:cNvPr>
          <p:cNvCxnSpPr>
            <a:cxnSpLocks/>
          </p:cNvCxnSpPr>
          <p:nvPr/>
        </p:nvCxnSpPr>
        <p:spPr>
          <a:xfrm>
            <a:off x="7423356" y="4738965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128F5B2-447D-5B43-AE5F-04072126E59C}"/>
              </a:ext>
            </a:extLst>
          </p:cNvPr>
          <p:cNvCxnSpPr>
            <a:cxnSpLocks/>
          </p:cNvCxnSpPr>
          <p:nvPr/>
        </p:nvCxnSpPr>
        <p:spPr>
          <a:xfrm>
            <a:off x="6947722" y="4738966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087EB28-7ADF-B24D-B011-FFA52CE5CC2C}"/>
              </a:ext>
            </a:extLst>
          </p:cNvPr>
          <p:cNvCxnSpPr>
            <a:cxnSpLocks/>
          </p:cNvCxnSpPr>
          <p:nvPr/>
        </p:nvCxnSpPr>
        <p:spPr>
          <a:xfrm flipH="1" flipV="1">
            <a:off x="7104213" y="4551915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1ABCECE-40B2-3242-A694-C6217B8C6A10}"/>
              </a:ext>
            </a:extLst>
          </p:cNvPr>
          <p:cNvCxnSpPr>
            <a:cxnSpLocks/>
          </p:cNvCxnSpPr>
          <p:nvPr/>
        </p:nvCxnSpPr>
        <p:spPr>
          <a:xfrm>
            <a:off x="7202968" y="4551520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7AB42F6-DD80-B445-9FEB-945D56F79089}"/>
              </a:ext>
            </a:extLst>
          </p:cNvPr>
          <p:cNvCxnSpPr>
            <a:cxnSpLocks/>
          </p:cNvCxnSpPr>
          <p:nvPr/>
        </p:nvCxnSpPr>
        <p:spPr>
          <a:xfrm flipH="1" flipV="1">
            <a:off x="7614236" y="4558341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FBDE9E9-9CB2-D642-A813-4BE59CF71BD3}"/>
              </a:ext>
            </a:extLst>
          </p:cNvPr>
          <p:cNvCxnSpPr>
            <a:cxnSpLocks/>
          </p:cNvCxnSpPr>
          <p:nvPr/>
        </p:nvCxnSpPr>
        <p:spPr>
          <a:xfrm>
            <a:off x="7712991" y="4557946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BBB7287-A3B3-0D44-9582-0D0A56979B13}"/>
              </a:ext>
            </a:extLst>
          </p:cNvPr>
          <p:cNvCxnSpPr>
            <a:cxnSpLocks/>
          </p:cNvCxnSpPr>
          <p:nvPr/>
        </p:nvCxnSpPr>
        <p:spPr>
          <a:xfrm flipH="1" flipV="1">
            <a:off x="9584148" y="4499032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C9A68C3-4E7F-C44F-B26E-793D41A3ADBE}"/>
              </a:ext>
            </a:extLst>
          </p:cNvPr>
          <p:cNvCxnSpPr>
            <a:cxnSpLocks/>
          </p:cNvCxnSpPr>
          <p:nvPr/>
        </p:nvCxnSpPr>
        <p:spPr>
          <a:xfrm>
            <a:off x="9682903" y="4498637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AABDC210-42E8-EC49-999B-39758D3D7931}"/>
              </a:ext>
            </a:extLst>
          </p:cNvPr>
          <p:cNvSpPr txBox="1"/>
          <p:nvPr/>
        </p:nvSpPr>
        <p:spPr>
          <a:xfrm>
            <a:off x="10738411" y="4441389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2g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D795E59-A9D4-B948-8511-D8A6CDF52966}"/>
              </a:ext>
            </a:extLst>
          </p:cNvPr>
          <p:cNvCxnSpPr>
            <a:cxnSpLocks/>
          </p:cNvCxnSpPr>
          <p:nvPr/>
        </p:nvCxnSpPr>
        <p:spPr>
          <a:xfrm>
            <a:off x="9624041" y="3252287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3A489A3-D403-FE4D-983A-EF67E095CC05}"/>
              </a:ext>
            </a:extLst>
          </p:cNvPr>
          <p:cNvCxnSpPr>
            <a:cxnSpLocks/>
          </p:cNvCxnSpPr>
          <p:nvPr/>
        </p:nvCxnSpPr>
        <p:spPr>
          <a:xfrm>
            <a:off x="10087029" y="3252286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3309604-E591-A44A-9B1D-3F481231B6C0}"/>
              </a:ext>
            </a:extLst>
          </p:cNvPr>
          <p:cNvCxnSpPr>
            <a:cxnSpLocks/>
          </p:cNvCxnSpPr>
          <p:nvPr/>
        </p:nvCxnSpPr>
        <p:spPr>
          <a:xfrm>
            <a:off x="9419946" y="4682358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BE9596-6A2D-4346-9D03-445B64361CC9}"/>
              </a:ext>
            </a:extLst>
          </p:cNvPr>
          <p:cNvCxnSpPr>
            <a:cxnSpLocks/>
          </p:cNvCxnSpPr>
          <p:nvPr/>
        </p:nvCxnSpPr>
        <p:spPr>
          <a:xfrm>
            <a:off x="10371214" y="4682357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641DE26-CCAB-5C42-8C45-1D9209BB2BB5}"/>
              </a:ext>
            </a:extLst>
          </p:cNvPr>
          <p:cNvCxnSpPr>
            <a:cxnSpLocks/>
          </p:cNvCxnSpPr>
          <p:nvPr/>
        </p:nvCxnSpPr>
        <p:spPr>
          <a:xfrm>
            <a:off x="9895580" y="4682358"/>
            <a:ext cx="418986" cy="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0BFA8A9-AFAF-9D4B-AE9E-663B11F0B19F}"/>
              </a:ext>
            </a:extLst>
          </p:cNvPr>
          <p:cNvCxnSpPr>
            <a:cxnSpLocks/>
          </p:cNvCxnSpPr>
          <p:nvPr/>
        </p:nvCxnSpPr>
        <p:spPr>
          <a:xfrm flipH="1" flipV="1">
            <a:off x="10052071" y="4495307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A082624-CF9E-8642-911E-DFE9EAE45D5C}"/>
              </a:ext>
            </a:extLst>
          </p:cNvPr>
          <p:cNvCxnSpPr>
            <a:cxnSpLocks/>
          </p:cNvCxnSpPr>
          <p:nvPr/>
        </p:nvCxnSpPr>
        <p:spPr>
          <a:xfrm>
            <a:off x="10150826" y="4494912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E528CEC-BCD4-7C40-90E2-57F88445AEC8}"/>
              </a:ext>
            </a:extLst>
          </p:cNvPr>
          <p:cNvCxnSpPr>
            <a:cxnSpLocks/>
          </p:cNvCxnSpPr>
          <p:nvPr/>
        </p:nvCxnSpPr>
        <p:spPr>
          <a:xfrm flipH="1" flipV="1">
            <a:off x="10562094" y="4501733"/>
            <a:ext cx="1" cy="384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4B283A4-D5D4-3241-8108-4D72A723ADCA}"/>
              </a:ext>
            </a:extLst>
          </p:cNvPr>
          <p:cNvCxnSpPr>
            <a:cxnSpLocks/>
          </p:cNvCxnSpPr>
          <p:nvPr/>
        </p:nvCxnSpPr>
        <p:spPr>
          <a:xfrm>
            <a:off x="10660849" y="4501338"/>
            <a:ext cx="0" cy="3851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A26049FD-8248-AC49-8DDF-2913B6C6EA91}"/>
              </a:ext>
            </a:extLst>
          </p:cNvPr>
          <p:cNvSpPr txBox="1"/>
          <p:nvPr/>
        </p:nvSpPr>
        <p:spPr>
          <a:xfrm>
            <a:off x="3605472" y="5244169"/>
            <a:ext cx="30673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CFSE = 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 × (−0.4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Δo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 + 2 × (0.6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Δo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sz="20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A6CFA08-1F57-FB4A-8954-1FE3D746F6C0}"/>
              </a:ext>
            </a:extLst>
          </p:cNvPr>
          <p:cNvSpPr/>
          <p:nvPr/>
        </p:nvSpPr>
        <p:spPr>
          <a:xfrm>
            <a:off x="3726262" y="4824893"/>
            <a:ext cx="1516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[Mn(H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O)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2F258CD-2781-7941-B716-FACDA014FA5C}"/>
              </a:ext>
            </a:extLst>
          </p:cNvPr>
          <p:cNvSpPr txBox="1"/>
          <p:nvPr/>
        </p:nvSpPr>
        <p:spPr>
          <a:xfrm>
            <a:off x="6553121" y="5357432"/>
            <a:ext cx="21213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CFSE = 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× (−0.4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Δo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 + 2P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= −2.4Δ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+ 2P</a:t>
            </a:r>
            <a:endParaRPr lang="en-US" sz="20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67A8785-FD51-3C40-8A37-1C25B3468367}"/>
              </a:ext>
            </a:extLst>
          </p:cNvPr>
          <p:cNvSpPr/>
          <p:nvPr/>
        </p:nvSpPr>
        <p:spPr>
          <a:xfrm>
            <a:off x="6551358" y="4927361"/>
            <a:ext cx="14350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[Fe(CN)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4−</a:t>
            </a:r>
            <a:endParaRPr lang="en-US" sz="200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B00A22B-57EC-E745-8470-349C3176F925}"/>
              </a:ext>
            </a:extLst>
          </p:cNvPr>
          <p:cNvSpPr/>
          <p:nvPr/>
        </p:nvSpPr>
        <p:spPr>
          <a:xfrm>
            <a:off x="9472679" y="4928558"/>
            <a:ext cx="1478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[Co(NCS)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4−</a:t>
            </a:r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EC3BB7A-A919-9B4F-BE68-3AC89189CFD6}"/>
              </a:ext>
            </a:extLst>
          </p:cNvPr>
          <p:cNvSpPr txBox="1"/>
          <p:nvPr/>
        </p:nvSpPr>
        <p:spPr>
          <a:xfrm>
            <a:off x="8815707" y="5339926"/>
            <a:ext cx="34777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CFSE = 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 × (−0.4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b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 + 1× (0.6 Δ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 + P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= −1.8Δ</a:t>
            </a:r>
            <a:r>
              <a:rPr lang="en-US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+ P</a:t>
            </a:r>
            <a:endParaRPr lang="en-US" sz="20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FC420A5-66F5-224C-AFD6-C035E7369CA6}"/>
              </a:ext>
            </a:extLst>
          </p:cNvPr>
          <p:cNvSpPr/>
          <p:nvPr/>
        </p:nvSpPr>
        <p:spPr>
          <a:xfrm>
            <a:off x="8959925" y="6418531"/>
            <a:ext cx="2254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CFSE = </a:t>
            </a:r>
            <a:r>
              <a:rPr lang="en-US" b="1" strike="sngStrike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−1.8Δ</a:t>
            </a:r>
            <a:r>
              <a:rPr lang="en-US" b="1" strike="sngStrike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1" strike="sngStrike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+ 2P 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FC420A5-66F5-224C-AFD6-C035E7369CA6}"/>
              </a:ext>
            </a:extLst>
          </p:cNvPr>
          <p:cNvSpPr/>
          <p:nvPr/>
        </p:nvSpPr>
        <p:spPr>
          <a:xfrm>
            <a:off x="6431053" y="6400869"/>
            <a:ext cx="2254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CFSE = </a:t>
            </a:r>
            <a:r>
              <a:rPr lang="en-US" b="1" strike="sngStrike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−2.4Δ</a:t>
            </a:r>
            <a:r>
              <a:rPr lang="en-US" b="1" strike="sngStrike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1" strike="sngStrike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+ 3P </a:t>
            </a:r>
          </a:p>
        </p:txBody>
      </p:sp>
    </p:spTree>
    <p:extLst>
      <p:ext uri="{BB962C8B-B14F-4D97-AF65-F5344CB8AC3E}">
        <p14:creationId xmlns:p14="http://schemas.microsoft.com/office/powerpoint/2010/main" val="98756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34" grpId="0"/>
      <p:bldP spid="37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79" grpId="0"/>
      <p:bldP spid="80" grpId="0"/>
      <p:bldP spid="97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88581" y="103421"/>
            <a:ext cx="1115410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8. Sketch the ionic radii curve for the first series of transition metal ions in M</a:t>
            </a:r>
            <a:r>
              <a:rPr lang="en-US" sz="2200" b="1" baseline="3000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2+ </a:t>
            </a:r>
            <a:r>
              <a:rPr lang="en-US" sz="2200" b="1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oxidation state. Consider an octahedral geometry and cyanides as ligand. What will be the lowest point if the metal has +3 oxidation state?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598DB4-6B19-7D41-BA33-DF7B7EBA0D31}"/>
              </a:ext>
            </a:extLst>
          </p:cNvPr>
          <p:cNvGrpSpPr/>
          <p:nvPr/>
        </p:nvGrpSpPr>
        <p:grpSpPr>
          <a:xfrm>
            <a:off x="3099973" y="1188733"/>
            <a:ext cx="5024891" cy="4193951"/>
            <a:chOff x="3099973" y="1050819"/>
            <a:chExt cx="5024891" cy="419395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B8846A3-C50B-F943-BE5F-2A34D881A16E}"/>
                </a:ext>
              </a:extLst>
            </p:cNvPr>
            <p:cNvGrpSpPr/>
            <p:nvPr/>
          </p:nvGrpSpPr>
          <p:grpSpPr>
            <a:xfrm>
              <a:off x="3372754" y="1050819"/>
              <a:ext cx="4752110" cy="4193951"/>
              <a:chOff x="1945007" y="1050819"/>
              <a:chExt cx="4752110" cy="4193951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51CA54C-CBD0-E84E-9664-9E5CD3B3FB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5007" y="1050819"/>
                <a:ext cx="4752110" cy="3673166"/>
              </a:xfrm>
              <a:prstGeom prst="rect">
                <a:avLst/>
              </a:prstGeom>
            </p:spPr>
          </p:pic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ACF7358-31B5-C347-BEF7-C0A1900F73A1}"/>
                  </a:ext>
                </a:extLst>
              </p:cNvPr>
              <p:cNvGrpSpPr/>
              <p:nvPr/>
            </p:nvGrpSpPr>
            <p:grpSpPr>
              <a:xfrm>
                <a:off x="2258557" y="4266746"/>
                <a:ext cx="3860345" cy="978024"/>
                <a:chOff x="4613137" y="4259367"/>
                <a:chExt cx="3860345" cy="978024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AFAE3D7-BD86-194F-9878-039EC15C59BD}"/>
                    </a:ext>
                  </a:extLst>
                </p:cNvPr>
                <p:cNvSpPr txBox="1"/>
                <p:nvPr/>
              </p:nvSpPr>
              <p:spPr>
                <a:xfrm>
                  <a:off x="4613137" y="4655647"/>
                  <a:ext cx="5357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C1E3A30-D18F-794D-A22C-F65B92B24E7F}"/>
                    </a:ext>
                  </a:extLst>
                </p:cNvPr>
                <p:cNvSpPr txBox="1"/>
                <p:nvPr/>
              </p:nvSpPr>
              <p:spPr>
                <a:xfrm>
                  <a:off x="5049031" y="4655647"/>
                  <a:ext cx="5060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Ti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51EAAEC-8F46-A043-8598-BE5189B12BF2}"/>
                    </a:ext>
                  </a:extLst>
                </p:cNvPr>
                <p:cNvSpPr txBox="1"/>
                <p:nvPr/>
              </p:nvSpPr>
              <p:spPr>
                <a:xfrm>
                  <a:off x="5491809" y="4654887"/>
                  <a:ext cx="47801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0BD752-DD8A-D746-916F-F37876AA18FF}"/>
                    </a:ext>
                  </a:extLst>
                </p:cNvPr>
                <p:cNvSpPr txBox="1"/>
                <p:nvPr/>
              </p:nvSpPr>
              <p:spPr>
                <a:xfrm>
                  <a:off x="5867526" y="4645509"/>
                  <a:ext cx="5357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Cr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8A2CB1E-D6EE-B94C-A9EB-29D7E2980073}"/>
                    </a:ext>
                  </a:extLst>
                </p:cNvPr>
                <p:cNvSpPr txBox="1"/>
                <p:nvPr/>
              </p:nvSpPr>
              <p:spPr>
                <a:xfrm>
                  <a:off x="6675642" y="4653488"/>
                  <a:ext cx="5357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8458432-5873-FA47-82CF-2D6B61603280}"/>
                    </a:ext>
                  </a:extLst>
                </p:cNvPr>
                <p:cNvSpPr txBox="1"/>
                <p:nvPr/>
              </p:nvSpPr>
              <p:spPr>
                <a:xfrm>
                  <a:off x="6242217" y="4645509"/>
                  <a:ext cx="61587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Mn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E927718-B7B2-D340-92AA-D2A842EDC900}"/>
                    </a:ext>
                  </a:extLst>
                </p:cNvPr>
                <p:cNvSpPr txBox="1"/>
                <p:nvPr/>
              </p:nvSpPr>
              <p:spPr>
                <a:xfrm>
                  <a:off x="7080692" y="4661467"/>
                  <a:ext cx="5693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4B075EB-EBB5-C741-AB2E-56BF5DF83A49}"/>
                    </a:ext>
                  </a:extLst>
                </p:cNvPr>
                <p:cNvSpPr txBox="1"/>
                <p:nvPr/>
              </p:nvSpPr>
              <p:spPr>
                <a:xfrm>
                  <a:off x="7475729" y="4653488"/>
                  <a:ext cx="5357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Ni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9F0A10-F095-104C-9C64-C0BD517BFD90}"/>
                    </a:ext>
                  </a:extLst>
                </p:cNvPr>
                <p:cNvSpPr txBox="1"/>
                <p:nvPr/>
              </p:nvSpPr>
              <p:spPr>
                <a:xfrm>
                  <a:off x="7904095" y="4653488"/>
                  <a:ext cx="5693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</a:t>
                  </a:r>
                  <a:r>
                    <a:rPr lang="en-US" sz="1600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2+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42CB465-2623-D341-B44A-944CD4149D0C}"/>
                    </a:ext>
                  </a:extLst>
                </p:cNvPr>
                <p:cNvSpPr txBox="1"/>
                <p:nvPr/>
              </p:nvSpPr>
              <p:spPr>
                <a:xfrm>
                  <a:off x="6085956" y="4868059"/>
                  <a:ext cx="14518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metal ions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9893B30-F8C5-8B44-B374-BCE15EE2303F}"/>
                    </a:ext>
                  </a:extLst>
                </p:cNvPr>
                <p:cNvSpPr txBox="1"/>
                <p:nvPr/>
              </p:nvSpPr>
              <p:spPr>
                <a:xfrm>
                  <a:off x="4748766" y="4261526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0F7E569-12CA-C844-BC4B-A488A3BA4DE4}"/>
                    </a:ext>
                  </a:extLst>
                </p:cNvPr>
                <p:cNvSpPr txBox="1"/>
                <p:nvPr/>
              </p:nvSpPr>
              <p:spPr>
                <a:xfrm>
                  <a:off x="5136911" y="4261526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FE0D00A-BF7F-5C45-8A6B-3C1C70E96D57}"/>
                    </a:ext>
                  </a:extLst>
                </p:cNvPr>
                <p:cNvSpPr txBox="1"/>
                <p:nvPr/>
              </p:nvSpPr>
              <p:spPr>
                <a:xfrm>
                  <a:off x="5525056" y="4261436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986E0E3-580B-5748-8DFD-FA10B7D0A8FE}"/>
                    </a:ext>
                  </a:extLst>
                </p:cNvPr>
                <p:cNvSpPr txBox="1"/>
                <p:nvPr/>
              </p:nvSpPr>
              <p:spPr>
                <a:xfrm>
                  <a:off x="5946500" y="4275417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F1A9BD9-D6FD-2641-850D-E560B3B9BC5A}"/>
                    </a:ext>
                  </a:extLst>
                </p:cNvPr>
                <p:cNvSpPr txBox="1"/>
                <p:nvPr/>
              </p:nvSpPr>
              <p:spPr>
                <a:xfrm>
                  <a:off x="6334555" y="4261436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026C741-06B8-0F43-9241-E102239EDE54}"/>
                    </a:ext>
                  </a:extLst>
                </p:cNvPr>
                <p:cNvSpPr txBox="1"/>
                <p:nvPr/>
              </p:nvSpPr>
              <p:spPr>
                <a:xfrm>
                  <a:off x="6739077" y="4275417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F2CC0F0-F54E-0F4B-B6A0-8B8B1B6B0515}"/>
                    </a:ext>
                  </a:extLst>
                </p:cNvPr>
                <p:cNvSpPr txBox="1"/>
                <p:nvPr/>
              </p:nvSpPr>
              <p:spPr>
                <a:xfrm>
                  <a:off x="7123503" y="4261436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61E6E5-FA15-714B-B573-D3D5C9A7AB82}"/>
                    </a:ext>
                  </a:extLst>
                </p:cNvPr>
                <p:cNvSpPr txBox="1"/>
                <p:nvPr/>
              </p:nvSpPr>
              <p:spPr>
                <a:xfrm>
                  <a:off x="7522828" y="4259367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F35687-86AB-6347-9407-D97878F13554}"/>
                    </a:ext>
                  </a:extLst>
                </p:cNvPr>
                <p:cNvSpPr txBox="1"/>
                <p:nvPr/>
              </p:nvSpPr>
              <p:spPr>
                <a:xfrm>
                  <a:off x="7946830" y="4261333"/>
                  <a:ext cx="385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aseline="30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</a:t>
                  </a:r>
                </a:p>
              </p:txBody>
            </p: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A5356E0-21EB-144B-8697-B45723287BD8}"/>
                </a:ext>
              </a:extLst>
            </p:cNvPr>
            <p:cNvSpPr txBox="1"/>
            <p:nvPr/>
          </p:nvSpPr>
          <p:spPr>
            <a:xfrm rot="16200000">
              <a:off x="2714611" y="2702736"/>
              <a:ext cx="1140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Ionic radii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09981" y="5547021"/>
            <a:ext cx="2472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aseline="30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part: Co</a:t>
            </a:r>
            <a:r>
              <a:rPr lang="en-US" sz="2400" baseline="30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 sz="2400" baseline="-25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d</a:t>
            </a:r>
            <a:r>
              <a:rPr lang="en-US" sz="2400" baseline="30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2400" baseline="300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2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825" y="243552"/>
            <a:ext cx="11838039" cy="12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(9) The magnetic moment of [CoL</a:t>
            </a:r>
            <a:r>
              <a:rPr lang="en-US" sz="2400" b="1" baseline="-2500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]SO</a:t>
            </a:r>
            <a:r>
              <a:rPr lang="en-US" sz="2400" b="1" baseline="-2500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3.8 BM. Choose correct ligands from water, cyanide, chloride and ammonia, and draw the crystal-field splitting diagram. (previous year questions)</a:t>
            </a:r>
            <a:endParaRPr lang="en-IN" sz="240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15462" y="1759974"/>
                <a:ext cx="10638692" cy="1791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2000" i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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eff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+2)</m:t>
                        </m:r>
                      </m:e>
                    </m:rad>
                  </m:oMath>
                </a14:m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= 3.8 BM</a:t>
                </a:r>
                <a:endParaRPr lang="en-IN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i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3, indicates a high-spin Co(II) complex.</a:t>
                </a:r>
                <a:endParaRPr lang="en-IN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Among the ligands Cl</a:t>
                </a:r>
                <a:r>
                  <a:rPr lang="en-US" sz="2000" baseline="30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CN</a:t>
                </a:r>
                <a:r>
                  <a:rPr lang="en-US" sz="2000" baseline="30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H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O, and NH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H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 and Cl</a:t>
                </a:r>
                <a:r>
                  <a:rPr lang="en-US" sz="2000" baseline="30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are the weak ligands, any of them can make high-spin complex. To balance charge of the complex, the right complex will be [Co(H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O)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]SO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which is expected to show </a:t>
                </a:r>
                <a:r>
                  <a:rPr lang="en-US" sz="2000" i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</a:t>
                </a:r>
                <a:r>
                  <a:rPr lang="en-US" sz="2000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eff</a:t>
                </a:r>
                <a:r>
                  <a:rPr lang="en-US" sz="2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3.8 BM.</a:t>
                </a:r>
                <a:endParaRPr lang="en-IN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62" y="1759974"/>
                <a:ext cx="10638692" cy="1791196"/>
              </a:xfrm>
              <a:prstGeom prst="rect">
                <a:avLst/>
              </a:prstGeom>
              <a:blipFill>
                <a:blip r:embed="rId2"/>
                <a:stretch>
                  <a:fillRect r="-573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495799" y="4037575"/>
            <a:ext cx="2337619" cy="201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4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185" y="241674"/>
            <a:ext cx="11410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>
                <a:solidFill>
                  <a:srgbClr val="C00000"/>
                </a:solidFill>
                <a:latin typeface="TimesNewRomanPSMT" charset="0"/>
              </a:rPr>
              <a:t>10. At room temperature, the observed value of 𝜇</a:t>
            </a:r>
            <a:r>
              <a:rPr lang="en-US" b="1" baseline="-25000">
                <a:solidFill>
                  <a:srgbClr val="C00000"/>
                </a:solidFill>
                <a:latin typeface="TimesNewRomanPSMT" charset="0"/>
              </a:rPr>
              <a:t>eff</a:t>
            </a:r>
            <a:r>
              <a:rPr lang="en-US" b="1">
                <a:solidFill>
                  <a:srgbClr val="C00000"/>
                </a:solidFill>
                <a:latin typeface="TimesNewRomanPSMT" charset="0"/>
              </a:rPr>
              <a:t> for [Cr(CH</a:t>
            </a:r>
            <a:r>
              <a:rPr lang="en-US" b="1" baseline="-25000">
                <a:solidFill>
                  <a:srgbClr val="C00000"/>
                </a:solidFill>
                <a:latin typeface="TimesNewRomanPSMT" charset="0"/>
              </a:rPr>
              <a:t>3</a:t>
            </a:r>
            <a:r>
              <a:rPr lang="en-US" b="1">
                <a:solidFill>
                  <a:srgbClr val="C00000"/>
                </a:solidFill>
                <a:latin typeface="TimesNewRomanPSMT" charset="0"/>
              </a:rPr>
              <a:t>OCH</a:t>
            </a:r>
            <a:r>
              <a:rPr lang="en-US" b="1" baseline="-25000">
                <a:solidFill>
                  <a:srgbClr val="C00000"/>
                </a:solidFill>
                <a:latin typeface="TimesNewRomanPSMT" charset="0"/>
              </a:rPr>
              <a:t>2</a:t>
            </a:r>
            <a:r>
              <a:rPr lang="en-US" b="1">
                <a:solidFill>
                  <a:srgbClr val="C00000"/>
                </a:solidFill>
                <a:latin typeface="TimesNewRomanPSMT" charset="0"/>
              </a:rPr>
              <a:t>CH</a:t>
            </a:r>
            <a:r>
              <a:rPr lang="en-US" b="1" baseline="-25000">
                <a:solidFill>
                  <a:srgbClr val="C00000"/>
                </a:solidFill>
                <a:latin typeface="TimesNewRomanPSMT" charset="0"/>
              </a:rPr>
              <a:t>2</a:t>
            </a:r>
            <a:r>
              <a:rPr lang="en-US" b="1">
                <a:solidFill>
                  <a:srgbClr val="C00000"/>
                </a:solidFill>
                <a:latin typeface="TimesNewRomanPSMT" charset="0"/>
              </a:rPr>
              <a:t>OCH</a:t>
            </a:r>
            <a:r>
              <a:rPr lang="en-US" b="1" baseline="-25000">
                <a:solidFill>
                  <a:srgbClr val="C00000"/>
                </a:solidFill>
                <a:latin typeface="TimesNewRomanPSMT" charset="0"/>
              </a:rPr>
              <a:t>3</a:t>
            </a:r>
            <a:r>
              <a:rPr lang="en-US" b="1">
                <a:solidFill>
                  <a:srgbClr val="C00000"/>
                </a:solidFill>
                <a:latin typeface="TimesNewRomanPSMT" charset="0"/>
              </a:rPr>
              <a:t>)</a:t>
            </a:r>
            <a:r>
              <a:rPr lang="en-US" b="1" baseline="-25000">
                <a:solidFill>
                  <a:srgbClr val="C00000"/>
                </a:solidFill>
                <a:latin typeface="TimesNewRomanPSMT" charset="0"/>
              </a:rPr>
              <a:t>3</a:t>
            </a:r>
            <a:r>
              <a:rPr lang="en-US" b="1">
                <a:solidFill>
                  <a:srgbClr val="C00000"/>
                </a:solidFill>
                <a:latin typeface="TimesNewRomanPSMT" charset="0"/>
              </a:rPr>
              <a:t>]Br</a:t>
            </a:r>
            <a:r>
              <a:rPr lang="en-US" b="1" baseline="-25000">
                <a:solidFill>
                  <a:srgbClr val="C00000"/>
                </a:solidFill>
                <a:latin typeface="TimesNewRomanPSMT" charset="0"/>
              </a:rPr>
              <a:t>2</a:t>
            </a:r>
            <a:r>
              <a:rPr lang="en-US" b="1">
                <a:solidFill>
                  <a:srgbClr val="C00000"/>
                </a:solidFill>
                <a:latin typeface="TimesNewRomanPSMT" charset="0"/>
              </a:rPr>
              <a:t> is 4.75 𝜇B. Is the complex high-spin or low spin? </a:t>
            </a:r>
            <a:endParaRPr lang="en-US" b="1">
              <a:solidFill>
                <a:srgbClr val="C00000"/>
              </a:solidFill>
              <a:effectLst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B1C0D7-2067-BC46-9563-971728C7532B}"/>
              </a:ext>
            </a:extLst>
          </p:cNvPr>
          <p:cNvGrpSpPr/>
          <p:nvPr/>
        </p:nvGrpSpPr>
        <p:grpSpPr>
          <a:xfrm>
            <a:off x="289572" y="1202169"/>
            <a:ext cx="10649076" cy="2475486"/>
            <a:chOff x="258418" y="3584685"/>
            <a:chExt cx="10649076" cy="2475486"/>
          </a:xfrm>
        </p:grpSpPr>
        <p:sp>
          <p:nvSpPr>
            <p:cNvPr id="5" name="Rectangle 4"/>
            <p:cNvSpPr/>
            <p:nvPr/>
          </p:nvSpPr>
          <p:spPr>
            <a:xfrm>
              <a:off x="342900" y="3927279"/>
              <a:ext cx="24878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</a:p>
            <a:p>
              <a:r>
                <a:rPr lang="en-US" sz="200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258418" y="3584685"/>
                  <a:ext cx="10649076" cy="21338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buFont typeface="Wingdings" panose="05000000000000000000" pitchFamily="2" charset="2"/>
                    <a:buChar char="Ø"/>
                  </a:pPr>
                  <a:r>
                    <a:rPr lang="en-US" sz="2000">
                      <a:latin typeface="TimesNewRomanPSMT" charset="0"/>
                    </a:rPr>
                    <a:t>[Cr(DME)</a:t>
                  </a:r>
                  <a:r>
                    <a:rPr lang="en-US" sz="2000" baseline="-25000">
                      <a:latin typeface="TimesNewRomanPSMT" charset="0"/>
                    </a:rPr>
                    <a:t>3</a:t>
                  </a:r>
                  <a:r>
                    <a:rPr lang="en-US" sz="2000">
                      <a:latin typeface="TimesNewRomanPSMT" charset="0"/>
                    </a:rPr>
                    <a:t>]Br</a:t>
                  </a:r>
                  <a:r>
                    <a:rPr lang="en-US" sz="2000" baseline="-25000">
                      <a:latin typeface="TimesNewRomanPSMT" charset="0"/>
                    </a:rPr>
                    <a:t>2</a:t>
                  </a:r>
                  <a:r>
                    <a:rPr lang="en-US" sz="2000">
                      <a:latin typeface="TimesNewRomanPSMT" charset="0"/>
                    </a:rPr>
                    <a:t> contains the octahedral [Cr(DME)</a:t>
                  </a:r>
                  <a:r>
                    <a:rPr lang="en-US" sz="2000" baseline="-25000">
                      <a:latin typeface="TimesNewRomanPSMT" charset="0"/>
                    </a:rPr>
                    <a:t>3</a:t>
                  </a:r>
                  <a:r>
                    <a:rPr lang="en-US" sz="2000">
                      <a:latin typeface="TimesNewRomanPSMT" charset="0"/>
                    </a:rPr>
                    <a:t>]</a:t>
                  </a:r>
                  <a:r>
                    <a:rPr lang="en-US" sz="2000" baseline="30000">
                      <a:latin typeface="TimesNewRomanPSMT" charset="0"/>
                    </a:rPr>
                    <a:t>2+</a:t>
                  </a:r>
                  <a:r>
                    <a:rPr lang="en-US" sz="2000">
                      <a:latin typeface="TimesNewRomanPSMT" charset="0"/>
                    </a:rPr>
                    <a:t> ion, which is a </a:t>
                  </a:r>
                  <a:r>
                    <a:rPr lang="en-US" sz="2000" i="1">
                      <a:latin typeface="TimesNewRomanPSMT" charset="0"/>
                    </a:rPr>
                    <a:t>d</a:t>
                  </a:r>
                  <a:r>
                    <a:rPr lang="en-US" sz="2000" baseline="30000">
                      <a:latin typeface="TimesNewRomanPSMT" charset="0"/>
                    </a:rPr>
                    <a:t>4</a:t>
                  </a:r>
                  <a:r>
                    <a:rPr lang="en-US" sz="2000">
                      <a:latin typeface="TimesNewRomanPSMT" charset="0"/>
                    </a:rPr>
                    <a:t> system. Low-spin complex will have two unpaired electron (n = 2), and high-spin will have four (n = 4). Assuming that spin-only formula is valid for the complex:</a:t>
                  </a:r>
                </a:p>
                <a:p>
                  <a:pPr marL="342900" indent="-342900" algn="ctr">
                    <a:buFont typeface="Wingdings" panose="05000000000000000000" pitchFamily="2" charset="2"/>
                    <a:buChar char="Ø"/>
                  </a:pPr>
                  <a:r>
                    <a:rPr lang="en-US" sz="2000" i="1" err="1">
                      <a:latin typeface="Times New Roman" charset="0"/>
                      <a:ea typeface="Times New Roman" charset="0"/>
                      <a:cs typeface="Times New Roman" charset="0"/>
                    </a:rPr>
                    <a:t>μ</a:t>
                  </a:r>
                  <a:r>
                    <a:rPr lang="en-US" sz="2000" baseline="-25000" err="1">
                      <a:latin typeface="Times New Roman" charset="0"/>
                      <a:ea typeface="Times New Roman" charset="0"/>
                      <a:cs typeface="Times New Roman" charset="0"/>
                    </a:rPr>
                    <a:t>spin</a:t>
                  </a:r>
                  <a:r>
                    <a:rPr lang="en-US" sz="2000" baseline="-25000">
                      <a:latin typeface="Times New Roman" charset="0"/>
                      <a:ea typeface="Times New Roman" charset="0"/>
                      <a:cs typeface="Times New Roman" charset="0"/>
                    </a:rPr>
                    <a:t>-only</a:t>
                  </a:r>
                  <a:r>
                    <a:rPr lang="en-US" sz="2000" i="1">
                      <a:latin typeface="Times New Roman" charset="0"/>
                      <a:ea typeface="Times New Roman" charset="0"/>
                      <a:cs typeface="Times New Roman" charset="0"/>
                    </a:rPr>
                    <a:t> =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charset="0"/>
                              <a:cs typeface="Times New Roman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n</m:t>
                          </m:r>
                          <m:r>
                            <a:rPr lang="en-US" sz="2000" b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US" sz="2000" b="0" i="1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n</m:t>
                          </m:r>
                          <m:r>
                            <a:rPr lang="en-US" sz="2000" b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2000" b="0" i="1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2</m:t>
                          </m:r>
                          <m:r>
                            <a:rPr lang="en-US" sz="2000" b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)</m:t>
                          </m:r>
                        </m:e>
                      </m:rad>
                    </m:oMath>
                  </a14:m>
                  <a:endParaRPr lang="en-US" sz="2000">
                    <a:latin typeface="TimesNewRomanPSMT" charset="0"/>
                  </a:endParaRPr>
                </a:p>
                <a:p>
                  <a:r>
                    <a:rPr lang="en-US" sz="2000">
                      <a:latin typeface="TimesNewRomanPSMT" charset="0"/>
                    </a:rPr>
                    <a:t>               If the complex is high-spin, then </a:t>
                  </a:r>
                  <a:r>
                    <a:rPr lang="en-US" sz="2000" i="1" err="1">
                      <a:latin typeface="Times New Roman" charset="0"/>
                      <a:ea typeface="Times New Roman" charset="0"/>
                      <a:cs typeface="Times New Roman" charset="0"/>
                    </a:rPr>
                    <a:t>μ</a:t>
                  </a:r>
                  <a:r>
                    <a:rPr lang="en-US" sz="2000" baseline="-25000" err="1">
                      <a:latin typeface="Times New Roman" charset="0"/>
                      <a:ea typeface="Times New Roman" charset="0"/>
                      <a:cs typeface="Times New Roman" charset="0"/>
                    </a:rPr>
                    <a:t>spin</a:t>
                  </a:r>
                  <a:r>
                    <a:rPr lang="en-US" sz="2000" baseline="-25000">
                      <a:latin typeface="Times New Roman" charset="0"/>
                      <a:ea typeface="Times New Roman" charset="0"/>
                      <a:cs typeface="Times New Roman" charset="0"/>
                    </a:rPr>
                    <a:t>-only</a:t>
                  </a:r>
                  <a:r>
                    <a:rPr lang="en-US" sz="2000" i="1">
                      <a:latin typeface="Times New Roman" charset="0"/>
                      <a:ea typeface="Times New Roman" charset="0"/>
                      <a:cs typeface="Times New Roman" charset="0"/>
                    </a:rPr>
                    <a:t> =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charset="0"/>
                              <a:cs typeface="Times New Roman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4</m:t>
                          </m:r>
                          <m:r>
                            <a:rPr lang="en-US" sz="2000" b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 (</m:t>
                          </m:r>
                          <m:r>
                            <a:rPr lang="en-US" sz="2000" b="0" i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4</m:t>
                          </m:r>
                          <m:r>
                            <a:rPr lang="en-US" sz="2000" b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2000" b="0" i="1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2</m:t>
                          </m:r>
                          <m:r>
                            <a:rPr lang="en-US" sz="2000" b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)</m:t>
                          </m:r>
                        </m:e>
                      </m:rad>
                    </m:oMath>
                  </a14:m>
                  <a:r>
                    <a:rPr lang="en-US" sz="2000">
                      <a:latin typeface="TimesNewRomanPSMT" charset="0"/>
                    </a:rPr>
                    <a:t> = 4.90 𝜇</a:t>
                  </a:r>
                  <a:r>
                    <a:rPr lang="en-US" sz="2000" baseline="-25000">
                      <a:latin typeface="TimesNewRomanPSMT" charset="0"/>
                    </a:rPr>
                    <a:t>B</a:t>
                  </a:r>
                  <a:endParaRPr lang="en-US" sz="2000">
                    <a:latin typeface="TimesNewRomanPSMT" charset="0"/>
                  </a:endParaRPr>
                </a:p>
                <a:p>
                  <a:r>
                    <a:rPr lang="en-US" sz="2000">
                      <a:latin typeface="TimesNewRomanPSMT" charset="0"/>
                    </a:rPr>
                    <a:t>               If the complex is low-spin, then </a:t>
                  </a:r>
                  <a:r>
                    <a:rPr lang="en-US" sz="2000" i="1" err="1">
                      <a:latin typeface="Times New Roman" charset="0"/>
                      <a:ea typeface="Times New Roman" charset="0"/>
                      <a:cs typeface="Times New Roman" charset="0"/>
                    </a:rPr>
                    <a:t>μ</a:t>
                  </a:r>
                  <a:r>
                    <a:rPr lang="en-US" sz="2000" baseline="-25000" err="1">
                      <a:latin typeface="Times New Roman" charset="0"/>
                      <a:ea typeface="Times New Roman" charset="0"/>
                      <a:cs typeface="Times New Roman" charset="0"/>
                    </a:rPr>
                    <a:t>spin</a:t>
                  </a:r>
                  <a:r>
                    <a:rPr lang="en-US" sz="2000" baseline="-25000">
                      <a:latin typeface="Times New Roman" charset="0"/>
                      <a:ea typeface="Times New Roman" charset="0"/>
                      <a:cs typeface="Times New Roman" charset="0"/>
                    </a:rPr>
                    <a:t>-only</a:t>
                  </a:r>
                  <a:r>
                    <a:rPr lang="en-US" sz="2000" i="1">
                      <a:latin typeface="Times New Roman" charset="0"/>
                      <a:ea typeface="Times New Roman" charset="0"/>
                      <a:cs typeface="Times New Roman" charset="0"/>
                    </a:rPr>
                    <a:t> =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charset="0"/>
                              <a:cs typeface="Times New Roman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2</m:t>
                          </m:r>
                          <m:r>
                            <a:rPr lang="en-US" sz="2000" b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 (</m:t>
                          </m:r>
                          <m:r>
                            <a:rPr lang="en-US" sz="2000" b="0" i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2</m:t>
                          </m:r>
                          <m:r>
                            <a:rPr lang="en-US" sz="2000" b="0" smtClean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2000" b="0" i="1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2</m:t>
                          </m:r>
                          <m:r>
                            <a:rPr lang="en-US" sz="2000" b="0"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m:t>)</m:t>
                          </m:r>
                        </m:e>
                      </m:rad>
                    </m:oMath>
                  </a14:m>
                  <a:r>
                    <a:rPr lang="en-US" sz="2000">
                      <a:latin typeface="TimesNewRomanPSMT" charset="0"/>
                    </a:rPr>
                    <a:t> = 2.83 𝜇</a:t>
                  </a:r>
                  <a:r>
                    <a:rPr lang="en-US" sz="2000" baseline="-25000">
                      <a:latin typeface="TimesNewRomanPSMT" charset="0"/>
                    </a:rPr>
                    <a:t>B</a:t>
                  </a:r>
                  <a:endParaRPr lang="en-US" sz="2000">
                    <a:latin typeface="TimesNewRomanPSMT" charset="0"/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418" y="3584685"/>
                  <a:ext cx="10649076" cy="2133854"/>
                </a:xfrm>
                <a:prstGeom prst="rect">
                  <a:avLst/>
                </a:prstGeom>
                <a:blipFill>
                  <a:blip r:embed="rId2"/>
                  <a:stretch>
                    <a:fillRect l="-515" t="-1429" r="-630" b="-3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522076" y="5660061"/>
              <a:ext cx="39100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latin typeface="Times New Roman" charset="0"/>
                  <a:ea typeface="Times New Roman" charset="0"/>
                  <a:cs typeface="Times New Roman" charset="0"/>
                </a:rPr>
                <a:t>Therefore, the complex is high-spin.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51185" y="3912439"/>
            <a:ext cx="116152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An aqueous solution of Co(III) </a:t>
            </a:r>
            <a:r>
              <a:rPr lang="en-US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sulphate</a:t>
            </a:r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diamagnetic but becomes paramagnetic when a large excess of fluoride is added. Explain. 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185" y="4965367"/>
            <a:ext cx="114865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Co(III) sulfate in water is present as [Co(H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O)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Addition of excess fluoride ion in solution results in the formation of [CoF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which is high-spin. Thus, the later complex is paramagnetic.  </a:t>
            </a:r>
          </a:p>
        </p:txBody>
      </p:sp>
    </p:spTree>
    <p:extLst>
      <p:ext uri="{BB962C8B-B14F-4D97-AF65-F5344CB8AC3E}">
        <p14:creationId xmlns:p14="http://schemas.microsoft.com/office/powerpoint/2010/main" val="15655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ED97D2-822F-40A7-8C26-5E9EFC408B6B}"/>
              </a:ext>
            </a:extLst>
          </p:cNvPr>
          <p:cNvSpPr/>
          <p:nvPr/>
        </p:nvSpPr>
        <p:spPr>
          <a:xfrm>
            <a:off x="360218" y="153589"/>
            <a:ext cx="11582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Solutions of [Cr(OH</a:t>
            </a:r>
            <a:r>
              <a:rPr lang="en-US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2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ions are pale blue green but the chromate ion, CrO</a:t>
            </a:r>
            <a:r>
              <a:rPr lang="en-US" sz="2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b="1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2–</a:t>
            </a:r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is an intense yellow. Characterize the origins of the transitions and explain the relative intensities.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F6861-2C54-4E08-8E04-291923B49716}"/>
              </a:ext>
            </a:extLst>
          </p:cNvPr>
          <p:cNvSpPr txBox="1"/>
          <p:nvPr/>
        </p:nvSpPr>
        <p:spPr>
          <a:xfrm>
            <a:off x="360218" y="1203557"/>
            <a:ext cx="11582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Green color of the solution of [Cr(OH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2g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appears because of spin-allowed and Laporte forbidden </a:t>
            </a:r>
            <a:r>
              <a:rPr lang="en-US" sz="20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000" i="1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transition. The color intensity of the solution is weak.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CrO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2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(d</a:t>
            </a:r>
            <a:r>
              <a:rPr lang="en-US" sz="20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shows intense yellow color because of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oxygen-to-chromium(VI) charge-transfer transitions. Such transitions are Laporte ad spin-allowed, thus very intense and exhibits very high molar extinction coefficient values.  </a:t>
            </a:r>
          </a:p>
        </p:txBody>
      </p:sp>
    </p:spTree>
    <p:extLst>
      <p:ext uri="{BB962C8B-B14F-4D97-AF65-F5344CB8AC3E}">
        <p14:creationId xmlns:p14="http://schemas.microsoft.com/office/powerpoint/2010/main" val="87264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799" y="269595"/>
            <a:ext cx="113955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(13) The value of </a:t>
            </a:r>
            <a:r>
              <a:rPr lang="en-US" sz="2400" b="1">
                <a:solidFill>
                  <a:srgbClr val="FF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𝝐</a:t>
            </a:r>
            <a:r>
              <a:rPr 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max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 the electronic spectra of [CuCl</a:t>
            </a:r>
            <a:r>
              <a:rPr 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]</a:t>
            </a:r>
            <a:r>
              <a:rPr lang="en-US" sz="2400" b="1" baseline="30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2−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and [Cu(OH</a:t>
            </a:r>
            <a:r>
              <a:rPr 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6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]</a:t>
            </a:r>
            <a:r>
              <a:rPr lang="en-US" sz="2400" b="1" baseline="30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2+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differ by a factor of about 100. Comment on this observation and state which complex you expect to exhibit the larger value of </a:t>
            </a:r>
            <a:r>
              <a:rPr lang="en-US" sz="2400" b="1">
                <a:solidFill>
                  <a:srgbClr val="FF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𝝐</a:t>
            </a:r>
            <a:r>
              <a:rPr lang="en-US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max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2400" b="1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(previous year question)</a:t>
            </a:r>
            <a:endParaRPr lang="en-IN" sz="2400">
              <a:solidFill>
                <a:srgbClr val="00B0F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8322" y="1798508"/>
            <a:ext cx="11405420" cy="4373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 the complex contain Cu</a:t>
            </a:r>
            <a:r>
              <a:rPr lang="en-US" sz="2000" baseline="30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2+ 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ion and it is d</a:t>
            </a:r>
            <a:r>
              <a:rPr lang="en-US" sz="2000" baseline="30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system. </a:t>
            </a: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[CuCl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2− 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spin-allowed and </a:t>
            </a:r>
            <a:r>
              <a:rPr lang="en-US" sz="20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Laporte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allowed 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−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transitions. </a:t>
            </a:r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[Cu(OH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2+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results spin-allowed and </a:t>
            </a:r>
            <a:r>
              <a:rPr lang="en-US" sz="20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Laporte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forbidden 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−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transitions. </a:t>
            </a:r>
            <a:endParaRPr lang="en-US" sz="2000" b="1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07000"/>
              </a:lnSpc>
              <a:spcAft>
                <a:spcPts val="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Unlike the octahedral case, in a tetrahedral complex the metal 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orbitals have the same symmetry (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as do the metal </a:t>
            </a:r>
            <a:r>
              <a:rPr lang="en-US" sz="2000" i="1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 baseline="-250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xy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i="1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 baseline="-250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yz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20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 baseline="-250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zx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orbitals. Because they are of the same symmetry, the 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set of 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orbitals will be mixed by the crystal field with the metal p orbitals. This in turn means that an e→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transition contains some 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−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component and this component is an allowed transition. Evidently, the intensity of the 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2000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transition is related to the extent of mixing and the extent of mixing assessed, at least qualitatively, from the intensities of bands in the spectra.</a:t>
            </a:r>
          </a:p>
          <a:p>
            <a:pPr marL="457200" algn="just">
              <a:lnSpc>
                <a:spcPct val="107000"/>
              </a:lnSpc>
              <a:spcAft>
                <a:spcPts val="0"/>
              </a:spcAft>
            </a:pPr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</a:t>
            </a:r>
            <a:r>
              <a:rPr lang="en-US" sz="200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𝝐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 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for [CuCl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2−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much higher compared to [Cu(OH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2000" baseline="30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2+</a:t>
            </a: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78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B4A1AF-69F1-4FB5-BD58-A2638B86DB07}"/>
              </a:ext>
            </a:extLst>
          </p:cNvPr>
          <p:cNvSpPr txBox="1"/>
          <p:nvPr/>
        </p:nvSpPr>
        <p:spPr>
          <a:xfrm>
            <a:off x="0" y="111763"/>
            <a:ext cx="115638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 the following species in the order of increasing </a:t>
            </a:r>
            <a:r>
              <a:rPr lang="en-IN" sz="22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Jahn</a:t>
            </a:r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Teller distortion in an octahedral environment high-spin cobalt (III) and low-spin Co(II)</a:t>
            </a:r>
          </a:p>
          <a:p>
            <a:r>
              <a:rPr lang="en-IN" sz="2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2D10E-0101-440E-9CE7-F645A95BE1DC}"/>
              </a:ext>
            </a:extLst>
          </p:cNvPr>
          <p:cNvSpPr txBox="1"/>
          <p:nvPr/>
        </p:nvSpPr>
        <p:spPr>
          <a:xfrm>
            <a:off x="80761" y="970073"/>
            <a:ext cx="11483053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Electron arrangements are (a) high spin Co(III) t</a:t>
            </a:r>
            <a:r>
              <a:rPr lang="en-IN" sz="2000" baseline="-25000">
                <a:latin typeface="Arial" panose="020B0604020202020204" pitchFamily="34" charset="0"/>
                <a:cs typeface="Arial" panose="020B0604020202020204" pitchFamily="34" charset="0"/>
              </a:rPr>
              <a:t>2g</a:t>
            </a:r>
            <a:r>
              <a:rPr lang="en-IN" sz="2000" baseline="300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000" baseline="-2500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IN" sz="2000" baseline="30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 (b) low-spin Co(II) t</a:t>
            </a:r>
            <a:r>
              <a:rPr lang="en-IN" sz="2000" baseline="-25000">
                <a:latin typeface="Arial" panose="020B0604020202020204" pitchFamily="34" charset="0"/>
                <a:cs typeface="Arial" panose="020B0604020202020204" pitchFamily="34" charset="0"/>
              </a:rPr>
              <a:t>2g</a:t>
            </a:r>
            <a:r>
              <a:rPr lang="en-IN" sz="2000" baseline="300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000" baseline="-2500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IN" sz="2000" baseline="30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n-IN" sz="2000" baseline="300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err="1">
                <a:latin typeface="Arial" panose="020B0604020202020204" pitchFamily="34" charset="0"/>
                <a:cs typeface="Arial" panose="020B0604020202020204" pitchFamily="34" charset="0"/>
              </a:rPr>
              <a:t>Jahn</a:t>
            </a: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 Teller distortion is more significant when the </a:t>
            </a:r>
            <a:r>
              <a:rPr lang="en-IN" sz="200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000" baseline="-2500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 level is unsymmetrically occupied than when the t</a:t>
            </a:r>
            <a:r>
              <a:rPr lang="en-IN" sz="2000" baseline="-25000">
                <a:latin typeface="Arial" panose="020B0604020202020204" pitchFamily="34" charset="0"/>
                <a:cs typeface="Arial" panose="020B0604020202020204" pitchFamily="34" charset="0"/>
              </a:rPr>
              <a:t>2g</a:t>
            </a: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 level is unsymmetrically occupied. </a:t>
            </a:r>
          </a:p>
          <a:p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So the increasing order of </a:t>
            </a:r>
            <a:r>
              <a:rPr lang="en-IN" sz="2000" err="1">
                <a:latin typeface="Arial" panose="020B0604020202020204" pitchFamily="34" charset="0"/>
                <a:cs typeface="Arial" panose="020B0604020202020204" pitchFamily="34" charset="0"/>
              </a:rPr>
              <a:t>Jahn</a:t>
            </a:r>
            <a:r>
              <a:rPr lang="en-IN" sz="2000">
                <a:latin typeface="Arial" panose="020B0604020202020204" pitchFamily="34" charset="0"/>
                <a:cs typeface="Arial" panose="020B0604020202020204" pitchFamily="34" charset="0"/>
              </a:rPr>
              <a:t> Teller distortion is High spin Co(III)&lt;low-spin Co(II)</a:t>
            </a:r>
          </a:p>
          <a:p>
            <a:endParaRPr lang="en-IN" sz="2000" baseline="300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761" y="3150543"/>
            <a:ext cx="1039279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 Which complex is more stable cis[Cu(</a:t>
            </a:r>
            <a:r>
              <a:rPr lang="en-US" sz="2200" b="1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200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n-US" sz="2200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O]</a:t>
            </a:r>
            <a:r>
              <a:rPr lang="en-US" sz="2200" b="1" baseline="30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trans[Cu(</a:t>
            </a:r>
            <a:r>
              <a:rPr lang="en-US" sz="2200" b="1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200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n-US" sz="2200" b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O]</a:t>
            </a:r>
            <a:r>
              <a:rPr lang="en-US" sz="2200" b="1" baseline="30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14194" y="4097387"/>
          <a:ext cx="4499509" cy="1691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2626948" imgH="986996" progId="ChemDraw.Document.6.0">
                  <p:embed/>
                </p:oleObj>
              </mc:Choice>
              <mc:Fallback>
                <p:oleObj name="CS ChemDraw Drawing" r:id="rId3" imgW="2626948" imgH="986996" progId="ChemDraw.Document.6.0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4194" y="4097387"/>
                        <a:ext cx="4499509" cy="1691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966997" y="6173525"/>
            <a:ext cx="5181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Due to </a:t>
            </a:r>
            <a:r>
              <a:rPr lang="en-IN" err="1">
                <a:latin typeface="Arial" panose="020B0604020202020204" pitchFamily="34" charset="0"/>
                <a:cs typeface="Arial" panose="020B0604020202020204" pitchFamily="34" charset="0"/>
              </a:rPr>
              <a:t>Jahn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 Teller distortion Trans is more stable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8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837739C111174AA4612B428596DF21" ma:contentTypeVersion="4" ma:contentTypeDescription="Create a new document." ma:contentTypeScope="" ma:versionID="6e6e8068e86c0e180584346e904a2c79">
  <xsd:schema xmlns:xsd="http://www.w3.org/2001/XMLSchema" xmlns:xs="http://www.w3.org/2001/XMLSchema" xmlns:p="http://schemas.microsoft.com/office/2006/metadata/properties" xmlns:ns2="cafaf399-ff3b-4908-9708-7f93ec344edf" targetNamespace="http://schemas.microsoft.com/office/2006/metadata/properties" ma:root="true" ma:fieldsID="d9aae05cd4ffab418111fc159f790dce" ns2:_="">
    <xsd:import namespace="cafaf399-ff3b-4908-9708-7f93ec344e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af399-ff3b-4908-9708-7f93ec344e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28623A-EB20-49C2-A0DF-B2D5D5909594}">
  <ds:schemaRefs>
    <ds:schemaRef ds:uri="cafaf399-ff3b-4908-9708-7f93ec344e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B050266-E48D-465A-8504-2B8E83755A2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FB3CC8D-C42E-415B-998B-59CB8CA49B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Sayantan Paria</dc:creator>
  <cp:revision>4</cp:revision>
  <dcterms:created xsi:type="dcterms:W3CDTF">2020-12-08T16:06:11Z</dcterms:created>
  <dcterms:modified xsi:type="dcterms:W3CDTF">2024-12-19T22:59:08Z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0x01010053837739C111174AA4612B428596DF21</vt:lpwstr>
  </property>
</Properties>
</file>