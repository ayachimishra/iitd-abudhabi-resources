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16"/>
  </p:notesMasterIdLst>
  <p:sldIdLst>
    <p:sldId id="256" r:id="rId5"/>
    <p:sldId id="280" r:id="rId6"/>
    <p:sldId id="270" r:id="rId7"/>
    <p:sldId id="273" r:id="rId8"/>
    <p:sldId id="274" r:id="rId9"/>
    <p:sldId id="275" r:id="rId10"/>
    <p:sldId id="276" r:id="rId11"/>
    <p:sldId id="278" r:id="rId12"/>
    <p:sldId id="279" r:id="rId13"/>
    <p:sldId id="281" r:id="rId14"/>
    <p:sldId id="282"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03" userDrawn="1">
          <p15:clr>
            <a:srgbClr val="A4A3A4"/>
          </p15:clr>
        </p15:guide>
        <p15:guide id="2" pos="75" userDrawn="1">
          <p15:clr>
            <a:srgbClr val="A4A3A4"/>
          </p15:clr>
        </p15:guide>
        <p15:guide id="3" pos="6221" userDrawn="1">
          <p15:clr>
            <a:srgbClr val="A4A3A4"/>
          </p15:clr>
        </p15:guide>
        <p15:guide id="4" orient="horz" pos="216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i2Mh9r2cPndXjxfdoK4Dbuc47/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599"/>
  </p:normalViewPr>
  <p:slideViewPr>
    <p:cSldViewPr snapToGrid="0">
      <p:cViewPr varScale="1">
        <p:scale>
          <a:sx n="63" d="100"/>
          <a:sy n="63" d="100"/>
        </p:scale>
        <p:origin x="620" y="64"/>
      </p:cViewPr>
      <p:guideLst>
        <p:guide orient="horz" pos="3203"/>
        <p:guide pos="75"/>
        <p:guide pos="6221"/>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customschemas.google.com/relationships/presentationmetadata" Target="metadata"/><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96866-759F-5D45-A3E3-A430F89E1177}" type="slidenum">
              <a:rPr lang="en-US" smtClean="0"/>
              <a:t>5</a:t>
            </a:fld>
            <a:endParaRPr lang="en-US"/>
          </a:p>
        </p:txBody>
      </p:sp>
    </p:spTree>
    <p:extLst>
      <p:ext uri="{BB962C8B-B14F-4D97-AF65-F5344CB8AC3E}">
        <p14:creationId xmlns:p14="http://schemas.microsoft.com/office/powerpoint/2010/main" val="2035464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tiff"/><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2787754" y="2351782"/>
            <a:ext cx="6616491" cy="2062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dirty="0">
                <a:solidFill>
                  <a:schemeClr val="dk1"/>
                </a:solidFill>
                <a:latin typeface="Times New Roman"/>
                <a:ea typeface="Times New Roman"/>
                <a:cs typeface="Times New Roman"/>
                <a:sym typeface="Times New Roman"/>
              </a:rPr>
              <a:t>ACML101: Introduction to Chemistry</a:t>
            </a:r>
            <a:endParaRPr dirty="0"/>
          </a:p>
          <a:p>
            <a:pPr marL="0" marR="0" lvl="0" indent="0" algn="ctr" rtl="0">
              <a:spcBef>
                <a:spcPts val="0"/>
              </a:spcBef>
              <a:spcAft>
                <a:spcPts val="0"/>
              </a:spcAft>
              <a:buNone/>
            </a:pPr>
            <a:r>
              <a:rPr lang="en-US" sz="3200" b="1" i="0" u="none" strike="noStrike" cap="none" dirty="0">
                <a:solidFill>
                  <a:schemeClr val="dk1"/>
                </a:solidFill>
                <a:latin typeface="Times New Roman"/>
                <a:ea typeface="Times New Roman"/>
                <a:cs typeface="Times New Roman"/>
                <a:sym typeface="Times New Roman"/>
              </a:rPr>
              <a:t>Inorganic Chemistry: Tutorial </a:t>
            </a:r>
            <a:r>
              <a:rPr lang="en-US" sz="3200" b="1" dirty="0">
                <a:solidFill>
                  <a:schemeClr val="dk1"/>
                </a:solidFill>
                <a:latin typeface="Times New Roman"/>
                <a:ea typeface="Times New Roman"/>
                <a:cs typeface="Times New Roman"/>
                <a:sym typeface="Times New Roman"/>
              </a:rPr>
              <a:t>2</a:t>
            </a:r>
          </a:p>
          <a:p>
            <a:pPr marL="0" marR="0" lvl="0" indent="0" algn="ctr" rtl="0">
              <a:spcBef>
                <a:spcPts val="0"/>
              </a:spcBef>
              <a:spcAft>
                <a:spcPts val="0"/>
              </a:spcAft>
              <a:buNone/>
            </a:pPr>
            <a:r>
              <a:rPr lang="en-US" sz="3200" b="1" dirty="0">
                <a:solidFill>
                  <a:schemeClr val="dk1"/>
                </a:solidFill>
                <a:latin typeface="Times New Roman"/>
                <a:cs typeface="Times New Roman"/>
                <a:sym typeface="Times New Roman"/>
              </a:rPr>
              <a:t>Coordination Chemistry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9760" y="369094"/>
            <a:ext cx="9418320" cy="1138773"/>
          </a:xfrm>
          <a:prstGeom prst="rect">
            <a:avLst/>
          </a:prstGeom>
        </p:spPr>
        <p:txBody>
          <a:bodyPr wrap="square">
            <a:spAutoFit/>
          </a:bodyPr>
          <a:lstStyle/>
          <a:p>
            <a:r>
              <a:rPr lang="en-US" sz="2200" b="1" dirty="0">
                <a:solidFill>
                  <a:srgbClr val="FF0000"/>
                </a:solidFill>
                <a:latin typeface="Times New Roman" panose="02020603050405020304" pitchFamily="18" charset="0"/>
                <a:cs typeface="Times New Roman" panose="02020603050405020304" pitchFamily="18" charset="0"/>
              </a:rPr>
              <a:t>(1) </a:t>
            </a:r>
            <a:r>
              <a:rPr lang="en-US" sz="2200" b="1" dirty="0" err="1">
                <a:solidFill>
                  <a:srgbClr val="FF0000"/>
                </a:solidFill>
                <a:latin typeface="Times New Roman" panose="02020603050405020304" pitchFamily="18" charset="0"/>
                <a:cs typeface="Times New Roman" panose="02020603050405020304" pitchFamily="18" charset="0"/>
              </a:rPr>
              <a:t>Jahn</a:t>
            </a:r>
            <a:r>
              <a:rPr lang="en-US" sz="2200" b="1" dirty="0">
                <a:solidFill>
                  <a:srgbClr val="FF0000"/>
                </a:solidFill>
                <a:latin typeface="Times New Roman" panose="02020603050405020304" pitchFamily="18" charset="0"/>
                <a:cs typeface="Times New Roman" panose="02020603050405020304" pitchFamily="18" charset="0"/>
              </a:rPr>
              <a:t>-Teller effect is not observed in high spin octahedral complexes of</a:t>
            </a:r>
          </a:p>
          <a:p>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a:p>
            <a:r>
              <a:rPr lang="en-US" sz="1800" dirty="0">
                <a:solidFill>
                  <a:srgbClr val="FF0000"/>
                </a:solidFill>
                <a:latin typeface="Times New Roman" panose="02020603050405020304" pitchFamily="18" charset="0"/>
                <a:cs typeface="Times New Roman" panose="02020603050405020304" pitchFamily="18" charset="0"/>
              </a:rPr>
              <a:t>(A)  d</a:t>
            </a:r>
            <a:r>
              <a:rPr lang="en-US" sz="1800" baseline="30000" dirty="0">
                <a:solidFill>
                  <a:srgbClr val="FF0000"/>
                </a:solidFill>
                <a:latin typeface="Times New Roman" panose="02020603050405020304" pitchFamily="18" charset="0"/>
                <a:cs typeface="Times New Roman" panose="02020603050405020304" pitchFamily="18" charset="0"/>
              </a:rPr>
              <a:t>7  </a:t>
            </a:r>
            <a:r>
              <a:rPr lang="en-US" sz="1800" dirty="0">
                <a:solidFill>
                  <a:srgbClr val="FF0000"/>
                </a:solidFill>
                <a:latin typeface="Times New Roman" panose="02020603050405020304" pitchFamily="18" charset="0"/>
                <a:cs typeface="Times New Roman" panose="02020603050405020304" pitchFamily="18" charset="0"/>
              </a:rPr>
              <a:t>               (B)    d8                (C)      d</a:t>
            </a:r>
            <a:r>
              <a:rPr lang="en-US" sz="1800" baseline="30000" dirty="0">
                <a:solidFill>
                  <a:srgbClr val="FF0000"/>
                </a:solidFill>
                <a:latin typeface="Times New Roman" panose="02020603050405020304" pitchFamily="18" charset="0"/>
                <a:cs typeface="Times New Roman" panose="02020603050405020304" pitchFamily="18" charset="0"/>
              </a:rPr>
              <a:t>4</a:t>
            </a:r>
            <a:r>
              <a:rPr lang="en-US" sz="1800" dirty="0">
                <a:solidFill>
                  <a:srgbClr val="FF0000"/>
                </a:solidFill>
                <a:latin typeface="Times New Roman" panose="02020603050405020304" pitchFamily="18" charset="0"/>
                <a:cs typeface="Times New Roman" panose="02020603050405020304" pitchFamily="18" charset="0"/>
              </a:rPr>
              <a:t>            (D)              d</a:t>
            </a:r>
            <a:r>
              <a:rPr lang="en-US" sz="1800" baseline="30000" dirty="0">
                <a:solidFill>
                  <a:srgbClr val="FF0000"/>
                </a:solidFill>
                <a:latin typeface="Times New Roman" panose="02020603050405020304" pitchFamily="18" charset="0"/>
                <a:cs typeface="Times New Roman" panose="02020603050405020304" pitchFamily="18" charset="0"/>
              </a:rPr>
              <a:t>9</a:t>
            </a:r>
          </a:p>
        </p:txBody>
      </p:sp>
      <p:sp>
        <p:nvSpPr>
          <p:cNvPr id="5" name="Rectangle 4"/>
          <p:cNvSpPr/>
          <p:nvPr/>
        </p:nvSpPr>
        <p:spPr>
          <a:xfrm>
            <a:off x="3912506" y="1870501"/>
            <a:ext cx="2832827" cy="369332"/>
          </a:xfrm>
          <a:prstGeom prst="rect">
            <a:avLst/>
          </a:prstGeom>
        </p:spPr>
        <p:txBody>
          <a:bodyPr wrap="none">
            <a:spAutoFit/>
          </a:bodyPr>
          <a:lstStyle/>
          <a:p>
            <a:r>
              <a:rPr lang="en-US" sz="1800" dirty="0">
                <a:solidFill>
                  <a:srgbClr val="333333"/>
                </a:solidFill>
                <a:latin typeface="Times New Roman" panose="02020603050405020304" pitchFamily="18" charset="0"/>
                <a:cs typeface="Times New Roman" panose="02020603050405020304" pitchFamily="18" charset="0"/>
              </a:rPr>
              <a:t>The correct option is (</a:t>
            </a:r>
            <a:r>
              <a:rPr lang="en-US" sz="1800" b="1" dirty="0">
                <a:solidFill>
                  <a:srgbClr val="333333"/>
                </a:solidFill>
                <a:latin typeface="Times New Roman" panose="02020603050405020304" pitchFamily="18" charset="0"/>
                <a:cs typeface="Times New Roman" panose="02020603050405020304" pitchFamily="18" charset="0"/>
              </a:rPr>
              <a:t>B)   </a:t>
            </a:r>
            <a:r>
              <a:rPr lang="en-US" sz="1800" dirty="0">
                <a:solidFill>
                  <a:srgbClr val="333333"/>
                </a:solidFill>
                <a:latin typeface="Times New Roman" panose="02020603050405020304" pitchFamily="18" charset="0"/>
                <a:cs typeface="Times New Roman" panose="02020603050405020304" pitchFamily="18" charset="0"/>
              </a:rPr>
              <a:t>d</a:t>
            </a:r>
            <a:r>
              <a:rPr lang="en-US" sz="1800" baseline="30000" dirty="0">
                <a:solidFill>
                  <a:srgbClr val="333333"/>
                </a:solidFill>
                <a:latin typeface="Times New Roman" panose="02020603050405020304" pitchFamily="18" charset="0"/>
                <a:cs typeface="Times New Roman" panose="02020603050405020304" pitchFamily="18" charset="0"/>
              </a:rPr>
              <a:t>8</a:t>
            </a:r>
          </a:p>
        </p:txBody>
      </p:sp>
      <p:sp>
        <p:nvSpPr>
          <p:cNvPr id="6" name="Rectangle 5"/>
          <p:cNvSpPr/>
          <p:nvPr/>
        </p:nvSpPr>
        <p:spPr>
          <a:xfrm>
            <a:off x="426720" y="2602468"/>
            <a:ext cx="11440160" cy="1569660"/>
          </a:xfrm>
          <a:prstGeom prst="rect">
            <a:avLst/>
          </a:prstGeom>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(2) (a)The value of </a:t>
            </a:r>
            <a:r>
              <a:rPr lang="el-GR" sz="2400" dirty="0">
                <a:solidFill>
                  <a:srgbClr val="FF0000"/>
                </a:solidFill>
                <a:latin typeface="Times New Roman" panose="02020603050405020304" pitchFamily="18" charset="0"/>
                <a:cs typeface="Times New Roman" panose="02020603050405020304" pitchFamily="18" charset="0"/>
              </a:rPr>
              <a:t>Δ</a:t>
            </a:r>
            <a:r>
              <a:rPr lang="en-IN" sz="2400" dirty="0">
                <a:solidFill>
                  <a:srgbClr val="FF0000"/>
                </a:solidFill>
                <a:latin typeface="Times New Roman" panose="02020603050405020304" pitchFamily="18" charset="0"/>
                <a:cs typeface="Times New Roman" panose="02020603050405020304" pitchFamily="18" charset="0"/>
              </a:rPr>
              <a:t>o in [</a:t>
            </a:r>
            <a:r>
              <a:rPr lang="en-IN" sz="2400" dirty="0" err="1">
                <a:solidFill>
                  <a:srgbClr val="FF0000"/>
                </a:solidFill>
                <a:latin typeface="Times New Roman" panose="02020603050405020304" pitchFamily="18" charset="0"/>
                <a:cs typeface="Times New Roman" panose="02020603050405020304" pitchFamily="18" charset="0"/>
              </a:rPr>
              <a:t>Mn</a:t>
            </a:r>
            <a:r>
              <a:rPr lang="en-IN" sz="2400" dirty="0">
                <a:solidFill>
                  <a:srgbClr val="FF0000"/>
                </a:solidFill>
                <a:latin typeface="Times New Roman" panose="02020603050405020304" pitchFamily="18" charset="0"/>
                <a:cs typeface="Times New Roman" panose="02020603050405020304" pitchFamily="18" charset="0"/>
              </a:rPr>
              <a:t>(OH</a:t>
            </a:r>
            <a:r>
              <a:rPr lang="en-IN" sz="2400" baseline="-25000" dirty="0">
                <a:solidFill>
                  <a:srgbClr val="FF0000"/>
                </a:solidFill>
                <a:latin typeface="Times New Roman" panose="02020603050405020304" pitchFamily="18" charset="0"/>
                <a:cs typeface="Times New Roman" panose="02020603050405020304" pitchFamily="18" charset="0"/>
              </a:rPr>
              <a:t>2</a:t>
            </a:r>
            <a:r>
              <a:rPr lang="en-IN" sz="2400" dirty="0">
                <a:solidFill>
                  <a:srgbClr val="FF0000"/>
                </a:solidFill>
                <a:latin typeface="Times New Roman" panose="02020603050405020304" pitchFamily="18" charset="0"/>
                <a:cs typeface="Times New Roman" panose="02020603050405020304" pitchFamily="18" charset="0"/>
              </a:rPr>
              <a:t>)</a:t>
            </a:r>
            <a:r>
              <a:rPr lang="en-IN" sz="2400" baseline="-25000" dirty="0">
                <a:solidFill>
                  <a:srgbClr val="FF0000"/>
                </a:solidFill>
                <a:latin typeface="Times New Roman" panose="02020603050405020304" pitchFamily="18" charset="0"/>
                <a:cs typeface="Times New Roman" panose="02020603050405020304" pitchFamily="18" charset="0"/>
              </a:rPr>
              <a:t>6</a:t>
            </a:r>
            <a:r>
              <a:rPr lang="en-IN" sz="2400" dirty="0">
                <a:solidFill>
                  <a:srgbClr val="FF0000"/>
                </a:solidFill>
                <a:latin typeface="Times New Roman" panose="02020603050405020304" pitchFamily="18" charset="0"/>
                <a:cs typeface="Times New Roman" panose="02020603050405020304" pitchFamily="18" charset="0"/>
              </a:rPr>
              <a:t>]</a:t>
            </a:r>
            <a:r>
              <a:rPr lang="en-IN" sz="2400" baseline="30000" dirty="0">
                <a:solidFill>
                  <a:srgbClr val="FF0000"/>
                </a:solidFill>
                <a:latin typeface="Times New Roman" panose="02020603050405020304" pitchFamily="18" charset="0"/>
                <a:cs typeface="Times New Roman" panose="02020603050405020304" pitchFamily="18" charset="0"/>
              </a:rPr>
              <a:t>3+</a:t>
            </a:r>
            <a:r>
              <a:rPr lang="en-IN" sz="2400" dirty="0">
                <a:solidFill>
                  <a:srgbClr val="FF0000"/>
                </a:solidFill>
                <a:latin typeface="Times New Roman" panose="02020603050405020304" pitchFamily="18" charset="0"/>
                <a:cs typeface="Times New Roman" panose="02020603050405020304" pitchFamily="18" charset="0"/>
              </a:rPr>
              <a:t> is 15,800 cm</a:t>
            </a:r>
            <a:r>
              <a:rPr lang="en-IN" sz="2400" baseline="30000" dirty="0">
                <a:solidFill>
                  <a:srgbClr val="FF0000"/>
                </a:solidFill>
                <a:latin typeface="Times New Roman" panose="02020603050405020304" pitchFamily="18" charset="0"/>
                <a:cs typeface="Times New Roman" panose="02020603050405020304" pitchFamily="18" charset="0"/>
              </a:rPr>
              <a:t>-1</a:t>
            </a:r>
            <a:r>
              <a:rPr lang="en-IN" sz="2400" dirty="0">
                <a:solidFill>
                  <a:srgbClr val="FF0000"/>
                </a:solidFill>
                <a:latin typeface="Times New Roman" panose="02020603050405020304" pitchFamily="18" charset="0"/>
                <a:cs typeface="Times New Roman" panose="02020603050405020304" pitchFamily="18" charset="0"/>
              </a:rPr>
              <a:t> while the mean pairing energy (P) in this complex is 28,000 cm</a:t>
            </a:r>
            <a:r>
              <a:rPr lang="en-IN" sz="2400" baseline="30000" dirty="0">
                <a:solidFill>
                  <a:srgbClr val="FF0000"/>
                </a:solidFill>
                <a:latin typeface="Times New Roman" panose="02020603050405020304" pitchFamily="18" charset="0"/>
                <a:cs typeface="Times New Roman" panose="02020603050405020304" pitchFamily="18" charset="0"/>
              </a:rPr>
              <a:t>-1</a:t>
            </a:r>
            <a:r>
              <a:rPr lang="en-IN" sz="2400" dirty="0">
                <a:solidFill>
                  <a:srgbClr val="FF0000"/>
                </a:solidFill>
                <a:latin typeface="Times New Roman" panose="02020603050405020304" pitchFamily="18" charset="0"/>
                <a:cs typeface="Times New Roman" panose="02020603050405020304" pitchFamily="18" charset="0"/>
              </a:rPr>
              <a:t>. Do you expect this ion to be high or low spin? (b) </a:t>
            </a:r>
            <a:r>
              <a:rPr lang="en-US" sz="2400" dirty="0">
                <a:solidFill>
                  <a:srgbClr val="FF0000"/>
                </a:solidFill>
                <a:latin typeface="Times New Roman" panose="02020603050405020304" pitchFamily="18" charset="0"/>
                <a:cs typeface="Times New Roman" panose="02020603050405020304" pitchFamily="18" charset="0"/>
              </a:rPr>
              <a:t>Determine whether either spin state for this complex is likely to be subject to a </a:t>
            </a:r>
            <a:r>
              <a:rPr lang="en-US" sz="2400" dirty="0" err="1">
                <a:solidFill>
                  <a:srgbClr val="FF0000"/>
                </a:solidFill>
                <a:latin typeface="Times New Roman" panose="02020603050405020304" pitchFamily="18" charset="0"/>
                <a:cs typeface="Times New Roman" panose="02020603050405020304" pitchFamily="18" charset="0"/>
              </a:rPr>
              <a:t>Jahn</a:t>
            </a:r>
            <a:r>
              <a:rPr lang="en-US" sz="2400" dirty="0">
                <a:solidFill>
                  <a:srgbClr val="FF0000"/>
                </a:solidFill>
                <a:latin typeface="Times New Roman" panose="02020603050405020304" pitchFamily="18" charset="0"/>
                <a:cs typeface="Times New Roman" panose="02020603050405020304" pitchFamily="18" charset="0"/>
              </a:rPr>
              <a:t>-Teller distortion. If it can occur, which spin state would display the greater effect? </a:t>
            </a:r>
            <a:r>
              <a:rPr lang="en-IN" sz="2400" dirty="0">
                <a:solidFill>
                  <a:srgbClr val="FF0000"/>
                </a:solidFill>
                <a:latin typeface="Times New Roman" panose="02020603050405020304" pitchFamily="18" charset="0"/>
                <a:cs typeface="Times New Roman" panose="02020603050405020304" pitchFamily="18" charset="0"/>
              </a:rPr>
              <a:t>  </a:t>
            </a:r>
          </a:p>
        </p:txBody>
      </p:sp>
      <p:sp>
        <p:nvSpPr>
          <p:cNvPr id="8" name="Rectangle 7"/>
          <p:cNvSpPr/>
          <p:nvPr/>
        </p:nvSpPr>
        <p:spPr>
          <a:xfrm>
            <a:off x="472439" y="4253374"/>
            <a:ext cx="11394441" cy="2246769"/>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Part a : </a:t>
            </a:r>
          </a:p>
          <a:p>
            <a:r>
              <a:rPr lang="en-IN" dirty="0">
                <a:latin typeface="Times New Roman" panose="02020603050405020304" pitchFamily="18" charset="0"/>
                <a:cs typeface="Times New Roman" panose="02020603050405020304" pitchFamily="18" charset="0"/>
              </a:rPr>
              <a:t>when </a:t>
            </a:r>
            <a:r>
              <a:rPr lang="en-IN" dirty="0" err="1">
                <a:latin typeface="Times New Roman" panose="02020603050405020304" pitchFamily="18" charset="0"/>
                <a:cs typeface="Times New Roman" panose="02020603050405020304" pitchFamily="18" charset="0"/>
              </a:rPr>
              <a:t>Δo</a:t>
            </a:r>
            <a:r>
              <a:rPr lang="en-IN" dirty="0">
                <a:latin typeface="Times New Roman" panose="02020603050405020304" pitchFamily="18" charset="0"/>
                <a:cs typeface="Times New Roman" panose="02020603050405020304" pitchFamily="18" charset="0"/>
              </a:rPr>
              <a:t> &gt; P, a low spin complex will result and when </a:t>
            </a:r>
            <a:r>
              <a:rPr lang="en-IN" dirty="0" err="1">
                <a:latin typeface="Times New Roman" panose="02020603050405020304" pitchFamily="18" charset="0"/>
                <a:cs typeface="Times New Roman" panose="02020603050405020304" pitchFamily="18" charset="0"/>
              </a:rPr>
              <a:t>Δo</a:t>
            </a:r>
            <a:r>
              <a:rPr lang="en-IN" dirty="0">
                <a:latin typeface="Times New Roman" panose="02020603050405020304" pitchFamily="18" charset="0"/>
                <a:cs typeface="Times New Roman" panose="02020603050405020304" pitchFamily="18" charset="0"/>
              </a:rPr>
              <a:t> &lt; P a high spin complex will be observed. Since </a:t>
            </a:r>
            <a:r>
              <a:rPr lang="en-IN" dirty="0" err="1">
                <a:latin typeface="Times New Roman" panose="02020603050405020304" pitchFamily="18" charset="0"/>
                <a:cs typeface="Times New Roman" panose="02020603050405020304" pitchFamily="18" charset="0"/>
              </a:rPr>
              <a:t>Δo</a:t>
            </a:r>
            <a:r>
              <a:rPr lang="en-IN" dirty="0">
                <a:latin typeface="Times New Roman" panose="02020603050405020304" pitchFamily="18" charset="0"/>
                <a:cs typeface="Times New Roman" panose="02020603050405020304" pitchFamily="18" charset="0"/>
              </a:rPr>
              <a:t> = 15,800 &lt; P = 28,000 cm-1, a high spin complex will be observed.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Part b: This is a d</a:t>
            </a:r>
            <a:r>
              <a:rPr lang="en-IN" baseline="30000"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ion. </a:t>
            </a:r>
          </a:p>
          <a:p>
            <a:r>
              <a:rPr lang="en-US" dirty="0">
                <a:latin typeface="Times New Roman" panose="02020603050405020304" pitchFamily="18" charset="0"/>
                <a:cs typeface="Times New Roman" panose="02020603050405020304" pitchFamily="18" charset="0"/>
              </a:rPr>
              <a:t>High spin d</a:t>
            </a:r>
            <a:r>
              <a:rPr lang="en-US" baseline="30000"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should have a strong </a:t>
            </a:r>
            <a:r>
              <a:rPr lang="en-US" dirty="0" err="1">
                <a:latin typeface="Times New Roman" panose="02020603050405020304" pitchFamily="18" charset="0"/>
                <a:cs typeface="Times New Roman" panose="02020603050405020304" pitchFamily="18" charset="0"/>
              </a:rPr>
              <a:t>Jahn</a:t>
            </a:r>
            <a:r>
              <a:rPr lang="en-US" dirty="0">
                <a:latin typeface="Times New Roman" panose="02020603050405020304" pitchFamily="18" charset="0"/>
                <a:cs typeface="Times New Roman" panose="02020603050405020304" pitchFamily="18" charset="0"/>
              </a:rPr>
              <a:t>-Teller effect as there is a single electron in the degenerate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level that is oriented directly at the ligands. A </a:t>
            </a:r>
            <a:r>
              <a:rPr lang="en-US" dirty="0" err="1">
                <a:latin typeface="Times New Roman" panose="02020603050405020304" pitchFamily="18" charset="0"/>
                <a:cs typeface="Times New Roman" panose="02020603050405020304" pitchFamily="18" charset="0"/>
              </a:rPr>
              <a:t>Jahn</a:t>
            </a:r>
            <a:r>
              <a:rPr lang="en-US" dirty="0">
                <a:latin typeface="Times New Roman" panose="02020603050405020304" pitchFamily="18" charset="0"/>
                <a:cs typeface="Times New Roman" panose="02020603050405020304" pitchFamily="18" charset="0"/>
              </a:rPr>
              <a:t>-Teller distortion is also possible for low spin d4 as this places 4 electrons in the t</a:t>
            </a:r>
            <a:r>
              <a:rPr lang="en-US" baseline="-25000" dirty="0">
                <a:latin typeface="Times New Roman" panose="02020603050405020304" pitchFamily="18" charset="0"/>
                <a:cs typeface="Times New Roman" panose="02020603050405020304" pitchFamily="18" charset="0"/>
              </a:rPr>
              <a:t>2g </a:t>
            </a:r>
            <a:r>
              <a:rPr lang="en-US" dirty="0">
                <a:latin typeface="Times New Roman" panose="02020603050405020304" pitchFamily="18" charset="0"/>
                <a:cs typeface="Times New Roman" panose="02020603050405020304" pitchFamily="18" charset="0"/>
              </a:rPr>
              <a:t>set; however, since the t</a:t>
            </a:r>
            <a:r>
              <a:rPr lang="en-US" baseline="-25000" dirty="0">
                <a:latin typeface="Times New Roman" panose="02020603050405020304" pitchFamily="18" charset="0"/>
                <a:cs typeface="Times New Roman" panose="02020603050405020304" pitchFamily="18" charset="0"/>
              </a:rPr>
              <a:t>2g</a:t>
            </a:r>
            <a:r>
              <a:rPr lang="en-US" dirty="0">
                <a:latin typeface="Times New Roman" panose="02020603050405020304" pitchFamily="18" charset="0"/>
                <a:cs typeface="Times New Roman" panose="02020603050405020304" pitchFamily="18" charset="0"/>
              </a:rPr>
              <a:t> set does not point directly at the ligands, the magnitude of the electronic stabilization gained by doing a </a:t>
            </a:r>
            <a:r>
              <a:rPr lang="en-US" dirty="0" err="1">
                <a:latin typeface="Times New Roman" panose="02020603050405020304" pitchFamily="18" charset="0"/>
                <a:cs typeface="Times New Roman" panose="02020603050405020304" pitchFamily="18" charset="0"/>
              </a:rPr>
              <a:t>Jahn</a:t>
            </a:r>
            <a:r>
              <a:rPr lang="en-US" dirty="0">
                <a:latin typeface="Times New Roman" panose="02020603050405020304" pitchFamily="18" charset="0"/>
                <a:cs typeface="Times New Roman" panose="02020603050405020304" pitchFamily="18" charset="0"/>
              </a:rPr>
              <a:t>-Teller distortion may not be enough to offset </a:t>
            </a:r>
            <a:r>
              <a:rPr lang="en-US" dirty="0" err="1">
                <a:latin typeface="Times New Roman" panose="02020603050405020304" pitchFamily="18" charset="0"/>
                <a:cs typeface="Times New Roman" panose="02020603050405020304" pitchFamily="18" charset="0"/>
              </a:rPr>
              <a:t>unfavourable</a:t>
            </a:r>
            <a:r>
              <a:rPr lang="en-US" dirty="0">
                <a:latin typeface="Times New Roman" panose="02020603050405020304" pitchFamily="18" charset="0"/>
                <a:cs typeface="Times New Roman" panose="02020603050405020304" pitchFamily="18" charset="0"/>
              </a:rPr>
              <a:t> energy changes associated with longer bond lengths, more steric crowding etc. and the distortion may not actually be observed.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05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902836-1729-8826-AD10-554365A90CF8}"/>
              </a:ext>
            </a:extLst>
          </p:cNvPr>
          <p:cNvSpPr txBox="1"/>
          <p:nvPr/>
        </p:nvSpPr>
        <p:spPr>
          <a:xfrm>
            <a:off x="171447" y="48099"/>
            <a:ext cx="11791101" cy="769441"/>
          </a:xfrm>
          <a:prstGeom prst="rect">
            <a:avLst/>
          </a:prstGeom>
          <a:noFill/>
        </p:spPr>
        <p:txBody>
          <a:bodyPr wrap="square">
            <a:spAutoFit/>
          </a:bodyPr>
          <a:lstStyle/>
          <a:p>
            <a:pPr algn="just"/>
            <a:r>
              <a:rPr lang="en-IN" sz="2200" b="1" dirty="0">
                <a:solidFill>
                  <a:srgbClr val="FF0000"/>
                </a:solidFill>
                <a:latin typeface="Times New Roman"/>
                <a:cs typeface="Times New Roman"/>
              </a:rPr>
              <a:t>Q3. An aqueous solution of [TiCl</a:t>
            </a:r>
            <a:r>
              <a:rPr lang="en-IN" sz="2200" b="1" baseline="-25000" dirty="0">
                <a:solidFill>
                  <a:srgbClr val="FF0000"/>
                </a:solidFill>
                <a:latin typeface="Times New Roman"/>
                <a:cs typeface="Times New Roman"/>
              </a:rPr>
              <a:t>6</a:t>
            </a:r>
            <a:r>
              <a:rPr lang="en-IN" sz="2200" b="1" dirty="0">
                <a:solidFill>
                  <a:srgbClr val="FF0000"/>
                </a:solidFill>
                <a:latin typeface="Times New Roman"/>
                <a:cs typeface="Times New Roman"/>
              </a:rPr>
              <a:t>]</a:t>
            </a:r>
            <a:r>
              <a:rPr lang="en-IN" sz="2200" b="1" baseline="30000" dirty="0">
                <a:solidFill>
                  <a:srgbClr val="FF0000"/>
                </a:solidFill>
                <a:latin typeface="Times New Roman"/>
                <a:cs typeface="Times New Roman"/>
              </a:rPr>
              <a:t>3−</a:t>
            </a:r>
            <a:r>
              <a:rPr lang="en-IN" sz="2200" b="1" dirty="0">
                <a:solidFill>
                  <a:srgbClr val="FF0000"/>
                </a:solidFill>
                <a:latin typeface="Times New Roman"/>
                <a:cs typeface="Times New Roman"/>
              </a:rPr>
              <a:t> showed an absorbance maxima at 13000 cm</a:t>
            </a:r>
            <a:r>
              <a:rPr lang="en-IN" sz="2200" b="1" baseline="30000" dirty="0">
                <a:solidFill>
                  <a:srgbClr val="FF0000"/>
                </a:solidFill>
                <a:latin typeface="Times New Roman"/>
                <a:cs typeface="Times New Roman"/>
              </a:rPr>
              <a:t>−1 </a:t>
            </a:r>
            <a:r>
              <a:rPr lang="en-IN" sz="2200" b="1" dirty="0">
                <a:solidFill>
                  <a:srgbClr val="FF0000"/>
                </a:solidFill>
                <a:latin typeface="Times New Roman"/>
                <a:cs typeface="Times New Roman"/>
              </a:rPr>
              <a:t>with a broad hump at 12500 cm</a:t>
            </a:r>
            <a:r>
              <a:rPr lang="en-IN" sz="2200" b="1" baseline="30000" dirty="0">
                <a:solidFill>
                  <a:srgbClr val="FF0000"/>
                </a:solidFill>
                <a:latin typeface="Times New Roman"/>
                <a:cs typeface="Times New Roman"/>
              </a:rPr>
              <a:t>−1</a:t>
            </a:r>
            <a:r>
              <a:rPr lang="en-IN" sz="2200" b="1" dirty="0">
                <a:solidFill>
                  <a:srgbClr val="FF0000"/>
                </a:solidFill>
                <a:latin typeface="Times New Roman"/>
                <a:cs typeface="Times New Roman"/>
              </a:rPr>
              <a:t> in the UV-vis spectrum. Explain the origin of these transitions. </a:t>
            </a:r>
          </a:p>
        </p:txBody>
      </p:sp>
      <p:sp>
        <p:nvSpPr>
          <p:cNvPr id="5" name="TextBox 4">
            <a:extLst>
              <a:ext uri="{FF2B5EF4-FFF2-40B4-BE49-F238E27FC236}">
                <a16:creationId xmlns:a16="http://schemas.microsoft.com/office/drawing/2014/main" id="{64E23BDA-6E3D-3040-66B8-107118D575AB}"/>
              </a:ext>
            </a:extLst>
          </p:cNvPr>
          <p:cNvSpPr txBox="1"/>
          <p:nvPr/>
        </p:nvSpPr>
        <p:spPr>
          <a:xfrm>
            <a:off x="360690" y="4247003"/>
            <a:ext cx="11588375" cy="1754326"/>
          </a:xfrm>
          <a:prstGeom prst="rect">
            <a:avLst/>
          </a:prstGeom>
          <a:noFill/>
        </p:spPr>
        <p:txBody>
          <a:bodyPr wrap="square" rtlCol="0">
            <a:spAutoFit/>
          </a:bodyPr>
          <a:lstStyle/>
          <a:p>
            <a:pPr algn="just"/>
            <a:r>
              <a:rPr lang="en-US" sz="1800" dirty="0"/>
              <a:t>Answer: </a:t>
            </a:r>
          </a:p>
          <a:p>
            <a:pPr algn="just"/>
            <a:r>
              <a:rPr lang="en-US" sz="1800" dirty="0"/>
              <a:t>Because of the unequal filling of the t</a:t>
            </a:r>
            <a:r>
              <a:rPr lang="en-US" sz="1800" baseline="-25000" dirty="0"/>
              <a:t>2g</a:t>
            </a:r>
            <a:r>
              <a:rPr lang="en-US" sz="1800" dirty="0"/>
              <a:t> or </a:t>
            </a:r>
            <a:r>
              <a:rPr lang="en-US" sz="1800" dirty="0" err="1"/>
              <a:t>e</a:t>
            </a:r>
            <a:r>
              <a:rPr lang="en-US" sz="1800" baseline="-25000" dirty="0" err="1"/>
              <a:t>g</a:t>
            </a:r>
            <a:r>
              <a:rPr lang="en-US" sz="1800" dirty="0"/>
              <a:t> orbitals (in the case of the excited state), the splitting of </a:t>
            </a:r>
            <a:r>
              <a:rPr lang="en-US" sz="1800" i="1" dirty="0"/>
              <a:t>d</a:t>
            </a:r>
            <a:r>
              <a:rPr lang="en-US" sz="1800" dirty="0"/>
              <a:t>-orbitals occurs, shown in the right panel. Three possible electronic transitions can occur: </a:t>
            </a:r>
            <a:r>
              <a:rPr lang="en-US" sz="1800" dirty="0">
                <a:solidFill>
                  <a:srgbClr val="FF0000"/>
                </a:solidFill>
              </a:rPr>
              <a:t>a</a:t>
            </a:r>
            <a:r>
              <a:rPr lang="en-US" sz="1800" dirty="0"/>
              <a:t>, </a:t>
            </a:r>
            <a:r>
              <a:rPr lang="en-US" sz="1800" dirty="0">
                <a:solidFill>
                  <a:srgbClr val="FF0000"/>
                </a:solidFill>
              </a:rPr>
              <a:t>b</a:t>
            </a:r>
            <a:r>
              <a:rPr lang="en-US" sz="1800" dirty="0"/>
              <a:t>, and </a:t>
            </a:r>
            <a:r>
              <a:rPr lang="en-US" sz="1800" dirty="0">
                <a:solidFill>
                  <a:srgbClr val="FF0000"/>
                </a:solidFill>
              </a:rPr>
              <a:t>c</a:t>
            </a:r>
            <a:r>
              <a:rPr lang="en-US" sz="1800" dirty="0"/>
              <a:t>. Because of the lower energy gap, the transition </a:t>
            </a:r>
            <a:r>
              <a:rPr lang="en-US" sz="1800" dirty="0">
                <a:solidFill>
                  <a:srgbClr val="FF0000"/>
                </a:solidFill>
              </a:rPr>
              <a:t>c</a:t>
            </a:r>
            <a:r>
              <a:rPr lang="en-US" sz="1800" dirty="0"/>
              <a:t> falls in the infrared region (near-infrared region: ∼750-2500 nm or 13000-4000 cm</a:t>
            </a:r>
            <a:r>
              <a:rPr lang="en-US" sz="1800" baseline="30000" dirty="0"/>
              <a:t>−1</a:t>
            </a:r>
            <a:r>
              <a:rPr lang="en-US" sz="1800" dirty="0"/>
              <a:t>), and we don’t observe the peak. However, the other two peaks appear in the UV-vis region (200-1100 nm or 50000-9000 cm</a:t>
            </a:r>
            <a:r>
              <a:rPr lang="en-US" sz="1800" baseline="30000" dirty="0"/>
              <a:t>−1</a:t>
            </a:r>
            <a:r>
              <a:rPr lang="en-US" sz="1800" dirty="0"/>
              <a:t>), corresponding to two peaks at 13000 and 12500 cm</a:t>
            </a:r>
            <a:r>
              <a:rPr lang="en-US" sz="1800" baseline="30000" dirty="0"/>
              <a:t>−1</a:t>
            </a:r>
            <a:r>
              <a:rPr lang="en-US" sz="1800" dirty="0"/>
              <a:t>.</a:t>
            </a:r>
          </a:p>
        </p:txBody>
      </p:sp>
      <p:sp>
        <p:nvSpPr>
          <p:cNvPr id="23" name="TextBox 22">
            <a:extLst>
              <a:ext uri="{FF2B5EF4-FFF2-40B4-BE49-F238E27FC236}">
                <a16:creationId xmlns:a16="http://schemas.microsoft.com/office/drawing/2014/main" id="{42E019C3-6EF4-5198-36F5-B2B2E2A66B69}"/>
              </a:ext>
            </a:extLst>
          </p:cNvPr>
          <p:cNvSpPr txBox="1"/>
          <p:nvPr/>
        </p:nvSpPr>
        <p:spPr>
          <a:xfrm>
            <a:off x="3381155" y="1297426"/>
            <a:ext cx="4799970" cy="369331"/>
          </a:xfrm>
          <a:prstGeom prst="rect">
            <a:avLst/>
          </a:prstGeom>
          <a:noFill/>
        </p:spPr>
        <p:txBody>
          <a:bodyPr wrap="square" rtlCol="0">
            <a:spAutoFit/>
          </a:bodyPr>
          <a:lstStyle/>
          <a:p>
            <a:pPr algn="just"/>
            <a:r>
              <a:rPr lang="en-US" sz="1800" i="1" dirty="0"/>
              <a:t>d</a:t>
            </a:r>
            <a:r>
              <a:rPr lang="en-US" sz="1800" dirty="0"/>
              <a:t>-orbital splitting diagram of the Ti</a:t>
            </a:r>
            <a:r>
              <a:rPr lang="en-US" sz="1800" baseline="30000" dirty="0"/>
              <a:t>3+</a:t>
            </a:r>
            <a:r>
              <a:rPr lang="en-US" sz="1800" dirty="0"/>
              <a:t> complex</a:t>
            </a:r>
          </a:p>
        </p:txBody>
      </p:sp>
      <p:grpSp>
        <p:nvGrpSpPr>
          <p:cNvPr id="52" name="Group 51">
            <a:extLst>
              <a:ext uri="{FF2B5EF4-FFF2-40B4-BE49-F238E27FC236}">
                <a16:creationId xmlns:a16="http://schemas.microsoft.com/office/drawing/2014/main" id="{90860859-E573-EC8D-22D9-3F4D961053BD}"/>
              </a:ext>
            </a:extLst>
          </p:cNvPr>
          <p:cNvGrpSpPr/>
          <p:nvPr/>
        </p:nvGrpSpPr>
        <p:grpSpPr>
          <a:xfrm>
            <a:off x="3695334" y="1749256"/>
            <a:ext cx="3438492" cy="2133175"/>
            <a:chOff x="6305616" y="3442424"/>
            <a:chExt cx="3438492" cy="2133175"/>
          </a:xfrm>
        </p:grpSpPr>
        <p:cxnSp>
          <p:nvCxnSpPr>
            <p:cNvPr id="7" name="Straight Connector 6">
              <a:extLst>
                <a:ext uri="{FF2B5EF4-FFF2-40B4-BE49-F238E27FC236}">
                  <a16:creationId xmlns:a16="http://schemas.microsoft.com/office/drawing/2014/main" id="{FACC55B6-F43E-8F83-BB53-C993E8125D72}"/>
                </a:ext>
              </a:extLst>
            </p:cNvPr>
            <p:cNvCxnSpPr>
              <a:cxnSpLocks/>
            </p:cNvCxnSpPr>
            <p:nvPr/>
          </p:nvCxnSpPr>
          <p:spPr>
            <a:xfrm>
              <a:off x="8394329" y="4081355"/>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C7069736-9EAB-03C4-14F5-BD608A8EEEBA}"/>
                </a:ext>
              </a:extLst>
            </p:cNvPr>
            <p:cNvCxnSpPr>
              <a:cxnSpLocks/>
            </p:cNvCxnSpPr>
            <p:nvPr/>
          </p:nvCxnSpPr>
          <p:spPr>
            <a:xfrm flipV="1">
              <a:off x="6780944" y="4197770"/>
              <a:ext cx="0" cy="678958"/>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2921CE7D-3E0A-C2E4-5BAF-E6FA71730239}"/>
                </a:ext>
              </a:extLst>
            </p:cNvPr>
            <p:cNvCxnSpPr>
              <a:cxnSpLocks/>
            </p:cNvCxnSpPr>
            <p:nvPr/>
          </p:nvCxnSpPr>
          <p:spPr>
            <a:xfrm flipV="1">
              <a:off x="8216004" y="4931516"/>
              <a:ext cx="0" cy="3133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E6952E26-A837-09BA-0C0F-FF733AADF66A}"/>
                </a:ext>
              </a:extLst>
            </p:cNvPr>
            <p:cNvCxnSpPr>
              <a:cxnSpLocks/>
            </p:cNvCxnSpPr>
            <p:nvPr/>
          </p:nvCxnSpPr>
          <p:spPr>
            <a:xfrm>
              <a:off x="8433222" y="4612753"/>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1618D1-CD15-55C6-D6BF-99AF745EFC39}"/>
                </a:ext>
              </a:extLst>
            </p:cNvPr>
            <p:cNvCxnSpPr>
              <a:cxnSpLocks/>
            </p:cNvCxnSpPr>
            <p:nvPr/>
          </p:nvCxnSpPr>
          <p:spPr>
            <a:xfrm>
              <a:off x="8726108" y="5094425"/>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4D1D99C-82E5-21A7-E072-2EA23457CFCE}"/>
                </a:ext>
              </a:extLst>
            </p:cNvPr>
            <p:cNvCxnSpPr>
              <a:cxnSpLocks/>
            </p:cNvCxnSpPr>
            <p:nvPr/>
          </p:nvCxnSpPr>
          <p:spPr>
            <a:xfrm>
              <a:off x="8394329" y="3653417"/>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8834D59-C34D-8D6C-5200-2DDA9EDFBFEA}"/>
                </a:ext>
              </a:extLst>
            </p:cNvPr>
            <p:cNvCxnSpPr>
              <a:cxnSpLocks/>
            </p:cNvCxnSpPr>
            <p:nvPr/>
          </p:nvCxnSpPr>
          <p:spPr>
            <a:xfrm>
              <a:off x="8043885" y="5099635"/>
              <a:ext cx="468630" cy="0"/>
            </a:xfrm>
            <a:prstGeom prst="line">
              <a:avLst/>
            </a:prstGeom>
            <a:ln w="28575"/>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C52826FF-1DB9-91B7-3A11-AB979F7FC600}"/>
                </a:ext>
              </a:extLst>
            </p:cNvPr>
            <p:cNvSpPr txBox="1"/>
            <p:nvPr/>
          </p:nvSpPr>
          <p:spPr>
            <a:xfrm>
              <a:off x="8842005" y="3870322"/>
              <a:ext cx="474810" cy="369332"/>
            </a:xfrm>
            <a:prstGeom prst="rect">
              <a:avLst/>
            </a:prstGeom>
            <a:noFill/>
          </p:spPr>
          <p:txBody>
            <a:bodyPr wrap="none" rtlCol="0">
              <a:spAutoFit/>
            </a:bodyPr>
            <a:lstStyle/>
            <a:p>
              <a:r>
                <a:rPr lang="en-US" sz="1800" i="1" dirty="0"/>
                <a:t>d</a:t>
              </a:r>
              <a:r>
                <a:rPr lang="en-US" sz="1800" baseline="-25000" dirty="0"/>
                <a:t>z2</a:t>
              </a:r>
            </a:p>
          </p:txBody>
        </p:sp>
        <p:sp>
          <p:nvSpPr>
            <p:cNvPr id="18" name="TextBox 17">
              <a:extLst>
                <a:ext uri="{FF2B5EF4-FFF2-40B4-BE49-F238E27FC236}">
                  <a16:creationId xmlns:a16="http://schemas.microsoft.com/office/drawing/2014/main" id="{963D96A3-499D-C8C9-DD11-1A9F0408322E}"/>
                </a:ext>
              </a:extLst>
            </p:cNvPr>
            <p:cNvSpPr txBox="1"/>
            <p:nvPr/>
          </p:nvSpPr>
          <p:spPr>
            <a:xfrm>
              <a:off x="8850733" y="3442424"/>
              <a:ext cx="688009" cy="369332"/>
            </a:xfrm>
            <a:prstGeom prst="rect">
              <a:avLst/>
            </a:prstGeom>
            <a:noFill/>
          </p:spPr>
          <p:txBody>
            <a:bodyPr wrap="none" rtlCol="0">
              <a:spAutoFit/>
            </a:bodyPr>
            <a:lstStyle/>
            <a:p>
              <a:r>
                <a:rPr lang="en-US" sz="1800" i="1" dirty="0"/>
                <a:t>d</a:t>
              </a:r>
              <a:r>
                <a:rPr lang="en-US" sz="1800" baseline="-25000" dirty="0"/>
                <a:t>x2-y2</a:t>
              </a:r>
            </a:p>
          </p:txBody>
        </p:sp>
        <p:sp>
          <p:nvSpPr>
            <p:cNvPr id="19" name="TextBox 18">
              <a:extLst>
                <a:ext uri="{FF2B5EF4-FFF2-40B4-BE49-F238E27FC236}">
                  <a16:creationId xmlns:a16="http://schemas.microsoft.com/office/drawing/2014/main" id="{38AF9138-FD8E-9E4F-393E-3BD3A149642A}"/>
                </a:ext>
              </a:extLst>
            </p:cNvPr>
            <p:cNvSpPr txBox="1"/>
            <p:nvPr/>
          </p:nvSpPr>
          <p:spPr>
            <a:xfrm>
              <a:off x="8872041" y="4394850"/>
              <a:ext cx="466794" cy="369332"/>
            </a:xfrm>
            <a:prstGeom prst="rect">
              <a:avLst/>
            </a:prstGeom>
            <a:noFill/>
          </p:spPr>
          <p:txBody>
            <a:bodyPr wrap="none" rtlCol="0">
              <a:spAutoFit/>
            </a:bodyPr>
            <a:lstStyle/>
            <a:p>
              <a:r>
                <a:rPr lang="en-US" sz="1800" i="1" dirty="0" err="1"/>
                <a:t>d</a:t>
              </a:r>
              <a:r>
                <a:rPr lang="en-US" sz="1800" baseline="-25000" dirty="0" err="1"/>
                <a:t>xy</a:t>
              </a:r>
              <a:endParaRPr lang="en-US" sz="1800" baseline="-25000" dirty="0"/>
            </a:p>
          </p:txBody>
        </p:sp>
        <p:sp>
          <p:nvSpPr>
            <p:cNvPr id="20" name="TextBox 19">
              <a:extLst>
                <a:ext uri="{FF2B5EF4-FFF2-40B4-BE49-F238E27FC236}">
                  <a16:creationId xmlns:a16="http://schemas.microsoft.com/office/drawing/2014/main" id="{AFEA8EBB-ACC7-77A3-D0B7-AB8AF16279FB}"/>
                </a:ext>
              </a:extLst>
            </p:cNvPr>
            <p:cNvSpPr txBox="1"/>
            <p:nvPr/>
          </p:nvSpPr>
          <p:spPr>
            <a:xfrm>
              <a:off x="8786994" y="5167991"/>
              <a:ext cx="466794" cy="369332"/>
            </a:xfrm>
            <a:prstGeom prst="rect">
              <a:avLst/>
            </a:prstGeom>
            <a:noFill/>
          </p:spPr>
          <p:txBody>
            <a:bodyPr wrap="none" rtlCol="0">
              <a:spAutoFit/>
            </a:bodyPr>
            <a:lstStyle/>
            <a:p>
              <a:r>
                <a:rPr lang="en-US" sz="1800" i="1" dirty="0" err="1"/>
                <a:t>d</a:t>
              </a:r>
              <a:r>
                <a:rPr lang="en-US" sz="1800" baseline="-25000" dirty="0" err="1"/>
                <a:t>yz</a:t>
              </a:r>
              <a:endParaRPr lang="en-US" sz="1800" baseline="-25000" dirty="0"/>
            </a:p>
          </p:txBody>
        </p:sp>
        <p:sp>
          <p:nvSpPr>
            <p:cNvPr id="21" name="TextBox 20">
              <a:extLst>
                <a:ext uri="{FF2B5EF4-FFF2-40B4-BE49-F238E27FC236}">
                  <a16:creationId xmlns:a16="http://schemas.microsoft.com/office/drawing/2014/main" id="{59DB4AC8-3C3B-AF7E-9434-5F6A13F617D2}"/>
                </a:ext>
              </a:extLst>
            </p:cNvPr>
            <p:cNvSpPr txBox="1"/>
            <p:nvPr/>
          </p:nvSpPr>
          <p:spPr>
            <a:xfrm>
              <a:off x="8060680" y="5206267"/>
              <a:ext cx="466794" cy="369332"/>
            </a:xfrm>
            <a:prstGeom prst="rect">
              <a:avLst/>
            </a:prstGeom>
            <a:noFill/>
          </p:spPr>
          <p:txBody>
            <a:bodyPr wrap="none" rtlCol="0">
              <a:spAutoFit/>
            </a:bodyPr>
            <a:lstStyle/>
            <a:p>
              <a:r>
                <a:rPr lang="en-US" sz="1800" i="1" dirty="0" err="1"/>
                <a:t>d</a:t>
              </a:r>
              <a:r>
                <a:rPr lang="en-US" sz="1800" baseline="-25000" dirty="0" err="1"/>
                <a:t>xz</a:t>
              </a:r>
              <a:endParaRPr lang="en-US" sz="1800" baseline="-25000" dirty="0"/>
            </a:p>
          </p:txBody>
        </p:sp>
        <p:sp>
          <p:nvSpPr>
            <p:cNvPr id="22" name="TextBox 21">
              <a:extLst>
                <a:ext uri="{FF2B5EF4-FFF2-40B4-BE49-F238E27FC236}">
                  <a16:creationId xmlns:a16="http://schemas.microsoft.com/office/drawing/2014/main" id="{8C7CFAE4-43F9-A42D-BDEB-8561DB75D7F7}"/>
                </a:ext>
              </a:extLst>
            </p:cNvPr>
            <p:cNvSpPr txBox="1"/>
            <p:nvPr/>
          </p:nvSpPr>
          <p:spPr>
            <a:xfrm>
              <a:off x="6305616" y="4798659"/>
              <a:ext cx="915635" cy="369332"/>
            </a:xfrm>
            <a:prstGeom prst="rect">
              <a:avLst/>
            </a:prstGeom>
            <a:noFill/>
          </p:spPr>
          <p:txBody>
            <a:bodyPr wrap="none" rtlCol="0">
              <a:spAutoFit/>
            </a:bodyPr>
            <a:lstStyle/>
            <a:p>
              <a:r>
                <a:rPr lang="en-US" sz="1800" dirty="0"/>
                <a:t>Energy</a:t>
              </a:r>
            </a:p>
          </p:txBody>
        </p:sp>
        <p:cxnSp>
          <p:nvCxnSpPr>
            <p:cNvPr id="28" name="Straight Connector 27">
              <a:extLst>
                <a:ext uri="{FF2B5EF4-FFF2-40B4-BE49-F238E27FC236}">
                  <a16:creationId xmlns:a16="http://schemas.microsoft.com/office/drawing/2014/main" id="{812827B0-290F-4923-11AD-B22B8B142F42}"/>
                </a:ext>
              </a:extLst>
            </p:cNvPr>
            <p:cNvCxnSpPr>
              <a:cxnSpLocks/>
            </p:cNvCxnSpPr>
            <p:nvPr/>
          </p:nvCxnSpPr>
          <p:spPr>
            <a:xfrm>
              <a:off x="7299088" y="4839517"/>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8AFC4C00-36EF-EF48-C19C-3ED02843053B}"/>
                </a:ext>
              </a:extLst>
            </p:cNvPr>
            <p:cNvCxnSpPr>
              <a:cxnSpLocks/>
            </p:cNvCxnSpPr>
            <p:nvPr/>
          </p:nvCxnSpPr>
          <p:spPr>
            <a:xfrm>
              <a:off x="7298405" y="4787193"/>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85B1F1C4-AA42-FBEF-03DB-448BF9627300}"/>
                </a:ext>
              </a:extLst>
            </p:cNvPr>
            <p:cNvCxnSpPr>
              <a:cxnSpLocks/>
            </p:cNvCxnSpPr>
            <p:nvPr/>
          </p:nvCxnSpPr>
          <p:spPr>
            <a:xfrm>
              <a:off x="7302461" y="3899068"/>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5FC452DE-7D16-32A7-5ACB-6A24BCB8E895}"/>
                </a:ext>
              </a:extLst>
            </p:cNvPr>
            <p:cNvCxnSpPr>
              <a:cxnSpLocks/>
            </p:cNvCxnSpPr>
            <p:nvPr/>
          </p:nvCxnSpPr>
          <p:spPr>
            <a:xfrm>
              <a:off x="7298405" y="3849915"/>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0A981110-5376-C9B4-B01A-4134F4174C24}"/>
                </a:ext>
              </a:extLst>
            </p:cNvPr>
            <p:cNvCxnSpPr>
              <a:cxnSpLocks/>
            </p:cNvCxnSpPr>
            <p:nvPr/>
          </p:nvCxnSpPr>
          <p:spPr>
            <a:xfrm>
              <a:off x="7300743" y="4893649"/>
              <a:ext cx="46863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DE4C1663-402D-1A65-7CC5-3A282AF27364}"/>
                </a:ext>
              </a:extLst>
            </p:cNvPr>
            <p:cNvCxnSpPr/>
            <p:nvPr/>
          </p:nvCxnSpPr>
          <p:spPr>
            <a:xfrm flipV="1">
              <a:off x="7783551" y="3653417"/>
              <a:ext cx="610778" cy="216905"/>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0582B1C-4D62-6EB6-8D50-278C63B6844D}"/>
                </a:ext>
              </a:extLst>
            </p:cNvPr>
            <p:cNvCxnSpPr>
              <a:cxnSpLocks/>
            </p:cNvCxnSpPr>
            <p:nvPr/>
          </p:nvCxnSpPr>
          <p:spPr>
            <a:xfrm>
              <a:off x="7788439" y="3875305"/>
              <a:ext cx="602983" cy="20605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0E49E6-8220-66D9-2520-3338F652A3B2}"/>
                </a:ext>
              </a:extLst>
            </p:cNvPr>
            <p:cNvCxnSpPr>
              <a:cxnSpLocks/>
            </p:cNvCxnSpPr>
            <p:nvPr/>
          </p:nvCxnSpPr>
          <p:spPr>
            <a:xfrm flipV="1">
              <a:off x="7794980" y="4617643"/>
              <a:ext cx="607855" cy="231124"/>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0F097D6-601B-8EE4-A425-B90FC2E6F4D1}"/>
                </a:ext>
              </a:extLst>
            </p:cNvPr>
            <p:cNvCxnSpPr>
              <a:cxnSpLocks/>
            </p:cNvCxnSpPr>
            <p:nvPr/>
          </p:nvCxnSpPr>
          <p:spPr>
            <a:xfrm>
              <a:off x="7796462" y="4855471"/>
              <a:ext cx="233840" cy="232734"/>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D6E1208-CC43-975F-4FAC-F96E475CCCF0}"/>
                </a:ext>
              </a:extLst>
            </p:cNvPr>
            <p:cNvSpPr txBox="1"/>
            <p:nvPr/>
          </p:nvSpPr>
          <p:spPr>
            <a:xfrm>
              <a:off x="7364847" y="4920763"/>
              <a:ext cx="418704" cy="369332"/>
            </a:xfrm>
            <a:prstGeom prst="rect">
              <a:avLst/>
            </a:prstGeom>
            <a:noFill/>
          </p:spPr>
          <p:txBody>
            <a:bodyPr wrap="none" rtlCol="0">
              <a:spAutoFit/>
            </a:bodyPr>
            <a:lstStyle/>
            <a:p>
              <a:r>
                <a:rPr lang="en-US" sz="1800" dirty="0"/>
                <a:t>t</a:t>
              </a:r>
              <a:r>
                <a:rPr lang="en-US" sz="1800" baseline="-25000" dirty="0"/>
                <a:t>2g</a:t>
              </a:r>
            </a:p>
          </p:txBody>
        </p:sp>
        <p:sp>
          <p:nvSpPr>
            <p:cNvPr id="44" name="TextBox 43">
              <a:extLst>
                <a:ext uri="{FF2B5EF4-FFF2-40B4-BE49-F238E27FC236}">
                  <a16:creationId xmlns:a16="http://schemas.microsoft.com/office/drawing/2014/main" id="{5284A19E-8BED-C201-ACC8-1BC131290694}"/>
                </a:ext>
              </a:extLst>
            </p:cNvPr>
            <p:cNvSpPr txBox="1"/>
            <p:nvPr/>
          </p:nvSpPr>
          <p:spPr>
            <a:xfrm>
              <a:off x="7364847" y="3453518"/>
              <a:ext cx="397866" cy="369332"/>
            </a:xfrm>
            <a:prstGeom prst="rect">
              <a:avLst/>
            </a:prstGeom>
            <a:noFill/>
          </p:spPr>
          <p:txBody>
            <a:bodyPr wrap="none" rtlCol="0">
              <a:spAutoFit/>
            </a:bodyPr>
            <a:lstStyle/>
            <a:p>
              <a:r>
                <a:rPr lang="en-US" sz="1800" dirty="0" err="1"/>
                <a:t>e</a:t>
              </a:r>
              <a:r>
                <a:rPr lang="en-US" sz="1800" baseline="-25000" dirty="0" err="1"/>
                <a:t>g</a:t>
              </a:r>
              <a:endParaRPr lang="en-US" sz="1800" baseline="-25000" dirty="0"/>
            </a:p>
          </p:txBody>
        </p:sp>
        <p:cxnSp>
          <p:nvCxnSpPr>
            <p:cNvPr id="45" name="Straight Arrow Connector 44">
              <a:extLst>
                <a:ext uri="{FF2B5EF4-FFF2-40B4-BE49-F238E27FC236}">
                  <a16:creationId xmlns:a16="http://schemas.microsoft.com/office/drawing/2014/main" id="{46C9A115-B655-6CC0-EE04-9EACEA62CDD7}"/>
                </a:ext>
              </a:extLst>
            </p:cNvPr>
            <p:cNvCxnSpPr>
              <a:cxnSpLocks/>
            </p:cNvCxnSpPr>
            <p:nvPr/>
          </p:nvCxnSpPr>
          <p:spPr>
            <a:xfrm flipV="1">
              <a:off x="7532720" y="4630504"/>
              <a:ext cx="0" cy="3133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045FD667-8E26-471B-D077-179758A6A21C}"/>
                </a:ext>
              </a:extLst>
            </p:cNvPr>
            <p:cNvCxnSpPr/>
            <p:nvPr/>
          </p:nvCxnSpPr>
          <p:spPr>
            <a:xfrm flipV="1">
              <a:off x="9744108" y="3659328"/>
              <a:ext cx="0" cy="144621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8A2753D-8D23-879A-8EC6-71EC8DC1EBA9}"/>
                </a:ext>
              </a:extLst>
            </p:cNvPr>
            <p:cNvCxnSpPr>
              <a:cxnSpLocks/>
            </p:cNvCxnSpPr>
            <p:nvPr/>
          </p:nvCxnSpPr>
          <p:spPr>
            <a:xfrm flipV="1">
              <a:off x="9567657" y="4097844"/>
              <a:ext cx="0" cy="10080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F36ADEA-D41A-5D4F-9D25-BA8E4154EB9B}"/>
                </a:ext>
              </a:extLst>
            </p:cNvPr>
            <p:cNvCxnSpPr>
              <a:cxnSpLocks/>
            </p:cNvCxnSpPr>
            <p:nvPr/>
          </p:nvCxnSpPr>
          <p:spPr>
            <a:xfrm flipV="1">
              <a:off x="9365214" y="4579516"/>
              <a:ext cx="0" cy="5149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B74961B1-80AE-FCC0-CBB6-5CCFEB2457E9}"/>
              </a:ext>
            </a:extLst>
          </p:cNvPr>
          <p:cNvSpPr txBox="1"/>
          <p:nvPr/>
        </p:nvSpPr>
        <p:spPr>
          <a:xfrm>
            <a:off x="6998992" y="3367060"/>
            <a:ext cx="312906" cy="369332"/>
          </a:xfrm>
          <a:prstGeom prst="rect">
            <a:avLst/>
          </a:prstGeom>
          <a:noFill/>
        </p:spPr>
        <p:txBody>
          <a:bodyPr wrap="none" rtlCol="0">
            <a:spAutoFit/>
          </a:bodyPr>
          <a:lstStyle/>
          <a:p>
            <a:r>
              <a:rPr lang="en-US" sz="1800" dirty="0">
                <a:solidFill>
                  <a:srgbClr val="FF0000"/>
                </a:solidFill>
              </a:rPr>
              <a:t>a</a:t>
            </a:r>
          </a:p>
        </p:txBody>
      </p:sp>
      <p:sp>
        <p:nvSpPr>
          <p:cNvPr id="54" name="TextBox 53">
            <a:extLst>
              <a:ext uri="{FF2B5EF4-FFF2-40B4-BE49-F238E27FC236}">
                <a16:creationId xmlns:a16="http://schemas.microsoft.com/office/drawing/2014/main" id="{31CFB3C2-EB30-A8F4-4983-079FC1CE337E}"/>
              </a:ext>
            </a:extLst>
          </p:cNvPr>
          <p:cNvSpPr txBox="1"/>
          <p:nvPr/>
        </p:nvSpPr>
        <p:spPr>
          <a:xfrm>
            <a:off x="6832666" y="3367060"/>
            <a:ext cx="312906" cy="369332"/>
          </a:xfrm>
          <a:prstGeom prst="rect">
            <a:avLst/>
          </a:prstGeom>
          <a:noFill/>
        </p:spPr>
        <p:txBody>
          <a:bodyPr wrap="none" rtlCol="0">
            <a:spAutoFit/>
          </a:bodyPr>
          <a:lstStyle/>
          <a:p>
            <a:r>
              <a:rPr lang="en-US" sz="1800" dirty="0">
                <a:solidFill>
                  <a:srgbClr val="FF0000"/>
                </a:solidFill>
              </a:rPr>
              <a:t>b</a:t>
            </a:r>
          </a:p>
        </p:txBody>
      </p:sp>
      <p:sp>
        <p:nvSpPr>
          <p:cNvPr id="55" name="TextBox 54">
            <a:extLst>
              <a:ext uri="{FF2B5EF4-FFF2-40B4-BE49-F238E27FC236}">
                <a16:creationId xmlns:a16="http://schemas.microsoft.com/office/drawing/2014/main" id="{57EE970C-20F9-6A0F-406A-7F330FD091DC}"/>
              </a:ext>
            </a:extLst>
          </p:cNvPr>
          <p:cNvSpPr txBox="1"/>
          <p:nvPr/>
        </p:nvSpPr>
        <p:spPr>
          <a:xfrm>
            <a:off x="6606438" y="3367060"/>
            <a:ext cx="300082" cy="369332"/>
          </a:xfrm>
          <a:prstGeom prst="rect">
            <a:avLst/>
          </a:prstGeom>
          <a:noFill/>
        </p:spPr>
        <p:txBody>
          <a:bodyPr wrap="none" rtlCol="0">
            <a:spAutoFit/>
          </a:bodyPr>
          <a:lstStyle/>
          <a:p>
            <a:r>
              <a:rPr lang="en-US" sz="1800" dirty="0">
                <a:solidFill>
                  <a:srgbClr val="FF0000"/>
                </a:solidFill>
              </a:rPr>
              <a:t>c</a:t>
            </a:r>
          </a:p>
        </p:txBody>
      </p:sp>
    </p:spTree>
    <p:extLst>
      <p:ext uri="{BB962C8B-B14F-4D97-AF65-F5344CB8AC3E}">
        <p14:creationId xmlns:p14="http://schemas.microsoft.com/office/powerpoint/2010/main" val="802157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799" y="269595"/>
            <a:ext cx="11395587" cy="1200329"/>
          </a:xfrm>
          <a:prstGeom prst="rect">
            <a:avLst/>
          </a:prstGeom>
        </p:spPr>
        <p:txBody>
          <a:bodyPr wrap="square">
            <a:spAutoFit/>
          </a:bodyPr>
          <a:lstStyle/>
          <a:p>
            <a:r>
              <a:rPr lang="en-US" sz="2400" b="1" dirty="0">
                <a:solidFill>
                  <a:srgbClr val="FF0000"/>
                </a:solidFill>
                <a:latin typeface="Times New Roman" panose="02020603050405020304" pitchFamily="18" charset="0"/>
                <a:ea typeface="Calibri" panose="020F0502020204030204" pitchFamily="34" charset="0"/>
              </a:rPr>
              <a:t>(4) The value of </a:t>
            </a:r>
            <a:r>
              <a:rPr lang="en-US" sz="2400" b="1" dirty="0">
                <a:solidFill>
                  <a:srgbClr val="FF0000"/>
                </a:solidFill>
                <a:latin typeface="Cambria Math" panose="02040503050406030204" pitchFamily="18" charset="0"/>
                <a:ea typeface="Calibri" panose="020F0502020204030204" pitchFamily="34" charset="0"/>
                <a:cs typeface="Cambria Math" panose="02040503050406030204" pitchFamily="18" charset="0"/>
              </a:rPr>
              <a:t>𝝐</a:t>
            </a:r>
            <a:r>
              <a:rPr lang="en-US" sz="2400" b="1" baseline="-25000" dirty="0">
                <a:solidFill>
                  <a:srgbClr val="FF0000"/>
                </a:solidFill>
                <a:latin typeface="Times New Roman" panose="02020603050405020304" pitchFamily="18" charset="0"/>
                <a:ea typeface="Calibri" panose="020F0502020204030204" pitchFamily="34" charset="0"/>
              </a:rPr>
              <a:t>max</a:t>
            </a:r>
            <a:r>
              <a:rPr lang="en-US" sz="2400" b="1" dirty="0">
                <a:solidFill>
                  <a:srgbClr val="FF0000"/>
                </a:solidFill>
                <a:latin typeface="Times New Roman" panose="02020603050405020304" pitchFamily="18" charset="0"/>
                <a:ea typeface="Calibri" panose="020F0502020204030204" pitchFamily="34" charset="0"/>
              </a:rPr>
              <a:t> in the electronic spectra of [CuCl</a:t>
            </a:r>
            <a:r>
              <a:rPr lang="en-US" sz="2400" b="1" baseline="-25000" dirty="0">
                <a:solidFill>
                  <a:srgbClr val="FF0000"/>
                </a:solidFill>
                <a:latin typeface="Times New Roman" panose="02020603050405020304" pitchFamily="18" charset="0"/>
                <a:ea typeface="Calibri" panose="020F0502020204030204" pitchFamily="34" charset="0"/>
              </a:rPr>
              <a:t>4</a:t>
            </a:r>
            <a:r>
              <a:rPr lang="en-US" sz="2400" b="1" dirty="0">
                <a:solidFill>
                  <a:srgbClr val="FF0000"/>
                </a:solidFill>
                <a:latin typeface="Times New Roman" panose="02020603050405020304" pitchFamily="18" charset="0"/>
                <a:ea typeface="Calibri" panose="020F0502020204030204" pitchFamily="34" charset="0"/>
              </a:rPr>
              <a:t>]</a:t>
            </a:r>
            <a:r>
              <a:rPr lang="en-US" sz="2400" b="1" baseline="30000" dirty="0">
                <a:solidFill>
                  <a:srgbClr val="FF0000"/>
                </a:solidFill>
                <a:latin typeface="Times New Roman" panose="02020603050405020304" pitchFamily="18" charset="0"/>
                <a:ea typeface="Calibri" panose="020F0502020204030204" pitchFamily="34" charset="0"/>
              </a:rPr>
              <a:t>2−</a:t>
            </a:r>
            <a:r>
              <a:rPr lang="en-US" sz="2400" b="1" dirty="0">
                <a:solidFill>
                  <a:srgbClr val="FF0000"/>
                </a:solidFill>
                <a:latin typeface="Times New Roman" panose="02020603050405020304" pitchFamily="18" charset="0"/>
                <a:ea typeface="Calibri" panose="020F0502020204030204" pitchFamily="34" charset="0"/>
              </a:rPr>
              <a:t> and [Cu(OH</a:t>
            </a:r>
            <a:r>
              <a:rPr lang="en-US" sz="2400" b="1" baseline="-25000" dirty="0">
                <a:solidFill>
                  <a:srgbClr val="FF0000"/>
                </a:solidFill>
                <a:latin typeface="Times New Roman" panose="02020603050405020304" pitchFamily="18" charset="0"/>
                <a:ea typeface="Calibri" panose="020F0502020204030204" pitchFamily="34" charset="0"/>
              </a:rPr>
              <a:t>2</a:t>
            </a:r>
            <a:r>
              <a:rPr lang="en-US" sz="2400" b="1" dirty="0">
                <a:solidFill>
                  <a:srgbClr val="FF0000"/>
                </a:solidFill>
                <a:latin typeface="Times New Roman" panose="02020603050405020304" pitchFamily="18" charset="0"/>
                <a:ea typeface="Calibri" panose="020F0502020204030204" pitchFamily="34" charset="0"/>
              </a:rPr>
              <a:t>)</a:t>
            </a:r>
            <a:r>
              <a:rPr lang="en-US" sz="2400" b="1" baseline="-25000" dirty="0">
                <a:solidFill>
                  <a:srgbClr val="FF0000"/>
                </a:solidFill>
                <a:latin typeface="Times New Roman" panose="02020603050405020304" pitchFamily="18" charset="0"/>
                <a:ea typeface="Calibri" panose="020F0502020204030204" pitchFamily="34" charset="0"/>
              </a:rPr>
              <a:t>6</a:t>
            </a:r>
            <a:r>
              <a:rPr lang="en-US" sz="2400" b="1" dirty="0">
                <a:solidFill>
                  <a:srgbClr val="FF0000"/>
                </a:solidFill>
                <a:latin typeface="Times New Roman" panose="02020603050405020304" pitchFamily="18" charset="0"/>
                <a:ea typeface="Calibri" panose="020F0502020204030204" pitchFamily="34" charset="0"/>
              </a:rPr>
              <a:t>]</a:t>
            </a:r>
            <a:r>
              <a:rPr lang="en-US" sz="2400" b="1" baseline="30000" dirty="0">
                <a:solidFill>
                  <a:srgbClr val="FF0000"/>
                </a:solidFill>
                <a:latin typeface="Times New Roman" panose="02020603050405020304" pitchFamily="18" charset="0"/>
                <a:ea typeface="Calibri" panose="020F0502020204030204" pitchFamily="34" charset="0"/>
              </a:rPr>
              <a:t>2+</a:t>
            </a:r>
            <a:r>
              <a:rPr lang="en-US" sz="2400" b="1" dirty="0">
                <a:solidFill>
                  <a:srgbClr val="FF0000"/>
                </a:solidFill>
                <a:latin typeface="Times New Roman" panose="02020603050405020304" pitchFamily="18" charset="0"/>
                <a:ea typeface="Calibri" panose="020F0502020204030204" pitchFamily="34" charset="0"/>
              </a:rPr>
              <a:t> differ by a factor of about 100. Comment on this observation and state which complex you expect to exhibit the larger value of </a:t>
            </a:r>
            <a:r>
              <a:rPr lang="en-US" sz="2400" b="1" dirty="0">
                <a:solidFill>
                  <a:srgbClr val="FF0000"/>
                </a:solidFill>
                <a:latin typeface="Cambria Math" panose="02040503050406030204" pitchFamily="18" charset="0"/>
                <a:ea typeface="Calibri" panose="020F0502020204030204" pitchFamily="34" charset="0"/>
                <a:cs typeface="Cambria Math" panose="02040503050406030204" pitchFamily="18" charset="0"/>
              </a:rPr>
              <a:t>𝝐</a:t>
            </a:r>
            <a:r>
              <a:rPr lang="en-US" sz="2400" b="1" baseline="-25000" dirty="0">
                <a:solidFill>
                  <a:srgbClr val="FF0000"/>
                </a:solidFill>
                <a:latin typeface="Times New Roman" panose="02020603050405020304" pitchFamily="18" charset="0"/>
                <a:ea typeface="Calibri" panose="020F0502020204030204" pitchFamily="34" charset="0"/>
              </a:rPr>
              <a:t>max</a:t>
            </a:r>
            <a:r>
              <a:rPr lang="en-US" sz="2400" b="1" dirty="0">
                <a:solidFill>
                  <a:srgbClr val="FF0000"/>
                </a:solidFill>
                <a:latin typeface="Times New Roman" panose="02020603050405020304" pitchFamily="18" charset="0"/>
                <a:ea typeface="Calibri" panose="020F0502020204030204" pitchFamily="34" charset="0"/>
              </a:rPr>
              <a:t>. </a:t>
            </a:r>
            <a:r>
              <a:rPr lang="en-US" sz="2400" b="1" dirty="0">
                <a:solidFill>
                  <a:srgbClr val="00B0F0"/>
                </a:solidFill>
                <a:latin typeface="Times New Roman" panose="02020603050405020304" pitchFamily="18" charset="0"/>
                <a:ea typeface="Calibri" panose="020F0502020204030204" pitchFamily="34" charset="0"/>
              </a:rPr>
              <a:t>(previous year question)</a:t>
            </a:r>
            <a:endParaRPr lang="en-IN" sz="2400" dirty="0">
              <a:solidFill>
                <a:srgbClr val="00B0F0"/>
              </a:solidFill>
            </a:endParaRPr>
          </a:p>
        </p:txBody>
      </p:sp>
      <p:sp>
        <p:nvSpPr>
          <p:cNvPr id="5" name="Rectangle 4"/>
          <p:cNvSpPr/>
          <p:nvPr/>
        </p:nvSpPr>
        <p:spPr>
          <a:xfrm>
            <a:off x="98322" y="1798508"/>
            <a:ext cx="11405420" cy="4373505"/>
          </a:xfrm>
          <a:prstGeom prst="rect">
            <a:avLst/>
          </a:prstGeom>
        </p:spPr>
        <p:txBody>
          <a:bodyPr wrap="square">
            <a:spAutoFit/>
          </a:bodyPr>
          <a:lstStyle/>
          <a:p>
            <a:pPr marL="457200">
              <a:lnSpc>
                <a:spcPct val="107000"/>
              </a:lnSpc>
              <a:spcAft>
                <a:spcPts val="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Both the complex contain Cu</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2+ </a:t>
            </a:r>
            <a:r>
              <a:rPr lang="en-US" sz="2000" dirty="0">
                <a:latin typeface="Times New Roman" panose="02020603050405020304" pitchFamily="18" charset="0"/>
                <a:ea typeface="Calibri" panose="020F0502020204030204" pitchFamily="34" charset="0"/>
                <a:cs typeface="Times New Roman" panose="02020603050405020304" pitchFamily="18" charset="0"/>
              </a:rPr>
              <a:t>ion and it is d</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9</a:t>
            </a:r>
            <a:r>
              <a:rPr lang="en-US" sz="2000" dirty="0">
                <a:latin typeface="Times New Roman" panose="02020603050405020304" pitchFamily="18" charset="0"/>
                <a:ea typeface="Calibri" panose="020F0502020204030204" pitchFamily="34" charset="0"/>
                <a:cs typeface="Times New Roman" panose="02020603050405020304" pitchFamily="18" charset="0"/>
              </a:rPr>
              <a:t> system. </a:t>
            </a:r>
          </a:p>
          <a:p>
            <a:pPr marL="457200">
              <a:lnSpc>
                <a:spcPct val="107000"/>
              </a:lnSpc>
              <a:spcAft>
                <a:spcPts val="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p>
          <a:p>
            <a:pPr marL="457200">
              <a:lnSpc>
                <a:spcPct val="107000"/>
              </a:lnSpc>
              <a:spcAft>
                <a:spcPts val="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[CuCl</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2− </a:t>
            </a:r>
            <a:r>
              <a:rPr lang="en-US" sz="2000" dirty="0">
                <a:latin typeface="Times New Roman" panose="02020603050405020304" pitchFamily="18" charset="0"/>
                <a:ea typeface="Calibri" panose="020F0502020204030204" pitchFamily="34" charset="0"/>
                <a:cs typeface="Times New Roman" panose="02020603050405020304" pitchFamily="18" charset="0"/>
              </a:rPr>
              <a:t>results spin-allowed and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Laporte</a:t>
            </a:r>
            <a:r>
              <a:rPr lang="en-US" sz="2000" dirty="0">
                <a:latin typeface="Times New Roman" panose="02020603050405020304" pitchFamily="18" charset="0"/>
                <a:ea typeface="Calibri" panose="020F0502020204030204" pitchFamily="34" charset="0"/>
                <a:cs typeface="Times New Roman" panose="02020603050405020304" pitchFamily="18" charset="0"/>
              </a:rPr>
              <a:t> allowed </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 transitions.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[Cu(OH</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results spin-allowed and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Laporte</a:t>
            </a:r>
            <a:r>
              <a:rPr lang="en-US" sz="2000" dirty="0">
                <a:latin typeface="Times New Roman" panose="02020603050405020304" pitchFamily="18" charset="0"/>
                <a:ea typeface="Calibri" panose="020F0502020204030204" pitchFamily="34" charset="0"/>
                <a:cs typeface="Times New Roman" panose="02020603050405020304" pitchFamily="18" charset="0"/>
              </a:rPr>
              <a:t> forbidden </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 transitions. </a:t>
            </a:r>
            <a:endParaRPr lang="en-US"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spcAft>
                <a:spcPts val="0"/>
              </a:spcAft>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Unlike the octahedral case, in a tetrahedral complex the metal </a:t>
            </a:r>
            <a:r>
              <a:rPr lang="en-US" sz="2000" i="1" dirty="0">
                <a:latin typeface="Times New Roman" panose="02020603050405020304" pitchFamily="18" charset="0"/>
                <a:ea typeface="Calibri" panose="020F0502020204030204" pitchFamily="34" charset="0"/>
                <a:cs typeface="Times New Roman" panose="02020603050405020304" pitchFamily="18" charset="0"/>
              </a:rPr>
              <a:t>p</a:t>
            </a:r>
            <a:r>
              <a:rPr lang="en-US" sz="2000" dirty="0">
                <a:latin typeface="Times New Roman" panose="02020603050405020304" pitchFamily="18" charset="0"/>
                <a:ea typeface="Calibri" panose="020F0502020204030204" pitchFamily="34" charset="0"/>
                <a:cs typeface="Times New Roman" panose="02020603050405020304" pitchFamily="18" charset="0"/>
              </a:rPr>
              <a:t> orbitals have the same symmetry (</a:t>
            </a:r>
            <a:r>
              <a:rPr lang="en-US" sz="2000" i="1" dirty="0">
                <a:latin typeface="Times New Roman" panose="02020603050405020304" pitchFamily="18" charset="0"/>
                <a:ea typeface="Calibri" panose="020F0502020204030204" pitchFamily="34" charset="0"/>
                <a:cs typeface="Times New Roman" panose="02020603050405020304" pitchFamily="18" charset="0"/>
              </a:rPr>
              <a:t>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as do the metal </a:t>
            </a:r>
            <a:r>
              <a:rPr lang="en-US" sz="2000" i="1" dirty="0" err="1">
                <a:latin typeface="Times New Roman" panose="02020603050405020304" pitchFamily="18" charset="0"/>
                <a:ea typeface="Calibri" panose="020F0502020204030204" pitchFamily="34" charset="0"/>
                <a:cs typeface="Times New Roman" panose="02020603050405020304" pitchFamily="18" charset="0"/>
              </a:rPr>
              <a:t>d</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xy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i="1" dirty="0" err="1">
                <a:latin typeface="Times New Roman" panose="02020603050405020304" pitchFamily="18" charset="0"/>
                <a:ea typeface="Calibri" panose="020F0502020204030204" pitchFamily="34" charset="0"/>
                <a:cs typeface="Times New Roman" panose="02020603050405020304" pitchFamily="18" charset="0"/>
              </a:rPr>
              <a:t>d</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yz</a:t>
            </a:r>
            <a:r>
              <a:rPr lang="en-US" sz="2000" dirty="0">
                <a:latin typeface="Times New Roman" panose="02020603050405020304" pitchFamily="18" charset="0"/>
                <a:ea typeface="Calibri" panose="020F0502020204030204" pitchFamily="34" charset="0"/>
                <a:cs typeface="Times New Roman" panose="02020603050405020304" pitchFamily="18" charset="0"/>
              </a:rPr>
              <a:t>, and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a:t>
            </a:r>
            <a:r>
              <a:rPr lang="en-US" sz="2000" baseline="-25000" dirty="0" err="1">
                <a:latin typeface="Times New Roman" panose="02020603050405020304" pitchFamily="18" charset="0"/>
                <a:ea typeface="Calibri" panose="020F0502020204030204" pitchFamily="34" charset="0"/>
                <a:cs typeface="Times New Roman" panose="02020603050405020304" pitchFamily="18" charset="0"/>
              </a:rPr>
              <a:t>zx</a:t>
            </a:r>
            <a:r>
              <a:rPr lang="en-US" sz="2000" dirty="0">
                <a:latin typeface="Times New Roman" panose="02020603050405020304" pitchFamily="18" charset="0"/>
                <a:ea typeface="Calibri" panose="020F0502020204030204" pitchFamily="34" charset="0"/>
                <a:cs typeface="Times New Roman" panose="02020603050405020304" pitchFamily="18" charset="0"/>
              </a:rPr>
              <a:t> orbitals. Because they are of the same symmetry, the </a:t>
            </a:r>
            <a:r>
              <a:rPr lang="en-US" sz="2000" i="1" dirty="0">
                <a:latin typeface="Times New Roman" panose="02020603050405020304" pitchFamily="18" charset="0"/>
                <a:ea typeface="Calibri" panose="020F0502020204030204" pitchFamily="34" charset="0"/>
                <a:cs typeface="Times New Roman" panose="02020603050405020304" pitchFamily="18" charset="0"/>
              </a:rPr>
              <a:t>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set of </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 orbitals will be mixed by the crystal field with the metal p orbitals. This in turn means that an e→</a:t>
            </a:r>
            <a:r>
              <a:rPr lang="en-US" sz="2000" i="1" dirty="0">
                <a:latin typeface="Times New Roman" panose="02020603050405020304" pitchFamily="18" charset="0"/>
                <a:ea typeface="Calibri" panose="020F0502020204030204" pitchFamily="34" charset="0"/>
                <a:cs typeface="Times New Roman" panose="02020603050405020304" pitchFamily="18" charset="0"/>
              </a:rPr>
              <a:t>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transition contains some </a:t>
            </a:r>
            <a:r>
              <a:rPr lang="en-US" sz="2000" i="1" dirty="0">
                <a:latin typeface="Times New Roman" panose="02020603050405020304" pitchFamily="18" charset="0"/>
                <a:ea typeface="Calibri" panose="020F0502020204030204" pitchFamily="34" charset="0"/>
                <a:cs typeface="Times New Roman" panose="02020603050405020304" pitchFamily="18" charset="0"/>
              </a:rPr>
              <a:t>d</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i="1" dirty="0">
                <a:latin typeface="Times New Roman" panose="02020603050405020304" pitchFamily="18" charset="0"/>
                <a:ea typeface="Calibri" panose="020F0502020204030204" pitchFamily="34" charset="0"/>
                <a:cs typeface="Times New Roman" panose="02020603050405020304" pitchFamily="18" charset="0"/>
              </a:rPr>
              <a:t>p</a:t>
            </a:r>
            <a:r>
              <a:rPr lang="en-US" sz="2000" dirty="0">
                <a:latin typeface="Times New Roman" panose="02020603050405020304" pitchFamily="18" charset="0"/>
                <a:ea typeface="Calibri" panose="020F0502020204030204" pitchFamily="34" charset="0"/>
                <a:cs typeface="Times New Roman" panose="02020603050405020304" pitchFamily="18" charset="0"/>
              </a:rPr>
              <a:t> component and this component is an allowed transition. Evidently, the intensity of the </a:t>
            </a:r>
            <a:r>
              <a:rPr lang="en-US" sz="2000" i="1" dirty="0">
                <a:latin typeface="Times New Roman" panose="02020603050405020304" pitchFamily="18" charset="0"/>
                <a:ea typeface="Calibri" panose="020F0502020204030204" pitchFamily="34" charset="0"/>
                <a:cs typeface="Times New Roman" panose="02020603050405020304" pitchFamily="18" charset="0"/>
              </a:rPr>
              <a:t>e</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i="1" dirty="0">
                <a:latin typeface="Times New Roman" panose="02020603050405020304" pitchFamily="18" charset="0"/>
                <a:ea typeface="Calibri" panose="020F0502020204030204" pitchFamily="34" charset="0"/>
                <a:cs typeface="Times New Roman" panose="02020603050405020304" pitchFamily="18" charset="0"/>
              </a:rPr>
              <a:t>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transition is related to the extent of mixing and the extent of mixing assessed, at least qualitatively, from the intensities of bands in the spectra.</a:t>
            </a:r>
          </a:p>
          <a:p>
            <a:pPr marL="457200" algn="just">
              <a:lnSpc>
                <a:spcPct val="107000"/>
              </a:lnSpc>
              <a:spcAft>
                <a:spcPts val="0"/>
              </a:spcAft>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Therefore, </a:t>
            </a:r>
            <a:r>
              <a:rPr lang="en-US" sz="2000" dirty="0">
                <a:latin typeface="Cambria Math" panose="02040503050406030204" pitchFamily="18" charset="0"/>
                <a:ea typeface="Calibri" panose="020F0502020204030204" pitchFamily="34" charset="0"/>
                <a:cs typeface="Cambria Math" panose="02040503050406030204" pitchFamily="18" charset="0"/>
              </a:rPr>
              <a:t>𝝐</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max </a:t>
            </a:r>
            <a:r>
              <a:rPr lang="en-US" sz="2000" dirty="0">
                <a:latin typeface="Times New Roman" panose="02020603050405020304" pitchFamily="18" charset="0"/>
                <a:ea typeface="Calibri" panose="020F0502020204030204" pitchFamily="34" charset="0"/>
                <a:cs typeface="Times New Roman" panose="02020603050405020304" pitchFamily="18" charset="0"/>
              </a:rPr>
              <a:t>value for [CuCl</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4</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 is much higher compared to [Cu(OH</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25000" dirty="0">
                <a:latin typeface="Times New Roman" panose="02020603050405020304" pitchFamily="18" charset="0"/>
                <a:ea typeface="Calibri" panose="020F0502020204030204" pitchFamily="34" charset="0"/>
                <a:cs typeface="Times New Roman" panose="02020603050405020304" pitchFamily="18" charset="0"/>
              </a:rPr>
              <a:t>6</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en-US" sz="20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632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B4A1AF-69F1-4FB5-BD58-A2638B86DB07}"/>
              </a:ext>
            </a:extLst>
          </p:cNvPr>
          <p:cNvSpPr txBox="1"/>
          <p:nvPr/>
        </p:nvSpPr>
        <p:spPr>
          <a:xfrm>
            <a:off x="0" y="111763"/>
            <a:ext cx="11563814" cy="1107996"/>
          </a:xfrm>
          <a:prstGeom prst="rect">
            <a:avLst/>
          </a:prstGeom>
          <a:noFill/>
        </p:spPr>
        <p:txBody>
          <a:bodyPr wrap="square" rtlCol="0">
            <a:spAutoFit/>
          </a:bodyPr>
          <a:lstStyle/>
          <a:p>
            <a:r>
              <a:rPr lang="en-US" sz="2200" b="1" dirty="0">
                <a:solidFill>
                  <a:srgbClr val="C00000"/>
                </a:solidFill>
                <a:latin typeface="Times New Roman" panose="02020603050405020304" pitchFamily="18" charset="0"/>
                <a:cs typeface="Times New Roman" panose="02020603050405020304" pitchFamily="18" charset="0"/>
              </a:rPr>
              <a:t>5. </a:t>
            </a:r>
            <a:r>
              <a:rPr lang="en-IN" sz="2200" b="1" dirty="0">
                <a:solidFill>
                  <a:srgbClr val="C00000"/>
                </a:solidFill>
                <a:latin typeface="Times New Roman" panose="02020603050405020304" pitchFamily="18" charset="0"/>
                <a:cs typeface="Times New Roman" panose="02020603050405020304" pitchFamily="18" charset="0"/>
              </a:rPr>
              <a:t>Arrange the following species in the order of increasing </a:t>
            </a:r>
            <a:r>
              <a:rPr lang="en-IN" sz="2200" b="1" dirty="0" err="1">
                <a:solidFill>
                  <a:srgbClr val="C00000"/>
                </a:solidFill>
                <a:latin typeface="Times New Roman" panose="02020603050405020304" pitchFamily="18" charset="0"/>
                <a:cs typeface="Times New Roman" panose="02020603050405020304" pitchFamily="18" charset="0"/>
              </a:rPr>
              <a:t>Jahn</a:t>
            </a:r>
            <a:r>
              <a:rPr lang="en-IN" sz="2200" b="1" dirty="0">
                <a:solidFill>
                  <a:srgbClr val="C00000"/>
                </a:solidFill>
                <a:latin typeface="Times New Roman" panose="02020603050405020304" pitchFamily="18" charset="0"/>
                <a:cs typeface="Times New Roman" panose="02020603050405020304" pitchFamily="18" charset="0"/>
              </a:rPr>
              <a:t> Teller distortion in an octahedral environment high-spin cobalt (III) and low-spin Co(II)</a:t>
            </a:r>
          </a:p>
          <a:p>
            <a:r>
              <a:rPr lang="en-IN" sz="2200" b="1" dirty="0">
                <a:solidFill>
                  <a:srgbClr val="C00000"/>
                </a:solidFill>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3B22D10E-0101-440E-9CE7-F645A95BE1DC}"/>
              </a:ext>
            </a:extLst>
          </p:cNvPr>
          <p:cNvSpPr txBox="1"/>
          <p:nvPr/>
        </p:nvSpPr>
        <p:spPr>
          <a:xfrm>
            <a:off x="80761" y="970073"/>
            <a:ext cx="11483053" cy="2349361"/>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Electron arrangements are (a) high spin Co(III) t</a:t>
            </a:r>
            <a:r>
              <a:rPr lang="en-IN" sz="2000" baseline="-25000" dirty="0">
                <a:latin typeface="Arial" panose="020B0604020202020204" pitchFamily="34" charset="0"/>
                <a:cs typeface="Arial" panose="020B0604020202020204" pitchFamily="34" charset="0"/>
              </a:rPr>
              <a:t>2g</a:t>
            </a:r>
            <a:r>
              <a:rPr lang="en-IN" sz="2000" baseline="30000" dirty="0">
                <a:latin typeface="Arial" panose="020B0604020202020204" pitchFamily="34" charset="0"/>
                <a:cs typeface="Arial" panose="020B0604020202020204" pitchFamily="34" charset="0"/>
              </a:rPr>
              <a:t>4</a:t>
            </a:r>
            <a:r>
              <a:rPr lang="en-IN" sz="2000" dirty="0">
                <a:latin typeface="Arial" panose="020B0604020202020204" pitchFamily="34" charset="0"/>
                <a:cs typeface="Arial" panose="020B0604020202020204" pitchFamily="34" charset="0"/>
              </a:rPr>
              <a:t>e</a:t>
            </a:r>
            <a:r>
              <a:rPr lang="en-IN" sz="2000" baseline="-25000" dirty="0">
                <a:latin typeface="Arial" panose="020B0604020202020204" pitchFamily="34" charset="0"/>
                <a:cs typeface="Arial" panose="020B0604020202020204" pitchFamily="34" charset="0"/>
              </a:rPr>
              <a:t>g</a:t>
            </a:r>
            <a:r>
              <a:rPr lang="en-IN" sz="2000" baseline="30000" dirty="0">
                <a:latin typeface="Arial" panose="020B0604020202020204" pitchFamily="34" charset="0"/>
                <a:cs typeface="Arial" panose="020B0604020202020204" pitchFamily="34" charset="0"/>
              </a:rPr>
              <a:t>2</a:t>
            </a:r>
            <a:r>
              <a:rPr lang="en-IN" sz="2000" dirty="0">
                <a:latin typeface="Arial" panose="020B0604020202020204" pitchFamily="34" charset="0"/>
                <a:cs typeface="Arial" panose="020B0604020202020204" pitchFamily="34" charset="0"/>
              </a:rPr>
              <a:t> (b) low-spin Co(II) t</a:t>
            </a:r>
            <a:r>
              <a:rPr lang="en-IN" sz="2000" baseline="-25000" dirty="0">
                <a:latin typeface="Arial" panose="020B0604020202020204" pitchFamily="34" charset="0"/>
                <a:cs typeface="Arial" panose="020B0604020202020204" pitchFamily="34" charset="0"/>
              </a:rPr>
              <a:t>2g</a:t>
            </a:r>
            <a:r>
              <a:rPr lang="en-IN" sz="2000" baseline="30000" dirty="0">
                <a:latin typeface="Arial" panose="020B0604020202020204" pitchFamily="34" charset="0"/>
                <a:cs typeface="Arial" panose="020B0604020202020204" pitchFamily="34" charset="0"/>
              </a:rPr>
              <a:t>6</a:t>
            </a:r>
            <a:r>
              <a:rPr lang="en-IN" sz="2000" dirty="0">
                <a:latin typeface="Arial" panose="020B0604020202020204" pitchFamily="34" charset="0"/>
                <a:cs typeface="Arial" panose="020B0604020202020204" pitchFamily="34" charset="0"/>
              </a:rPr>
              <a:t>e</a:t>
            </a:r>
            <a:r>
              <a:rPr lang="en-IN" sz="2000" baseline="-25000" dirty="0">
                <a:latin typeface="Arial" panose="020B0604020202020204" pitchFamily="34" charset="0"/>
                <a:cs typeface="Arial" panose="020B0604020202020204" pitchFamily="34" charset="0"/>
              </a:rPr>
              <a:t>g</a:t>
            </a:r>
            <a:r>
              <a:rPr lang="en-IN" sz="2000" baseline="30000" dirty="0">
                <a:latin typeface="Arial" panose="020B0604020202020204" pitchFamily="34" charset="0"/>
                <a:cs typeface="Arial" panose="020B0604020202020204" pitchFamily="34" charset="0"/>
              </a:rPr>
              <a:t>1</a:t>
            </a:r>
          </a:p>
          <a:p>
            <a:endParaRPr lang="en-IN" sz="2000" baseline="30000" dirty="0">
              <a:solidFill>
                <a:srgbClr val="0070C0"/>
              </a:solidFill>
              <a:latin typeface="Arial" panose="020B0604020202020204" pitchFamily="34" charset="0"/>
              <a:cs typeface="Arial" panose="020B0604020202020204" pitchFamily="34" charset="0"/>
            </a:endParaRPr>
          </a:p>
          <a:p>
            <a:r>
              <a:rPr lang="en-IN" sz="2000" dirty="0" err="1">
                <a:latin typeface="Arial" panose="020B0604020202020204" pitchFamily="34" charset="0"/>
                <a:cs typeface="Arial" panose="020B0604020202020204" pitchFamily="34" charset="0"/>
              </a:rPr>
              <a:t>Jahn</a:t>
            </a:r>
            <a:r>
              <a:rPr lang="en-IN" sz="2000" dirty="0">
                <a:latin typeface="Arial" panose="020B0604020202020204" pitchFamily="34" charset="0"/>
                <a:cs typeface="Arial" panose="020B0604020202020204" pitchFamily="34" charset="0"/>
              </a:rPr>
              <a:t> Teller distortion is more significant when the </a:t>
            </a:r>
            <a:r>
              <a:rPr lang="en-IN" sz="2000" dirty="0" err="1">
                <a:latin typeface="Arial" panose="020B0604020202020204" pitchFamily="34" charset="0"/>
                <a:cs typeface="Arial" panose="020B0604020202020204" pitchFamily="34" charset="0"/>
              </a:rPr>
              <a:t>e</a:t>
            </a:r>
            <a:r>
              <a:rPr lang="en-IN" sz="2000" baseline="-25000" dirty="0" err="1">
                <a:latin typeface="Arial" panose="020B0604020202020204" pitchFamily="34" charset="0"/>
                <a:cs typeface="Arial" panose="020B0604020202020204" pitchFamily="34" charset="0"/>
              </a:rPr>
              <a:t>g</a:t>
            </a:r>
            <a:r>
              <a:rPr lang="en-IN" sz="2000" dirty="0">
                <a:latin typeface="Arial" panose="020B0604020202020204" pitchFamily="34" charset="0"/>
                <a:cs typeface="Arial" panose="020B0604020202020204" pitchFamily="34" charset="0"/>
              </a:rPr>
              <a:t> level is unsymmetrically occupied than when the t</a:t>
            </a:r>
            <a:r>
              <a:rPr lang="en-IN" sz="2000" baseline="-25000" dirty="0">
                <a:latin typeface="Arial" panose="020B0604020202020204" pitchFamily="34" charset="0"/>
                <a:cs typeface="Arial" panose="020B0604020202020204" pitchFamily="34" charset="0"/>
              </a:rPr>
              <a:t>2g</a:t>
            </a:r>
            <a:r>
              <a:rPr lang="en-IN" sz="2000" dirty="0">
                <a:latin typeface="Arial" panose="020B0604020202020204" pitchFamily="34" charset="0"/>
                <a:cs typeface="Arial" panose="020B0604020202020204" pitchFamily="34" charset="0"/>
              </a:rPr>
              <a:t> level is unsymmetrically occupied. </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So the increasing order of </a:t>
            </a:r>
            <a:r>
              <a:rPr lang="en-IN" sz="2000" dirty="0" err="1">
                <a:latin typeface="Arial" panose="020B0604020202020204" pitchFamily="34" charset="0"/>
                <a:cs typeface="Arial" panose="020B0604020202020204" pitchFamily="34" charset="0"/>
              </a:rPr>
              <a:t>Jahn</a:t>
            </a:r>
            <a:r>
              <a:rPr lang="en-IN" sz="2000" dirty="0">
                <a:latin typeface="Arial" panose="020B0604020202020204" pitchFamily="34" charset="0"/>
                <a:cs typeface="Arial" panose="020B0604020202020204" pitchFamily="34" charset="0"/>
              </a:rPr>
              <a:t> Teller distortion is High spin Co(III)&lt;low-spin Co(II)</a:t>
            </a:r>
          </a:p>
          <a:p>
            <a:endParaRPr lang="en-IN" sz="2000" baseline="30000" dirty="0">
              <a:solidFill>
                <a:srgbClr val="0070C0"/>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80761" y="3150543"/>
            <a:ext cx="10392793" cy="430887"/>
          </a:xfrm>
          <a:prstGeom prst="rect">
            <a:avLst/>
          </a:prstGeom>
        </p:spPr>
        <p:txBody>
          <a:bodyPr wrap="square">
            <a:spAutoFit/>
          </a:bodyPr>
          <a:lstStyle/>
          <a:p>
            <a:r>
              <a:rPr lang="en-US" sz="2200" b="1" dirty="0">
                <a:solidFill>
                  <a:srgbClr val="C00000"/>
                </a:solidFill>
                <a:latin typeface="Arial" panose="020B0604020202020204" pitchFamily="34" charset="0"/>
                <a:cs typeface="Arial" panose="020B0604020202020204" pitchFamily="34" charset="0"/>
              </a:rPr>
              <a:t>6. Which complex is more stable cis[Cu(</a:t>
            </a:r>
            <a:r>
              <a:rPr lang="en-US" sz="2200" b="1" dirty="0" err="1">
                <a:solidFill>
                  <a:srgbClr val="C00000"/>
                </a:solidFill>
                <a:latin typeface="Arial" panose="020B0604020202020204" pitchFamily="34" charset="0"/>
                <a:cs typeface="Arial" panose="020B0604020202020204" pitchFamily="34" charset="0"/>
              </a:rPr>
              <a:t>en</a:t>
            </a:r>
            <a:r>
              <a:rPr lang="en-US" sz="2200" b="1" dirty="0">
                <a:solidFill>
                  <a:srgbClr val="C00000"/>
                </a:solidFill>
                <a:latin typeface="Arial" panose="020B0604020202020204" pitchFamily="34" charset="0"/>
                <a:cs typeface="Arial" panose="020B0604020202020204" pitchFamily="34" charset="0"/>
              </a:rPr>
              <a:t>)</a:t>
            </a:r>
            <a:r>
              <a:rPr lang="en-US" sz="2200" b="1" baseline="-25000" dirty="0">
                <a:solidFill>
                  <a:srgbClr val="C00000"/>
                </a:solidFill>
                <a:latin typeface="Arial" panose="020B0604020202020204" pitchFamily="34" charset="0"/>
                <a:cs typeface="Arial" panose="020B0604020202020204" pitchFamily="34" charset="0"/>
              </a:rPr>
              <a:t>2</a:t>
            </a:r>
            <a:r>
              <a:rPr lang="en-US" sz="2200" b="1" dirty="0">
                <a:solidFill>
                  <a:srgbClr val="C00000"/>
                </a:solidFill>
                <a:latin typeface="Arial" panose="020B0604020202020204" pitchFamily="34" charset="0"/>
                <a:cs typeface="Arial" panose="020B0604020202020204" pitchFamily="34" charset="0"/>
              </a:rPr>
              <a:t>2H</a:t>
            </a:r>
            <a:r>
              <a:rPr lang="en-US" sz="2200" b="1" baseline="-25000" dirty="0">
                <a:solidFill>
                  <a:srgbClr val="C00000"/>
                </a:solidFill>
                <a:latin typeface="Arial" panose="020B0604020202020204" pitchFamily="34" charset="0"/>
                <a:cs typeface="Arial" panose="020B0604020202020204" pitchFamily="34" charset="0"/>
              </a:rPr>
              <a:t>2</a:t>
            </a:r>
            <a:r>
              <a:rPr lang="en-US" sz="2200" b="1" dirty="0">
                <a:solidFill>
                  <a:srgbClr val="C00000"/>
                </a:solidFill>
                <a:latin typeface="Arial" panose="020B0604020202020204" pitchFamily="34" charset="0"/>
                <a:cs typeface="Arial" panose="020B0604020202020204" pitchFamily="34" charset="0"/>
              </a:rPr>
              <a:t>O] or trans[Cu(</a:t>
            </a:r>
            <a:r>
              <a:rPr lang="en-US" sz="2200" b="1" dirty="0" err="1">
                <a:solidFill>
                  <a:srgbClr val="C00000"/>
                </a:solidFill>
                <a:latin typeface="Arial" panose="020B0604020202020204" pitchFamily="34" charset="0"/>
                <a:cs typeface="Arial" panose="020B0604020202020204" pitchFamily="34" charset="0"/>
              </a:rPr>
              <a:t>en</a:t>
            </a:r>
            <a:r>
              <a:rPr lang="en-US" sz="2200" b="1" dirty="0">
                <a:solidFill>
                  <a:srgbClr val="C00000"/>
                </a:solidFill>
                <a:latin typeface="Arial" panose="020B0604020202020204" pitchFamily="34" charset="0"/>
                <a:cs typeface="Arial" panose="020B0604020202020204" pitchFamily="34" charset="0"/>
              </a:rPr>
              <a:t>)</a:t>
            </a:r>
            <a:r>
              <a:rPr lang="en-US" sz="2200" b="1" baseline="-25000" dirty="0">
                <a:solidFill>
                  <a:srgbClr val="C00000"/>
                </a:solidFill>
                <a:latin typeface="Arial" panose="020B0604020202020204" pitchFamily="34" charset="0"/>
                <a:cs typeface="Arial" panose="020B0604020202020204" pitchFamily="34" charset="0"/>
              </a:rPr>
              <a:t>2</a:t>
            </a:r>
            <a:r>
              <a:rPr lang="en-US" sz="2200" b="1" dirty="0">
                <a:solidFill>
                  <a:srgbClr val="C00000"/>
                </a:solidFill>
                <a:latin typeface="Arial" panose="020B0604020202020204" pitchFamily="34" charset="0"/>
                <a:cs typeface="Arial" panose="020B0604020202020204" pitchFamily="34" charset="0"/>
              </a:rPr>
              <a:t>2H</a:t>
            </a:r>
            <a:r>
              <a:rPr lang="en-US" sz="2200" b="1" baseline="-25000" dirty="0">
                <a:solidFill>
                  <a:srgbClr val="C00000"/>
                </a:solidFill>
                <a:latin typeface="Arial" panose="020B0604020202020204" pitchFamily="34" charset="0"/>
                <a:cs typeface="Arial" panose="020B0604020202020204" pitchFamily="34" charset="0"/>
              </a:rPr>
              <a:t>2</a:t>
            </a:r>
            <a:r>
              <a:rPr lang="en-US" sz="2200" b="1" dirty="0">
                <a:solidFill>
                  <a:srgbClr val="C00000"/>
                </a:solidFill>
                <a:latin typeface="Arial" panose="020B0604020202020204" pitchFamily="34" charset="0"/>
                <a:cs typeface="Arial" panose="020B0604020202020204" pitchFamily="34" charset="0"/>
              </a:rPr>
              <a:t>O]</a:t>
            </a:r>
          </a:p>
        </p:txBody>
      </p:sp>
      <p:graphicFrame>
        <p:nvGraphicFramePr>
          <p:cNvPr id="7" name="Object 6"/>
          <p:cNvGraphicFramePr>
            <a:graphicFrameLocks noChangeAspect="1"/>
          </p:cNvGraphicFramePr>
          <p:nvPr/>
        </p:nvGraphicFramePr>
        <p:xfrm>
          <a:off x="3714194" y="4097387"/>
          <a:ext cx="4499509" cy="1691054"/>
        </p:xfrm>
        <a:graphic>
          <a:graphicData uri="http://schemas.openxmlformats.org/presentationml/2006/ole">
            <mc:AlternateContent xmlns:mc="http://schemas.openxmlformats.org/markup-compatibility/2006">
              <mc:Choice xmlns:v="urn:schemas-microsoft-com:vml" Requires="v">
                <p:oleObj name="CS ChemDraw Drawing" r:id="rId3" imgW="2626948" imgH="986996" progId="ChemDraw.Document.6.0">
                  <p:embed/>
                </p:oleObj>
              </mc:Choice>
              <mc:Fallback>
                <p:oleObj name="CS ChemDraw Drawing" r:id="rId3" imgW="2626948" imgH="986996" progId="ChemDraw.Document.6.0">
                  <p:embed/>
                  <p:pic>
                    <p:nvPicPr>
                      <p:cNvPr id="7" name="Object 6"/>
                      <p:cNvPicPr/>
                      <p:nvPr/>
                    </p:nvPicPr>
                    <p:blipFill>
                      <a:blip r:embed="rId4"/>
                      <a:stretch>
                        <a:fillRect/>
                      </a:stretch>
                    </p:blipFill>
                    <p:spPr>
                      <a:xfrm>
                        <a:off x="3714194" y="4097387"/>
                        <a:ext cx="4499509" cy="1691054"/>
                      </a:xfrm>
                      <a:prstGeom prst="rect">
                        <a:avLst/>
                      </a:prstGeom>
                    </p:spPr>
                  </p:pic>
                </p:oleObj>
              </mc:Fallback>
            </mc:AlternateContent>
          </a:graphicData>
        </a:graphic>
      </p:graphicFrame>
      <p:sp>
        <p:nvSpPr>
          <p:cNvPr id="8" name="Rectangle 7"/>
          <p:cNvSpPr/>
          <p:nvPr/>
        </p:nvSpPr>
        <p:spPr>
          <a:xfrm>
            <a:off x="966997" y="6173525"/>
            <a:ext cx="5181996" cy="369332"/>
          </a:xfrm>
          <a:prstGeom prst="rect">
            <a:avLst/>
          </a:prstGeom>
        </p:spPr>
        <p:txBody>
          <a:bodyPr wrap="none">
            <a:spAutoFit/>
          </a:bodyPr>
          <a:lstStyle/>
          <a:p>
            <a:r>
              <a:rPr lang="en-IN" dirty="0">
                <a:latin typeface="Arial" panose="020B0604020202020204" pitchFamily="34" charset="0"/>
                <a:cs typeface="Arial" panose="020B0604020202020204" pitchFamily="34" charset="0"/>
              </a:rPr>
              <a:t>Due to </a:t>
            </a:r>
            <a:r>
              <a:rPr lang="en-IN" dirty="0" err="1">
                <a:latin typeface="Arial" panose="020B0604020202020204" pitchFamily="34" charset="0"/>
                <a:cs typeface="Arial" panose="020B0604020202020204" pitchFamily="34" charset="0"/>
              </a:rPr>
              <a:t>Jahn</a:t>
            </a:r>
            <a:r>
              <a:rPr lang="en-IN" dirty="0">
                <a:latin typeface="Arial" panose="020B0604020202020204" pitchFamily="34" charset="0"/>
                <a:cs typeface="Arial" panose="020B0604020202020204" pitchFamily="34" charset="0"/>
              </a:rPr>
              <a:t> Teller distortion Trans is more stable</a:t>
            </a:r>
            <a:endParaRPr lang="en-US" dirty="0"/>
          </a:p>
        </p:txBody>
      </p:sp>
    </p:spTree>
    <p:extLst>
      <p:ext uri="{BB962C8B-B14F-4D97-AF65-F5344CB8AC3E}">
        <p14:creationId xmlns:p14="http://schemas.microsoft.com/office/powerpoint/2010/main" val="22304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6507" y="363242"/>
            <a:ext cx="8134791" cy="430887"/>
          </a:xfrm>
          <a:prstGeom prst="rect">
            <a:avLst/>
          </a:prstGeom>
          <a:noFill/>
        </p:spPr>
        <p:txBody>
          <a:bodyPr wrap="none" rtlCol="0">
            <a:spAutoFit/>
          </a:bodyPr>
          <a:lstStyle/>
          <a:p>
            <a:r>
              <a:rPr lang="en-IN" sz="2200" b="1" dirty="0">
                <a:solidFill>
                  <a:srgbClr val="C00000"/>
                </a:solidFill>
                <a:latin typeface="Times New Roman" panose="02020603050405020304" pitchFamily="18" charset="0"/>
                <a:cs typeface="Times New Roman" panose="02020603050405020304" pitchFamily="18" charset="0"/>
              </a:rPr>
              <a:t>7. Find out the correct spinel structure for FeCr</a:t>
            </a:r>
            <a:r>
              <a:rPr lang="en-IN" sz="2200" b="1" baseline="-25000" dirty="0">
                <a:solidFill>
                  <a:srgbClr val="C00000"/>
                </a:solidFill>
                <a:latin typeface="Times New Roman" panose="02020603050405020304" pitchFamily="18" charset="0"/>
                <a:cs typeface="Times New Roman" panose="02020603050405020304" pitchFamily="18" charset="0"/>
              </a:rPr>
              <a:t>2</a:t>
            </a:r>
            <a:r>
              <a:rPr lang="en-IN" sz="2200" b="1" dirty="0">
                <a:solidFill>
                  <a:srgbClr val="C00000"/>
                </a:solidFill>
                <a:latin typeface="Times New Roman" panose="02020603050405020304" pitchFamily="18" charset="0"/>
                <a:cs typeface="Times New Roman" panose="02020603050405020304" pitchFamily="18" charset="0"/>
              </a:rPr>
              <a:t>O</a:t>
            </a:r>
            <a:r>
              <a:rPr lang="en-IN" sz="2200" b="1" baseline="-25000" dirty="0">
                <a:solidFill>
                  <a:srgbClr val="C00000"/>
                </a:solidFill>
                <a:latin typeface="Times New Roman" panose="02020603050405020304" pitchFamily="18" charset="0"/>
                <a:cs typeface="Times New Roman" panose="02020603050405020304" pitchFamily="18" charset="0"/>
              </a:rPr>
              <a:t>4 </a:t>
            </a:r>
            <a:r>
              <a:rPr lang="en-IN" sz="2200" b="1" dirty="0">
                <a:solidFill>
                  <a:srgbClr val="C00000"/>
                </a:solidFill>
                <a:latin typeface="Times New Roman" panose="02020603050405020304" pitchFamily="18" charset="0"/>
                <a:cs typeface="Times New Roman" panose="02020603050405020304" pitchFamily="18" charset="0"/>
              </a:rPr>
              <a:t>and NiAl</a:t>
            </a:r>
            <a:r>
              <a:rPr lang="en-IN" sz="2200" b="1" baseline="-25000" dirty="0">
                <a:solidFill>
                  <a:srgbClr val="C00000"/>
                </a:solidFill>
                <a:latin typeface="Times New Roman" panose="02020603050405020304" pitchFamily="18" charset="0"/>
                <a:cs typeface="Times New Roman" panose="02020603050405020304" pitchFamily="18" charset="0"/>
              </a:rPr>
              <a:t>2</a:t>
            </a:r>
            <a:r>
              <a:rPr lang="en-IN" sz="2200" b="1" dirty="0">
                <a:solidFill>
                  <a:srgbClr val="C00000"/>
                </a:solidFill>
                <a:latin typeface="Times New Roman" panose="02020603050405020304" pitchFamily="18" charset="0"/>
                <a:cs typeface="Times New Roman" panose="02020603050405020304" pitchFamily="18" charset="0"/>
              </a:rPr>
              <a:t>O</a:t>
            </a:r>
            <a:r>
              <a:rPr lang="en-IN" sz="2200" b="1" baseline="-25000" dirty="0">
                <a:solidFill>
                  <a:srgbClr val="C00000"/>
                </a:solidFill>
                <a:latin typeface="Times New Roman" panose="02020603050405020304" pitchFamily="18" charset="0"/>
                <a:cs typeface="Times New Roman" panose="02020603050405020304" pitchFamily="18" charset="0"/>
              </a:rPr>
              <a:t>4</a:t>
            </a:r>
          </a:p>
        </p:txBody>
      </p:sp>
      <p:sp>
        <p:nvSpPr>
          <p:cNvPr id="5" name="TextBox 4"/>
          <p:cNvSpPr txBox="1"/>
          <p:nvPr/>
        </p:nvSpPr>
        <p:spPr>
          <a:xfrm>
            <a:off x="307204" y="1012871"/>
            <a:ext cx="11028843" cy="646331"/>
          </a:xfrm>
          <a:prstGeom prst="rect">
            <a:avLst/>
          </a:prstGeom>
          <a:noFill/>
        </p:spPr>
        <p:txBody>
          <a:bodyPr wrap="square" rtlCol="0">
            <a:spAutoFit/>
          </a:bodyPr>
          <a:lstStyle/>
          <a:p>
            <a:r>
              <a:rPr lang="en-IN" dirty="0">
                <a:solidFill>
                  <a:srgbClr val="0070C0"/>
                </a:solidFill>
                <a:latin typeface="Times New Roman" panose="02020603050405020304" pitchFamily="18" charset="0"/>
                <a:cs typeface="Times New Roman" panose="02020603050405020304" pitchFamily="18" charset="0"/>
              </a:rPr>
              <a:t>Normal spinel: </a:t>
            </a:r>
            <a:r>
              <a:rPr lang="en-IN" dirty="0">
                <a:latin typeface="Times New Roman" panose="02020603050405020304" pitchFamily="18" charset="0"/>
                <a:cs typeface="Times New Roman" panose="02020603050405020304" pitchFamily="18" charset="0"/>
              </a:rPr>
              <a:t>tetrahedral Fe(II) and octahedral 2Cr(III), CFSE = 0.6</a:t>
            </a:r>
            <a:r>
              <a:rPr lang="en-IN" dirty="0">
                <a:latin typeface="Symbol" panose="05050102010706020507" pitchFamily="18" charset="2"/>
                <a:cs typeface="Times New Roman" panose="02020603050405020304" pitchFamily="18" charset="0"/>
              </a:rPr>
              <a:t>D</a:t>
            </a:r>
            <a:r>
              <a:rPr lang="en-IN" baseline="-25000" dirty="0">
                <a:latin typeface="Times New Roman" panose="02020603050405020304" pitchFamily="18" charset="0"/>
                <a:cs typeface="Times New Roman" panose="02020603050405020304" pitchFamily="18" charset="0"/>
              </a:rPr>
              <a:t>t </a:t>
            </a:r>
            <a:r>
              <a:rPr lang="en-IN" dirty="0">
                <a:latin typeface="Times New Roman" panose="02020603050405020304" pitchFamily="18" charset="0"/>
                <a:cs typeface="Times New Roman" panose="02020603050405020304" pitchFamily="18" charset="0"/>
              </a:rPr>
              <a:t>+ 12</a:t>
            </a:r>
            <a:r>
              <a:rPr lang="en-IN" dirty="0">
                <a:latin typeface="Symbol" panose="05050102010706020507" pitchFamily="18" charset="2"/>
                <a:cs typeface="Times New Roman" panose="02020603050405020304" pitchFamily="18" charset="0"/>
              </a:rPr>
              <a:t>D</a:t>
            </a:r>
            <a:r>
              <a:rPr lang="en-IN" baseline="-25000" dirty="0">
                <a:latin typeface="Times New Roman" panose="02020603050405020304" pitchFamily="18" charset="0"/>
                <a:cs typeface="Times New Roman" panose="02020603050405020304" pitchFamily="18" charset="0"/>
              </a:rPr>
              <a:t>0  </a:t>
            </a:r>
            <a:r>
              <a:rPr lang="en-IN" dirty="0">
                <a:latin typeface="Times New Roman" panose="02020603050405020304" pitchFamily="18" charset="0"/>
                <a:cs typeface="Times New Roman" panose="02020603050405020304" pitchFamily="18" charset="0"/>
              </a:rPr>
              <a:t>+ 12</a:t>
            </a:r>
            <a:r>
              <a:rPr lang="en-IN" dirty="0">
                <a:latin typeface="Symbol" panose="05050102010706020507" pitchFamily="18" charset="2"/>
                <a:cs typeface="Times New Roman" panose="02020603050405020304" pitchFamily="18" charset="0"/>
              </a:rPr>
              <a:t>D</a:t>
            </a:r>
            <a:r>
              <a:rPr lang="en-IN" baseline="-25000" dirty="0">
                <a:latin typeface="Times New Roman" panose="02020603050405020304" pitchFamily="18" charset="0"/>
                <a:cs typeface="Times New Roman" panose="02020603050405020304" pitchFamily="18" charset="0"/>
              </a:rPr>
              <a:t>0 </a:t>
            </a:r>
          </a:p>
          <a:p>
            <a:r>
              <a:rPr lang="en-IN" dirty="0">
                <a:solidFill>
                  <a:srgbClr val="0070C0"/>
                </a:solidFill>
                <a:latin typeface="Times New Roman" panose="02020603050405020304" pitchFamily="18" charset="0"/>
                <a:cs typeface="Times New Roman" panose="02020603050405020304" pitchFamily="18" charset="0"/>
              </a:rPr>
              <a:t>Inverse spinel: </a:t>
            </a:r>
            <a:r>
              <a:rPr lang="en-IN" dirty="0">
                <a:latin typeface="Times New Roman" panose="02020603050405020304" pitchFamily="18" charset="0"/>
                <a:cs typeface="Times New Roman" panose="02020603050405020304" pitchFamily="18" charset="0"/>
              </a:rPr>
              <a:t>tetrahedral Cr(III) and octahedral Fe(II) and Cr(III), CFSE = 0.4</a:t>
            </a:r>
            <a:r>
              <a:rPr lang="en-IN" dirty="0">
                <a:latin typeface="Symbol" panose="05050102010706020507" pitchFamily="18" charset="2"/>
                <a:cs typeface="Times New Roman" panose="02020603050405020304" pitchFamily="18" charset="0"/>
              </a:rPr>
              <a:t>D</a:t>
            </a:r>
            <a:r>
              <a:rPr lang="en-IN" baseline="-25000" dirty="0">
                <a:latin typeface="Times New Roman" panose="02020603050405020304" pitchFamily="18" charset="0"/>
                <a:cs typeface="Times New Roman" panose="02020603050405020304" pitchFamily="18" charset="0"/>
              </a:rPr>
              <a:t>t  </a:t>
            </a:r>
            <a:r>
              <a:rPr lang="en-IN" dirty="0">
                <a:latin typeface="Times New Roman" panose="02020603050405020304" pitchFamily="18" charset="0"/>
                <a:cs typeface="Times New Roman" panose="02020603050405020304" pitchFamily="18" charset="0"/>
              </a:rPr>
              <a:t>+ 4</a:t>
            </a:r>
            <a:r>
              <a:rPr lang="en-IN" dirty="0">
                <a:latin typeface="Symbol" panose="05050102010706020507" pitchFamily="18" charset="2"/>
                <a:cs typeface="Times New Roman" panose="02020603050405020304" pitchFamily="18" charset="0"/>
              </a:rPr>
              <a:t>D</a:t>
            </a:r>
            <a:r>
              <a:rPr lang="en-IN" baseline="-25000" dirty="0">
                <a:latin typeface="Times New Roman" panose="02020603050405020304" pitchFamily="18" charset="0"/>
                <a:cs typeface="Times New Roman" panose="02020603050405020304" pitchFamily="18" charset="0"/>
              </a:rPr>
              <a:t>0 </a:t>
            </a:r>
            <a:r>
              <a:rPr lang="en-IN" dirty="0">
                <a:latin typeface="Times New Roman" panose="02020603050405020304" pitchFamily="18" charset="0"/>
                <a:cs typeface="Times New Roman" panose="02020603050405020304" pitchFamily="18" charset="0"/>
              </a:rPr>
              <a:t>+ 12</a:t>
            </a:r>
            <a:r>
              <a:rPr lang="en-IN" dirty="0">
                <a:latin typeface="Symbol" panose="05050102010706020507" pitchFamily="18" charset="2"/>
                <a:cs typeface="Times New Roman" panose="02020603050405020304" pitchFamily="18" charset="0"/>
              </a:rPr>
              <a:t>D</a:t>
            </a:r>
            <a:r>
              <a:rPr lang="en-IN" baseline="-25000" dirty="0">
                <a:latin typeface="Symbol" panose="05050102010706020507" pitchFamily="18" charset="2"/>
                <a:cs typeface="Times New Roman" panose="02020603050405020304" pitchFamily="18" charset="0"/>
              </a:rPr>
              <a:t>0</a:t>
            </a:r>
            <a:endParaRPr lang="en-IN" baseline="-25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89763" y="3720241"/>
            <a:ext cx="4363887" cy="400110"/>
          </a:xfrm>
          <a:prstGeom prst="rect">
            <a:avLst/>
          </a:prstGeom>
          <a:noFill/>
        </p:spPr>
        <p:txBody>
          <a:bodyPr wrap="none" rtlCol="0">
            <a:spAutoFit/>
          </a:bodyPr>
          <a:lstStyle/>
          <a:p>
            <a:r>
              <a:rPr lang="en-IN" sz="2000" b="1" dirty="0">
                <a:solidFill>
                  <a:srgbClr val="C00000"/>
                </a:solidFill>
                <a:latin typeface="Times New Roman" panose="02020603050405020304" pitchFamily="18" charset="0"/>
                <a:cs typeface="Times New Roman" panose="02020603050405020304" pitchFamily="18" charset="0"/>
              </a:rPr>
              <a:t>8. Why MgAl</a:t>
            </a:r>
            <a:r>
              <a:rPr lang="en-IN" sz="2000" b="1" baseline="-25000" dirty="0">
                <a:solidFill>
                  <a:srgbClr val="C00000"/>
                </a:solidFill>
                <a:latin typeface="Times New Roman" panose="02020603050405020304" pitchFamily="18" charset="0"/>
                <a:cs typeface="Times New Roman" panose="02020603050405020304" pitchFamily="18" charset="0"/>
              </a:rPr>
              <a:t>2</a:t>
            </a:r>
            <a:r>
              <a:rPr lang="en-IN" sz="2000" b="1" dirty="0">
                <a:solidFill>
                  <a:srgbClr val="C00000"/>
                </a:solidFill>
                <a:latin typeface="Times New Roman" panose="02020603050405020304" pitchFamily="18" charset="0"/>
                <a:cs typeface="Times New Roman" panose="02020603050405020304" pitchFamily="18" charset="0"/>
              </a:rPr>
              <a:t>O</a:t>
            </a:r>
            <a:r>
              <a:rPr lang="en-IN" sz="2000" b="1" baseline="-25000" dirty="0">
                <a:solidFill>
                  <a:srgbClr val="C00000"/>
                </a:solidFill>
                <a:latin typeface="Times New Roman" panose="02020603050405020304" pitchFamily="18" charset="0"/>
                <a:cs typeface="Times New Roman" panose="02020603050405020304" pitchFamily="18" charset="0"/>
              </a:rPr>
              <a:t>4 </a:t>
            </a:r>
            <a:r>
              <a:rPr lang="en-IN" sz="2000" b="1" dirty="0">
                <a:solidFill>
                  <a:srgbClr val="C00000"/>
                </a:solidFill>
                <a:latin typeface="Times New Roman" panose="02020603050405020304" pitchFamily="18" charset="0"/>
                <a:cs typeface="Times New Roman" panose="02020603050405020304" pitchFamily="18" charset="0"/>
              </a:rPr>
              <a:t>form normal spinel ?</a:t>
            </a:r>
          </a:p>
        </p:txBody>
      </p:sp>
      <p:sp>
        <p:nvSpPr>
          <p:cNvPr id="7" name="TextBox 6"/>
          <p:cNvSpPr txBox="1"/>
          <p:nvPr/>
        </p:nvSpPr>
        <p:spPr>
          <a:xfrm>
            <a:off x="256507" y="4348456"/>
            <a:ext cx="11540683"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CFSE value for Mg(II) and Al(III) are zero. Therefore the preference of the metal ions are decided by the electrostatic interactions.  Mg(II) will prefer the tetrahedral hole (four coordinated oxygen)  and Al(III) prefer octahedral hole (six coordinated oxygen)</a:t>
            </a:r>
          </a:p>
        </p:txBody>
      </p:sp>
      <p:sp>
        <p:nvSpPr>
          <p:cNvPr id="8" name="TextBox 7"/>
          <p:cNvSpPr txBox="1"/>
          <p:nvPr/>
        </p:nvSpPr>
        <p:spPr>
          <a:xfrm>
            <a:off x="307204" y="1627061"/>
            <a:ext cx="336085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Normal spinel is more preferable  </a:t>
            </a:r>
          </a:p>
        </p:txBody>
      </p:sp>
      <p:sp>
        <p:nvSpPr>
          <p:cNvPr id="3" name="Rectangle 2"/>
          <p:cNvSpPr/>
          <p:nvPr/>
        </p:nvSpPr>
        <p:spPr>
          <a:xfrm>
            <a:off x="307204" y="2241251"/>
            <a:ext cx="11771171" cy="369332"/>
          </a:xfrm>
          <a:prstGeom prst="rect">
            <a:avLst/>
          </a:prstGeom>
        </p:spPr>
        <p:txBody>
          <a:bodyPr wrap="none">
            <a:spAutoFit/>
          </a:bodyPr>
          <a:lstStyle/>
          <a:p>
            <a:r>
              <a:rPr lang="en-IN" b="1" dirty="0">
                <a:solidFill>
                  <a:srgbClr val="0070C0"/>
                </a:solidFill>
                <a:latin typeface="Times New Roman" panose="02020603050405020304" pitchFamily="18" charset="0"/>
                <a:cs typeface="Times New Roman" panose="02020603050405020304" pitchFamily="18" charset="0"/>
              </a:rPr>
              <a:t>NiAl</a:t>
            </a:r>
            <a:r>
              <a:rPr lang="en-IN" b="1" baseline="-25000" dirty="0">
                <a:solidFill>
                  <a:srgbClr val="0070C0"/>
                </a:solidFill>
                <a:latin typeface="Times New Roman" panose="02020603050405020304" pitchFamily="18" charset="0"/>
                <a:cs typeface="Times New Roman" panose="02020603050405020304" pitchFamily="18" charset="0"/>
              </a:rPr>
              <a:t>2</a:t>
            </a:r>
            <a:r>
              <a:rPr lang="en-IN" b="1" dirty="0">
                <a:solidFill>
                  <a:srgbClr val="0070C0"/>
                </a:solidFill>
                <a:latin typeface="Times New Roman" panose="02020603050405020304" pitchFamily="18" charset="0"/>
                <a:cs typeface="Times New Roman" panose="02020603050405020304" pitchFamily="18" charset="0"/>
              </a:rPr>
              <a:t>O</a:t>
            </a:r>
            <a:r>
              <a:rPr lang="en-IN" b="1" baseline="-25000" dirty="0">
                <a:solidFill>
                  <a:srgbClr val="0070C0"/>
                </a:solidFill>
                <a:latin typeface="Times New Roman" panose="02020603050405020304" pitchFamily="18" charset="0"/>
                <a:cs typeface="Times New Roman" panose="02020603050405020304" pitchFamily="18" charset="0"/>
              </a:rPr>
              <a:t>4 </a:t>
            </a:r>
            <a:r>
              <a:rPr lang="en-IN" dirty="0">
                <a:latin typeface="Times New Roman" panose="02020603050405020304" pitchFamily="18" charset="0"/>
                <a:cs typeface="Times New Roman" panose="02020603050405020304" pitchFamily="18" charset="0"/>
              </a:rPr>
              <a:t>:</a:t>
            </a:r>
            <a:r>
              <a:rPr lang="en-IN" b="1" dirty="0">
                <a:solidFill>
                  <a:srgbClr val="FF000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Inverse spinal</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as the p-block elements has no CFSE but Ni(II) has will have much CFSE in octahedral environment</a:t>
            </a:r>
            <a:endParaRPr lang="en-IN"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28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ED97D2-822F-40A7-8C26-5E9EFC408B6B}"/>
              </a:ext>
            </a:extLst>
          </p:cNvPr>
          <p:cNvSpPr/>
          <p:nvPr/>
        </p:nvSpPr>
        <p:spPr>
          <a:xfrm>
            <a:off x="360218" y="153589"/>
            <a:ext cx="11582400" cy="769441"/>
          </a:xfrm>
          <a:prstGeom prst="rect">
            <a:avLst/>
          </a:prstGeom>
        </p:spPr>
        <p:txBody>
          <a:bodyPr wrap="square">
            <a:spAutoFit/>
          </a:bodyPr>
          <a:lstStyle/>
          <a:p>
            <a:pPr algn="just"/>
            <a:r>
              <a:rPr lang="en-US" sz="2200" b="1" dirty="0">
                <a:solidFill>
                  <a:srgbClr val="C00000"/>
                </a:solidFill>
                <a:latin typeface="Times New Roman" panose="02020603050405020304" pitchFamily="18" charset="0"/>
                <a:cs typeface="Times New Roman" panose="02020603050405020304" pitchFamily="18" charset="0"/>
              </a:rPr>
              <a:t>9. Solutions of [Cr(OH</a:t>
            </a:r>
            <a:r>
              <a:rPr lang="en-US" sz="2200" b="1" baseline="-25000" dirty="0">
                <a:solidFill>
                  <a:srgbClr val="C00000"/>
                </a:solidFill>
                <a:latin typeface="Times New Roman" panose="02020603050405020304" pitchFamily="18" charset="0"/>
                <a:cs typeface="Times New Roman" panose="02020603050405020304" pitchFamily="18" charset="0"/>
              </a:rPr>
              <a:t>2</a:t>
            </a:r>
            <a:r>
              <a:rPr lang="en-US" sz="2200" b="1" dirty="0">
                <a:solidFill>
                  <a:srgbClr val="C00000"/>
                </a:solidFill>
                <a:latin typeface="Times New Roman" panose="02020603050405020304" pitchFamily="18" charset="0"/>
                <a:cs typeface="Times New Roman" panose="02020603050405020304" pitchFamily="18" charset="0"/>
              </a:rPr>
              <a:t>)</a:t>
            </a:r>
            <a:r>
              <a:rPr lang="en-US" sz="2200" b="1" baseline="-25000" dirty="0">
                <a:solidFill>
                  <a:srgbClr val="C00000"/>
                </a:solidFill>
                <a:latin typeface="Times New Roman" panose="02020603050405020304" pitchFamily="18" charset="0"/>
                <a:cs typeface="Times New Roman" panose="02020603050405020304" pitchFamily="18" charset="0"/>
              </a:rPr>
              <a:t>6</a:t>
            </a:r>
            <a:r>
              <a:rPr lang="en-US" sz="2200" b="1" dirty="0">
                <a:solidFill>
                  <a:srgbClr val="C00000"/>
                </a:solidFill>
                <a:latin typeface="Times New Roman" panose="02020603050405020304" pitchFamily="18" charset="0"/>
                <a:cs typeface="Times New Roman" panose="02020603050405020304" pitchFamily="18" charset="0"/>
              </a:rPr>
              <a:t>]</a:t>
            </a:r>
            <a:r>
              <a:rPr lang="en-US" sz="2200" b="1" baseline="30000" dirty="0">
                <a:solidFill>
                  <a:srgbClr val="C00000"/>
                </a:solidFill>
                <a:latin typeface="Times New Roman" panose="02020603050405020304" pitchFamily="18" charset="0"/>
                <a:cs typeface="Times New Roman" panose="02020603050405020304" pitchFamily="18" charset="0"/>
              </a:rPr>
              <a:t>3+</a:t>
            </a:r>
            <a:r>
              <a:rPr lang="en-US" sz="2200" b="1" dirty="0">
                <a:solidFill>
                  <a:srgbClr val="C00000"/>
                </a:solidFill>
                <a:latin typeface="Times New Roman" panose="02020603050405020304" pitchFamily="18" charset="0"/>
                <a:cs typeface="Times New Roman" panose="02020603050405020304" pitchFamily="18" charset="0"/>
              </a:rPr>
              <a:t> ions are pale blue green but the chromate ion, CrO</a:t>
            </a:r>
            <a:r>
              <a:rPr lang="en-US" sz="2200" b="1" baseline="-25000" dirty="0">
                <a:solidFill>
                  <a:srgbClr val="C00000"/>
                </a:solidFill>
                <a:latin typeface="Times New Roman" panose="02020603050405020304" pitchFamily="18" charset="0"/>
                <a:cs typeface="Times New Roman" panose="02020603050405020304" pitchFamily="18" charset="0"/>
              </a:rPr>
              <a:t>4</a:t>
            </a:r>
            <a:r>
              <a:rPr lang="en-US" sz="2200" b="1" baseline="30000" dirty="0">
                <a:solidFill>
                  <a:srgbClr val="C00000"/>
                </a:solidFill>
                <a:latin typeface="Times New Roman" panose="02020603050405020304" pitchFamily="18" charset="0"/>
                <a:cs typeface="Times New Roman" panose="02020603050405020304" pitchFamily="18" charset="0"/>
              </a:rPr>
              <a:t>2–</a:t>
            </a:r>
            <a:r>
              <a:rPr lang="en-US" sz="2200" b="1" dirty="0">
                <a:solidFill>
                  <a:srgbClr val="C00000"/>
                </a:solidFill>
                <a:latin typeface="Times New Roman" panose="02020603050405020304" pitchFamily="18" charset="0"/>
                <a:cs typeface="Times New Roman" panose="02020603050405020304" pitchFamily="18" charset="0"/>
              </a:rPr>
              <a:t>, is an intense yellow. Characterize the origins of the transitions and explain the relative intensities.</a:t>
            </a:r>
          </a:p>
        </p:txBody>
      </p:sp>
      <p:sp>
        <p:nvSpPr>
          <p:cNvPr id="6" name="TextBox 5">
            <a:extLst>
              <a:ext uri="{FF2B5EF4-FFF2-40B4-BE49-F238E27FC236}">
                <a16:creationId xmlns:a16="http://schemas.microsoft.com/office/drawing/2014/main" id="{CE0F6861-2C54-4E08-8E04-291923B49716}"/>
              </a:ext>
            </a:extLst>
          </p:cNvPr>
          <p:cNvSpPr txBox="1"/>
          <p:nvPr/>
        </p:nvSpPr>
        <p:spPr>
          <a:xfrm>
            <a:off x="360218" y="1203557"/>
            <a:ext cx="11582400"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Green color of the solution of [Cr(OH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a:t>
            </a:r>
            <a:r>
              <a:rPr lang="en-US" sz="2000" baseline="-25000"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a:t>
            </a:r>
            <a:r>
              <a:rPr lang="en-US" sz="2000" baseline="30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a:t>
            </a:r>
            <a:r>
              <a:rPr lang="en-US" sz="2000" baseline="-25000" dirty="0">
                <a:latin typeface="Times New Roman" panose="02020603050405020304" pitchFamily="18" charset="0"/>
                <a:cs typeface="Times New Roman" panose="02020603050405020304" pitchFamily="18" charset="0"/>
              </a:rPr>
              <a:t>2g</a:t>
            </a:r>
            <a:r>
              <a:rPr lang="en-US" sz="2000" baseline="30000" dirty="0">
                <a:latin typeface="Times New Roman" panose="02020603050405020304" pitchFamily="18" charset="0"/>
                <a:cs typeface="Times New Roman" panose="02020603050405020304" pitchFamily="18" charset="0"/>
              </a:rPr>
              <a:t>3</a:t>
            </a:r>
            <a:r>
              <a:rPr lang="en-US" sz="2000" i="1" dirty="0">
                <a:latin typeface="Times New Roman" panose="02020603050405020304" pitchFamily="18" charset="0"/>
                <a:cs typeface="Times New Roman" panose="02020603050405020304" pitchFamily="18" charset="0"/>
              </a:rPr>
              <a:t>e</a:t>
            </a:r>
            <a:r>
              <a:rPr lang="en-US" sz="2000" baseline="-25000" dirty="0">
                <a:latin typeface="Times New Roman" panose="02020603050405020304" pitchFamily="18" charset="0"/>
                <a:cs typeface="Times New Roman" panose="02020603050405020304" pitchFamily="18" charset="0"/>
              </a:rPr>
              <a:t>g</a:t>
            </a:r>
            <a:r>
              <a:rPr lang="en-US" sz="2000" baseline="30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appears because of spin-allowed and Laporte forbidden </a:t>
            </a:r>
            <a:r>
              <a:rPr lang="en-US" sz="2000" i="1" dirty="0" err="1">
                <a:latin typeface="Times New Roman" panose="02020603050405020304" pitchFamily="18" charset="0"/>
                <a:cs typeface="Times New Roman" panose="02020603050405020304" pitchFamily="18" charset="0"/>
              </a:rPr>
              <a:t>d</a:t>
            </a:r>
            <a:r>
              <a:rPr lang="en-US" sz="2000" dirty="0" err="1">
                <a:latin typeface="Times New Roman" panose="02020603050405020304" pitchFamily="18" charset="0"/>
                <a:cs typeface="Times New Roman" panose="02020603050405020304" pitchFamily="18" charset="0"/>
                <a:sym typeface="Symbol" panose="05050102010706020507" pitchFamily="18" charset="2"/>
              </a:rPr>
              <a:t></a:t>
            </a:r>
            <a:r>
              <a:rPr lang="en-US" sz="2000" i="1" dirty="0" err="1">
                <a:latin typeface="Times New Roman" panose="02020603050405020304" pitchFamily="18" charset="0"/>
                <a:cs typeface="Times New Roman" panose="02020603050405020304" pitchFamily="18" charset="0"/>
                <a:sym typeface="Symbol" panose="05050102010706020507" pitchFamily="18" charset="2"/>
              </a:rPr>
              <a:t>d</a:t>
            </a:r>
            <a:r>
              <a:rPr lang="en-US" sz="2000" dirty="0">
                <a:latin typeface="Times New Roman" panose="02020603050405020304" pitchFamily="18" charset="0"/>
                <a:cs typeface="Times New Roman" panose="02020603050405020304" pitchFamily="18" charset="0"/>
                <a:sym typeface="Symbol" panose="05050102010706020507" pitchFamily="18" charset="2"/>
              </a:rPr>
              <a:t> transition. The color intensity of the solution is weak.</a:t>
            </a:r>
          </a:p>
          <a:p>
            <a:pPr algn="just"/>
            <a:r>
              <a:rPr lang="en-US" sz="2000" dirty="0">
                <a:latin typeface="Times New Roman" panose="02020603050405020304" pitchFamily="18" charset="0"/>
                <a:cs typeface="Times New Roman" panose="02020603050405020304" pitchFamily="18" charset="0"/>
                <a:sym typeface="Symbol" panose="05050102010706020507" pitchFamily="18" charset="2"/>
              </a:rPr>
              <a:t>CrO</a:t>
            </a:r>
            <a:r>
              <a:rPr lang="en-US" sz="2000" baseline="-25000" dirty="0">
                <a:latin typeface="Times New Roman" panose="02020603050405020304" pitchFamily="18" charset="0"/>
                <a:cs typeface="Times New Roman" panose="02020603050405020304" pitchFamily="18" charset="0"/>
                <a:sym typeface="Symbol" panose="05050102010706020507" pitchFamily="18" charset="2"/>
              </a:rPr>
              <a:t>4</a:t>
            </a:r>
            <a:r>
              <a:rPr lang="en-US" sz="2000" baseline="30000" dirty="0">
                <a:latin typeface="Times New Roman" panose="02020603050405020304" pitchFamily="18" charset="0"/>
                <a:cs typeface="Times New Roman" panose="02020603050405020304" pitchFamily="18" charset="0"/>
                <a:sym typeface="Symbol" panose="05050102010706020507" pitchFamily="18" charset="2"/>
              </a:rPr>
              <a:t>2</a:t>
            </a:r>
            <a:r>
              <a:rPr lang="en-US" sz="2000" dirty="0">
                <a:latin typeface="Times New Roman" panose="02020603050405020304" pitchFamily="18" charset="0"/>
                <a:cs typeface="Times New Roman" panose="02020603050405020304" pitchFamily="18" charset="0"/>
                <a:sym typeface="Symbol" panose="05050102010706020507" pitchFamily="18" charset="2"/>
              </a:rPr>
              <a:t> (d</a:t>
            </a:r>
            <a:r>
              <a:rPr lang="en-US" sz="2000" baseline="30000" dirty="0">
                <a:latin typeface="Times New Roman" panose="02020603050405020304" pitchFamily="18" charset="0"/>
                <a:cs typeface="Times New Roman" panose="02020603050405020304" pitchFamily="18" charset="0"/>
                <a:sym typeface="Symbol" panose="05050102010706020507" pitchFamily="18" charset="2"/>
              </a:rPr>
              <a:t>0</a:t>
            </a:r>
            <a:r>
              <a:rPr lang="en-US" sz="2000" dirty="0">
                <a:latin typeface="Times New Roman" panose="02020603050405020304" pitchFamily="18" charset="0"/>
                <a:cs typeface="Times New Roman" panose="02020603050405020304" pitchFamily="18" charset="0"/>
                <a:sym typeface="Symbol" panose="05050102010706020507" pitchFamily="18" charset="2"/>
              </a:rPr>
              <a:t>) shows intense yellow color because of </a:t>
            </a:r>
            <a:r>
              <a:rPr lang="en-US" sz="2000" dirty="0">
                <a:latin typeface="Times New Roman" panose="02020603050405020304" pitchFamily="18" charset="0"/>
                <a:cs typeface="Times New Roman" panose="02020603050405020304" pitchFamily="18" charset="0"/>
              </a:rPr>
              <a:t> oxygen-to-chromium(VI) charge-transfer transitions. Such transitions are Laporte ad spin-allowed, thus very intense and exhibits very high molar extinction coefficient values.  </a:t>
            </a:r>
          </a:p>
        </p:txBody>
      </p:sp>
    </p:spTree>
    <p:extLst>
      <p:ext uri="{BB962C8B-B14F-4D97-AF65-F5344CB8AC3E}">
        <p14:creationId xmlns:p14="http://schemas.microsoft.com/office/powerpoint/2010/main" val="25669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137BD4-23E6-0521-9822-4DA45D5B5D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968" y="1950729"/>
            <a:ext cx="4943128" cy="3777435"/>
          </a:xfrm>
          <a:prstGeom prst="rect">
            <a:avLst/>
          </a:prstGeom>
        </p:spPr>
      </p:pic>
      <p:sp>
        <p:nvSpPr>
          <p:cNvPr id="5" name="TextBox 4">
            <a:extLst>
              <a:ext uri="{FF2B5EF4-FFF2-40B4-BE49-F238E27FC236}">
                <a16:creationId xmlns:a16="http://schemas.microsoft.com/office/drawing/2014/main" id="{949A5371-DC63-A81B-0422-5FF81814B0AB}"/>
              </a:ext>
            </a:extLst>
          </p:cNvPr>
          <p:cNvSpPr txBox="1"/>
          <p:nvPr/>
        </p:nvSpPr>
        <p:spPr>
          <a:xfrm>
            <a:off x="201880" y="81063"/>
            <a:ext cx="11818665" cy="1569660"/>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10. Following is the electronic absorption spectra of an aqueous solution of CrCl</a:t>
            </a:r>
            <a:r>
              <a:rPr lang="en-US" sz="2400" b="1" baseline="-25000" dirty="0">
                <a:solidFill>
                  <a:srgbClr val="FF0000"/>
                </a:solidFill>
                <a:latin typeface="Times New Roman" panose="02020603050405020304" pitchFamily="18" charset="0"/>
                <a:cs typeface="Times New Roman" panose="02020603050405020304" pitchFamily="18" charset="0"/>
              </a:rPr>
              <a:t>3</a:t>
            </a:r>
            <a:r>
              <a:rPr lang="en-US" sz="2400" b="1" dirty="0">
                <a:solidFill>
                  <a:srgbClr val="FF0000"/>
                </a:solidFill>
                <a:latin typeface="Times New Roman" panose="02020603050405020304" pitchFamily="18" charset="0"/>
                <a:cs typeface="Times New Roman" panose="02020603050405020304" pitchFamily="18" charset="0"/>
              </a:rPr>
              <a:t>·6H</a:t>
            </a:r>
            <a:r>
              <a:rPr lang="en-US" sz="2400" b="1" baseline="-25000" dirty="0">
                <a:solidFill>
                  <a:srgbClr val="FF0000"/>
                </a:solidFill>
                <a:latin typeface="Times New Roman" panose="02020603050405020304" pitchFamily="18" charset="0"/>
                <a:cs typeface="Times New Roman" panose="02020603050405020304" pitchFamily="18" charset="0"/>
              </a:rPr>
              <a:t>2</a:t>
            </a:r>
            <a:r>
              <a:rPr lang="en-US" sz="2400" b="1" dirty="0">
                <a:solidFill>
                  <a:srgbClr val="FF0000"/>
                </a:solidFill>
                <a:latin typeface="Times New Roman" panose="02020603050405020304" pitchFamily="18" charset="0"/>
                <a:cs typeface="Times New Roman" panose="02020603050405020304" pitchFamily="18" charset="0"/>
              </a:rPr>
              <a:t>O (solid line). It has been observed that the spectrum is blue-shifted (towards higher energy) over time upon keeping the solution for hours, as indicated by short dashes and dot-dashes. Explain the observation based on your knowledge about crystal field theory.</a:t>
            </a:r>
          </a:p>
        </p:txBody>
      </p:sp>
      <p:grpSp>
        <p:nvGrpSpPr>
          <p:cNvPr id="6" name="Group 5">
            <a:extLst>
              <a:ext uri="{FF2B5EF4-FFF2-40B4-BE49-F238E27FC236}">
                <a16:creationId xmlns:a16="http://schemas.microsoft.com/office/drawing/2014/main" id="{E8FC080D-EE27-F672-5CFA-9BDD43BF2730}"/>
              </a:ext>
            </a:extLst>
          </p:cNvPr>
          <p:cNvGrpSpPr/>
          <p:nvPr/>
        </p:nvGrpSpPr>
        <p:grpSpPr>
          <a:xfrm>
            <a:off x="5250024" y="1950729"/>
            <a:ext cx="6866214" cy="4586489"/>
            <a:chOff x="5154331" y="1539945"/>
            <a:chExt cx="6866214" cy="4586489"/>
          </a:xfrm>
        </p:grpSpPr>
        <p:sp>
          <p:nvSpPr>
            <p:cNvPr id="7" name="Rectangle 6">
              <a:extLst>
                <a:ext uri="{FF2B5EF4-FFF2-40B4-BE49-F238E27FC236}">
                  <a16:creationId xmlns:a16="http://schemas.microsoft.com/office/drawing/2014/main" id="{A3BFBB7F-EA28-9574-D189-0B0EA6921D80}"/>
                </a:ext>
              </a:extLst>
            </p:cNvPr>
            <p:cNvSpPr/>
            <p:nvPr/>
          </p:nvSpPr>
          <p:spPr>
            <a:xfrm>
              <a:off x="5389215" y="4372108"/>
              <a:ext cx="6631330" cy="1754326"/>
            </a:xfrm>
            <a:prstGeom prst="rect">
              <a:avLst/>
            </a:prstGeom>
          </p:spPr>
          <p:txBody>
            <a:bodyPr wrap="square">
              <a:spAutoFit/>
            </a:bodyPr>
            <a:lstStyle/>
            <a:p>
              <a:pPr algn="just"/>
              <a:r>
                <a:rPr lang="en-US" dirty="0">
                  <a:latin typeface="Times New Roman" charset="0"/>
                  <a:ea typeface="Times New Roman" charset="0"/>
                  <a:cs typeface="Times New Roman" charset="0"/>
                </a:rPr>
                <a:t>Chromium is initially surrounded by four water molecules and two chloride ions, the spectra of the freshly prepared solution are very similar to the more nearly octahedral complexes. From Figure 4 we also see that the spectrum over a period of several hours transforms to one rather similar to that of the [Cr(H</a:t>
              </a:r>
              <a:r>
                <a:rPr lang="en-US" baseline="-25000" dirty="0">
                  <a:latin typeface="Times New Roman" charset="0"/>
                  <a:ea typeface="Times New Roman" charset="0"/>
                  <a:cs typeface="Times New Roman" charset="0"/>
                </a:rPr>
                <a:t>2</a:t>
              </a:r>
              <a:r>
                <a:rPr lang="en-US" dirty="0">
                  <a:latin typeface="Times New Roman" charset="0"/>
                  <a:ea typeface="Times New Roman" charset="0"/>
                  <a:cs typeface="Times New Roman" charset="0"/>
                </a:rPr>
                <a:t>O)</a:t>
              </a:r>
              <a:r>
                <a:rPr lang="en-US" baseline="-25000" dirty="0">
                  <a:latin typeface="Times New Roman" charset="0"/>
                  <a:ea typeface="Times New Roman" charset="0"/>
                  <a:cs typeface="Times New Roman" charset="0"/>
                </a:rPr>
                <a:t>6</a:t>
              </a:r>
              <a:r>
                <a:rPr lang="en-US" dirty="0">
                  <a:latin typeface="Times New Roman" charset="0"/>
                  <a:ea typeface="Times New Roman" charset="0"/>
                  <a:cs typeface="Times New Roman" charset="0"/>
                </a:rPr>
                <a:t>]</a:t>
              </a:r>
              <a:r>
                <a:rPr lang="en-US" baseline="30000" dirty="0">
                  <a:latin typeface="Times New Roman" charset="0"/>
                  <a:ea typeface="Times New Roman" charset="0"/>
                  <a:cs typeface="Times New Roman" charset="0"/>
                </a:rPr>
                <a:t>3+</a:t>
              </a:r>
              <a:r>
                <a:rPr lang="en-US" dirty="0">
                  <a:latin typeface="Times New Roman" charset="0"/>
                  <a:ea typeface="Times New Roman" charset="0"/>
                  <a:cs typeface="Times New Roman" charset="0"/>
                </a:rPr>
                <a:t> indicating that a rather slow </a:t>
              </a:r>
              <a:r>
                <a:rPr lang="en-US" dirty="0" err="1">
                  <a:latin typeface="Times New Roman" charset="0"/>
                  <a:ea typeface="Times New Roman" charset="0"/>
                  <a:cs typeface="Times New Roman" charset="0"/>
                </a:rPr>
                <a:t>aquation</a:t>
              </a:r>
              <a:r>
                <a:rPr lang="en-US" dirty="0">
                  <a:latin typeface="Times New Roman" charset="0"/>
                  <a:ea typeface="Times New Roman" charset="0"/>
                  <a:cs typeface="Times New Roman" charset="0"/>
                </a:rPr>
                <a:t> reaction has gone almost to completion . </a:t>
              </a:r>
            </a:p>
          </p:txBody>
        </p:sp>
        <p:grpSp>
          <p:nvGrpSpPr>
            <p:cNvPr id="8" name="Group 7">
              <a:extLst>
                <a:ext uri="{FF2B5EF4-FFF2-40B4-BE49-F238E27FC236}">
                  <a16:creationId xmlns:a16="http://schemas.microsoft.com/office/drawing/2014/main" id="{E70AE538-A551-6C75-9EC7-0B3AFE3D7ABA}"/>
                </a:ext>
              </a:extLst>
            </p:cNvPr>
            <p:cNvGrpSpPr/>
            <p:nvPr/>
          </p:nvGrpSpPr>
          <p:grpSpPr>
            <a:xfrm>
              <a:off x="8984933" y="1539945"/>
              <a:ext cx="1929842" cy="1883441"/>
              <a:chOff x="9525260" y="1754262"/>
              <a:chExt cx="1929842" cy="1883441"/>
            </a:xfrm>
          </p:grpSpPr>
          <p:sp>
            <p:nvSpPr>
              <p:cNvPr id="29" name="TextBox 28">
                <a:extLst>
                  <a:ext uri="{FF2B5EF4-FFF2-40B4-BE49-F238E27FC236}">
                    <a16:creationId xmlns:a16="http://schemas.microsoft.com/office/drawing/2014/main" id="{44EBED8C-5E97-C5B7-17C8-CF41C9ECF408}"/>
                  </a:ext>
                </a:extLst>
              </p:cNvPr>
              <p:cNvSpPr txBox="1"/>
              <p:nvPr/>
            </p:nvSpPr>
            <p:spPr>
              <a:xfrm>
                <a:off x="10513740" y="1754262"/>
                <a:ext cx="383438" cy="400110"/>
              </a:xfrm>
              <a:prstGeom prst="rect">
                <a:avLst/>
              </a:prstGeom>
              <a:noFill/>
            </p:spPr>
            <p:txBody>
              <a:bodyPr wrap="none" rtlCol="0">
                <a:spAutoFit/>
              </a:bodyPr>
              <a:lstStyle/>
              <a:p>
                <a:r>
                  <a:rPr lang="en-US" sz="2000" b="1" i="1" dirty="0" err="1">
                    <a:latin typeface="Times New Roman" charset="0"/>
                    <a:ea typeface="Times New Roman" charset="0"/>
                    <a:cs typeface="Times New Roman" charset="0"/>
                  </a:rPr>
                  <a:t>e</a:t>
                </a:r>
                <a:r>
                  <a:rPr lang="en-US" sz="2000" b="1" baseline="-25000" dirty="0" err="1">
                    <a:latin typeface="Times New Roman" charset="0"/>
                    <a:ea typeface="Times New Roman" charset="0"/>
                    <a:cs typeface="Times New Roman" charset="0"/>
                  </a:rPr>
                  <a:t>g</a:t>
                </a:r>
                <a:endParaRPr lang="en-US" sz="2000" b="1" baseline="-25000" dirty="0">
                  <a:latin typeface="Times New Roman" charset="0"/>
                  <a:ea typeface="Times New Roman" charset="0"/>
                  <a:cs typeface="Times New Roman" charset="0"/>
                </a:endParaRPr>
              </a:p>
            </p:txBody>
          </p:sp>
          <p:sp>
            <p:nvSpPr>
              <p:cNvPr id="30" name="TextBox 29">
                <a:extLst>
                  <a:ext uri="{FF2B5EF4-FFF2-40B4-BE49-F238E27FC236}">
                    <a16:creationId xmlns:a16="http://schemas.microsoft.com/office/drawing/2014/main" id="{1A2A8B55-5E54-C7D0-060B-7228EC4BB465}"/>
                  </a:ext>
                </a:extLst>
              </p:cNvPr>
              <p:cNvSpPr txBox="1"/>
              <p:nvPr/>
            </p:nvSpPr>
            <p:spPr>
              <a:xfrm>
                <a:off x="11029986" y="3237593"/>
                <a:ext cx="425116" cy="400110"/>
              </a:xfrm>
              <a:prstGeom prst="rect">
                <a:avLst/>
              </a:prstGeom>
              <a:noFill/>
            </p:spPr>
            <p:txBody>
              <a:bodyPr wrap="none" rtlCol="0">
                <a:spAutoFit/>
              </a:bodyPr>
              <a:lstStyle/>
              <a:p>
                <a:r>
                  <a:rPr lang="en-US" sz="2000" b="1" i="1" dirty="0">
                    <a:latin typeface="Times New Roman" charset="0"/>
                    <a:ea typeface="Times New Roman" charset="0"/>
                    <a:cs typeface="Times New Roman" charset="0"/>
                  </a:rPr>
                  <a:t>t</a:t>
                </a:r>
                <a:r>
                  <a:rPr lang="en-US" sz="2000" b="1" i="1" baseline="-25000" dirty="0">
                    <a:latin typeface="Times New Roman" charset="0"/>
                    <a:ea typeface="Times New Roman" charset="0"/>
                    <a:cs typeface="Times New Roman" charset="0"/>
                  </a:rPr>
                  <a:t>2</a:t>
                </a:r>
                <a:r>
                  <a:rPr lang="en-US" sz="2000" b="1" baseline="-25000" dirty="0">
                    <a:latin typeface="Times New Roman" charset="0"/>
                    <a:ea typeface="Times New Roman" charset="0"/>
                    <a:cs typeface="Times New Roman" charset="0"/>
                  </a:rPr>
                  <a:t>g</a:t>
                </a:r>
              </a:p>
            </p:txBody>
          </p:sp>
          <p:cxnSp>
            <p:nvCxnSpPr>
              <p:cNvPr id="31" name="Straight Connector 30">
                <a:extLst>
                  <a:ext uri="{FF2B5EF4-FFF2-40B4-BE49-F238E27FC236}">
                    <a16:creationId xmlns:a16="http://schemas.microsoft.com/office/drawing/2014/main" id="{E798B8D0-4925-2879-577C-03030ADEF1C6}"/>
                  </a:ext>
                </a:extLst>
              </p:cNvPr>
              <p:cNvCxnSpPr/>
              <p:nvPr/>
            </p:nvCxnSpPr>
            <p:spPr>
              <a:xfrm>
                <a:off x="9526142" y="1985757"/>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C9C772-73CA-B4DE-6584-CA3608064830}"/>
                  </a:ext>
                </a:extLst>
              </p:cNvPr>
              <p:cNvCxnSpPr/>
              <p:nvPr/>
            </p:nvCxnSpPr>
            <p:spPr>
              <a:xfrm>
                <a:off x="9525260" y="3500584"/>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4C838EC-4D8C-ED86-D2BE-57FF4AFA8AB9}"/>
                  </a:ext>
                </a:extLst>
              </p:cNvPr>
              <p:cNvSpPr txBox="1"/>
              <p:nvPr/>
            </p:nvSpPr>
            <p:spPr>
              <a:xfrm>
                <a:off x="9929207" y="2464462"/>
                <a:ext cx="478016" cy="400110"/>
              </a:xfrm>
              <a:prstGeom prst="rect">
                <a:avLst/>
              </a:prstGeom>
              <a:noFill/>
            </p:spPr>
            <p:txBody>
              <a:bodyPr wrap="none" rtlCol="0">
                <a:spAutoFit/>
              </a:bodyPr>
              <a:lstStyle/>
              <a:p>
                <a:r>
                  <a:rPr lang="en-US" sz="2000" b="1" dirty="0">
                    <a:latin typeface="Times New Roman" charset="0"/>
                    <a:ea typeface="Times New Roman" charset="0"/>
                    <a:cs typeface="Times New Roman" charset="0"/>
                  </a:rPr>
                  <a:t>Δ</a:t>
                </a:r>
                <a:r>
                  <a:rPr lang="en-US" sz="2000" b="1" baseline="-25000" dirty="0">
                    <a:latin typeface="Times New Roman" charset="0"/>
                    <a:ea typeface="Times New Roman" charset="0"/>
                    <a:cs typeface="Times New Roman" charset="0"/>
                  </a:rPr>
                  <a:t>O</a:t>
                </a:r>
              </a:p>
            </p:txBody>
          </p:sp>
          <p:cxnSp>
            <p:nvCxnSpPr>
              <p:cNvPr id="34" name="Straight Arrow Connector 33">
                <a:extLst>
                  <a:ext uri="{FF2B5EF4-FFF2-40B4-BE49-F238E27FC236}">
                    <a16:creationId xmlns:a16="http://schemas.microsoft.com/office/drawing/2014/main" id="{163B62E6-7A70-EB59-697A-70430D9B6073}"/>
                  </a:ext>
                </a:extLst>
              </p:cNvPr>
              <p:cNvCxnSpPr>
                <a:cxnSpLocks/>
              </p:cNvCxnSpPr>
              <p:nvPr/>
            </p:nvCxnSpPr>
            <p:spPr>
              <a:xfrm flipV="1">
                <a:off x="10094468" y="2045847"/>
                <a:ext cx="487" cy="49923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8CEEF09-974B-C47B-32D2-A8D374FE3B97}"/>
                  </a:ext>
                </a:extLst>
              </p:cNvPr>
              <p:cNvCxnSpPr/>
              <p:nvPr/>
            </p:nvCxnSpPr>
            <p:spPr>
              <a:xfrm>
                <a:off x="10039359" y="3501671"/>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33DF7A-5E4A-55D8-95BF-A616E2D0CAA1}"/>
                  </a:ext>
                </a:extLst>
              </p:cNvPr>
              <p:cNvCxnSpPr/>
              <p:nvPr/>
            </p:nvCxnSpPr>
            <p:spPr>
              <a:xfrm>
                <a:off x="10563234" y="3501671"/>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77F1509-2497-02E2-58BF-E98B96FD3FF5}"/>
                  </a:ext>
                </a:extLst>
              </p:cNvPr>
              <p:cNvCxnSpPr/>
              <p:nvPr/>
            </p:nvCxnSpPr>
            <p:spPr>
              <a:xfrm>
                <a:off x="10057598" y="1987814"/>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E73683B-FB1A-14C2-F366-30E6CD32DB3C}"/>
                  </a:ext>
                </a:extLst>
              </p:cNvPr>
              <p:cNvCxnSpPr>
                <a:cxnSpLocks/>
              </p:cNvCxnSpPr>
              <p:nvPr/>
            </p:nvCxnSpPr>
            <p:spPr>
              <a:xfrm flipH="1" flipV="1">
                <a:off x="9757861" y="3324068"/>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2FA5B79-FBE1-A695-2278-05951BFE6CEE}"/>
                  </a:ext>
                </a:extLst>
              </p:cNvPr>
              <p:cNvCxnSpPr>
                <a:cxnSpLocks/>
              </p:cNvCxnSpPr>
              <p:nvPr/>
            </p:nvCxnSpPr>
            <p:spPr>
              <a:xfrm flipH="1" flipV="1">
                <a:off x="10264191" y="3324067"/>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644B5B6-267A-10A5-8BB3-1C9EF3AC72E9}"/>
                  </a:ext>
                </a:extLst>
              </p:cNvPr>
              <p:cNvCxnSpPr>
                <a:cxnSpLocks/>
              </p:cNvCxnSpPr>
              <p:nvPr/>
            </p:nvCxnSpPr>
            <p:spPr>
              <a:xfrm flipH="1" flipV="1">
                <a:off x="10797233" y="3324067"/>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1746AEF-ED08-7B77-134A-8596B4677AAD}"/>
                  </a:ext>
                </a:extLst>
              </p:cNvPr>
              <p:cNvCxnSpPr>
                <a:cxnSpLocks/>
              </p:cNvCxnSpPr>
              <p:nvPr/>
            </p:nvCxnSpPr>
            <p:spPr>
              <a:xfrm rot="10800000" flipV="1">
                <a:off x="10093366" y="2783957"/>
                <a:ext cx="487" cy="49923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11E3B015-43CE-0581-369E-46386977A3CF}"/>
                </a:ext>
              </a:extLst>
            </p:cNvPr>
            <p:cNvGrpSpPr/>
            <p:nvPr/>
          </p:nvGrpSpPr>
          <p:grpSpPr>
            <a:xfrm>
              <a:off x="6484181" y="1691937"/>
              <a:ext cx="1921097" cy="1523056"/>
              <a:chOff x="6172451" y="1906254"/>
              <a:chExt cx="1921097" cy="1523056"/>
            </a:xfrm>
          </p:grpSpPr>
          <p:grpSp>
            <p:nvGrpSpPr>
              <p:cNvPr id="15" name="Group 14">
                <a:extLst>
                  <a:ext uri="{FF2B5EF4-FFF2-40B4-BE49-F238E27FC236}">
                    <a16:creationId xmlns:a16="http://schemas.microsoft.com/office/drawing/2014/main" id="{90471515-2488-0B83-3CD9-5F8ED6CE1BE8}"/>
                  </a:ext>
                </a:extLst>
              </p:cNvPr>
              <p:cNvGrpSpPr/>
              <p:nvPr/>
            </p:nvGrpSpPr>
            <p:grpSpPr>
              <a:xfrm>
                <a:off x="6172451" y="2129924"/>
                <a:ext cx="1520574" cy="1260096"/>
                <a:chOff x="6172451" y="2129924"/>
                <a:chExt cx="1520574" cy="1260096"/>
              </a:xfrm>
            </p:grpSpPr>
            <p:cxnSp>
              <p:nvCxnSpPr>
                <p:cNvPr id="18" name="Straight Connector 17">
                  <a:extLst>
                    <a:ext uri="{FF2B5EF4-FFF2-40B4-BE49-F238E27FC236}">
                      <a16:creationId xmlns:a16="http://schemas.microsoft.com/office/drawing/2014/main" id="{63F5533B-7450-1996-1515-636615035505}"/>
                    </a:ext>
                  </a:extLst>
                </p:cNvPr>
                <p:cNvCxnSpPr/>
                <p:nvPr/>
              </p:nvCxnSpPr>
              <p:spPr>
                <a:xfrm>
                  <a:off x="6173333" y="2129924"/>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525DFA4-E6BF-68D5-31DD-E1C45E325AEF}"/>
                    </a:ext>
                  </a:extLst>
                </p:cNvPr>
                <p:cNvCxnSpPr/>
                <p:nvPr/>
              </p:nvCxnSpPr>
              <p:spPr>
                <a:xfrm>
                  <a:off x="6172451" y="3261685"/>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B83FCEF-0ECE-147A-A7E3-40BBEB955405}"/>
                    </a:ext>
                  </a:extLst>
                </p:cNvPr>
                <p:cNvSpPr txBox="1"/>
                <p:nvPr/>
              </p:nvSpPr>
              <p:spPr>
                <a:xfrm>
                  <a:off x="6595853" y="2464462"/>
                  <a:ext cx="478016" cy="400110"/>
                </a:xfrm>
                <a:prstGeom prst="rect">
                  <a:avLst/>
                </a:prstGeom>
                <a:noFill/>
              </p:spPr>
              <p:txBody>
                <a:bodyPr wrap="none" rtlCol="0">
                  <a:spAutoFit/>
                </a:bodyPr>
                <a:lstStyle/>
                <a:p>
                  <a:r>
                    <a:rPr lang="en-US" sz="2000" b="1" dirty="0">
                      <a:latin typeface="Times New Roman" charset="0"/>
                      <a:ea typeface="Times New Roman" charset="0"/>
                      <a:cs typeface="Times New Roman" charset="0"/>
                    </a:rPr>
                    <a:t>Δ</a:t>
                  </a:r>
                  <a:r>
                    <a:rPr lang="en-US" sz="2000" b="1" baseline="-25000" dirty="0">
                      <a:latin typeface="Times New Roman" charset="0"/>
                      <a:ea typeface="Times New Roman" charset="0"/>
                      <a:cs typeface="Times New Roman" charset="0"/>
                    </a:rPr>
                    <a:t>O</a:t>
                  </a:r>
                </a:p>
              </p:txBody>
            </p:sp>
            <p:cxnSp>
              <p:nvCxnSpPr>
                <p:cNvPr id="21" name="Straight Arrow Connector 20">
                  <a:extLst>
                    <a:ext uri="{FF2B5EF4-FFF2-40B4-BE49-F238E27FC236}">
                      <a16:creationId xmlns:a16="http://schemas.microsoft.com/office/drawing/2014/main" id="{C4C6ACCE-C8FE-7A05-2139-56E2D49DEE26}"/>
                    </a:ext>
                  </a:extLst>
                </p:cNvPr>
                <p:cNvCxnSpPr>
                  <a:cxnSpLocks/>
                </p:cNvCxnSpPr>
                <p:nvPr/>
              </p:nvCxnSpPr>
              <p:spPr>
                <a:xfrm flipV="1">
                  <a:off x="6760444" y="2165046"/>
                  <a:ext cx="0" cy="39513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D5DE45A-D5D6-50DB-F3B8-C58263F7C50E}"/>
                    </a:ext>
                  </a:extLst>
                </p:cNvPr>
                <p:cNvCxnSpPr>
                  <a:cxnSpLocks/>
                </p:cNvCxnSpPr>
                <p:nvPr/>
              </p:nvCxnSpPr>
              <p:spPr>
                <a:xfrm rot="10800000" flipV="1">
                  <a:off x="6763870" y="2803942"/>
                  <a:ext cx="0" cy="39513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91F2F36-9EED-2886-E306-D96D7BCFC655}"/>
                    </a:ext>
                  </a:extLst>
                </p:cNvPr>
                <p:cNvCxnSpPr/>
                <p:nvPr/>
              </p:nvCxnSpPr>
              <p:spPr>
                <a:xfrm>
                  <a:off x="6686550" y="3262772"/>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B952E4D-6891-17E2-30F5-1E707DF3025C}"/>
                    </a:ext>
                  </a:extLst>
                </p:cNvPr>
                <p:cNvCxnSpPr/>
                <p:nvPr/>
              </p:nvCxnSpPr>
              <p:spPr>
                <a:xfrm>
                  <a:off x="7210425" y="3262772"/>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81D1B07-45CD-91E1-A402-F1ABEB81595D}"/>
                    </a:ext>
                  </a:extLst>
                </p:cNvPr>
                <p:cNvCxnSpPr/>
                <p:nvPr/>
              </p:nvCxnSpPr>
              <p:spPr>
                <a:xfrm>
                  <a:off x="6704789" y="2131981"/>
                  <a:ext cx="48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C9DAE9E-4812-682B-4A02-A3F1368AB519}"/>
                    </a:ext>
                  </a:extLst>
                </p:cNvPr>
                <p:cNvCxnSpPr>
                  <a:cxnSpLocks/>
                </p:cNvCxnSpPr>
                <p:nvPr/>
              </p:nvCxnSpPr>
              <p:spPr>
                <a:xfrm flipH="1" flipV="1">
                  <a:off x="6405052" y="3085169"/>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46EB286-78B2-9FCF-FCFB-0AD241F03B9E}"/>
                    </a:ext>
                  </a:extLst>
                </p:cNvPr>
                <p:cNvCxnSpPr>
                  <a:cxnSpLocks/>
                </p:cNvCxnSpPr>
                <p:nvPr/>
              </p:nvCxnSpPr>
              <p:spPr>
                <a:xfrm flipH="1" flipV="1">
                  <a:off x="6911382" y="3085168"/>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3F88B6B-0082-DEC1-F3D5-1E27AD4886DE}"/>
                    </a:ext>
                  </a:extLst>
                </p:cNvPr>
                <p:cNvCxnSpPr>
                  <a:cxnSpLocks/>
                </p:cNvCxnSpPr>
                <p:nvPr/>
              </p:nvCxnSpPr>
              <p:spPr>
                <a:xfrm flipH="1" flipV="1">
                  <a:off x="7444424" y="3085168"/>
                  <a:ext cx="4992" cy="304851"/>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34AA3A8F-61F5-D307-7086-7D9C4DBD40ED}"/>
                  </a:ext>
                </a:extLst>
              </p:cNvPr>
              <p:cNvSpPr txBox="1"/>
              <p:nvPr/>
            </p:nvSpPr>
            <p:spPr>
              <a:xfrm>
                <a:off x="7668432" y="3029200"/>
                <a:ext cx="425116" cy="400110"/>
              </a:xfrm>
              <a:prstGeom prst="rect">
                <a:avLst/>
              </a:prstGeom>
              <a:noFill/>
            </p:spPr>
            <p:txBody>
              <a:bodyPr wrap="none" rtlCol="0">
                <a:spAutoFit/>
              </a:bodyPr>
              <a:lstStyle/>
              <a:p>
                <a:r>
                  <a:rPr lang="en-US" sz="2000" b="1" i="1" dirty="0">
                    <a:latin typeface="Times New Roman" charset="0"/>
                    <a:ea typeface="Times New Roman" charset="0"/>
                    <a:cs typeface="Times New Roman" charset="0"/>
                  </a:rPr>
                  <a:t>t</a:t>
                </a:r>
                <a:r>
                  <a:rPr lang="en-US" sz="2000" b="1" i="1" baseline="-25000" dirty="0">
                    <a:latin typeface="Times New Roman" charset="0"/>
                    <a:ea typeface="Times New Roman" charset="0"/>
                    <a:cs typeface="Times New Roman" charset="0"/>
                  </a:rPr>
                  <a:t>2</a:t>
                </a:r>
                <a:r>
                  <a:rPr lang="en-US" sz="2000" b="1" baseline="-25000" dirty="0">
                    <a:latin typeface="Times New Roman" charset="0"/>
                    <a:ea typeface="Times New Roman" charset="0"/>
                    <a:cs typeface="Times New Roman" charset="0"/>
                  </a:rPr>
                  <a:t>g</a:t>
                </a:r>
              </a:p>
            </p:txBody>
          </p:sp>
          <p:sp>
            <p:nvSpPr>
              <p:cNvPr id="17" name="TextBox 16">
                <a:extLst>
                  <a:ext uri="{FF2B5EF4-FFF2-40B4-BE49-F238E27FC236}">
                    <a16:creationId xmlns:a16="http://schemas.microsoft.com/office/drawing/2014/main" id="{E9F3F95C-FC8A-735B-9F83-F60CD75B6C8E}"/>
                  </a:ext>
                </a:extLst>
              </p:cNvPr>
              <p:cNvSpPr txBox="1"/>
              <p:nvPr/>
            </p:nvSpPr>
            <p:spPr>
              <a:xfrm>
                <a:off x="7187161" y="1906254"/>
                <a:ext cx="383438" cy="400110"/>
              </a:xfrm>
              <a:prstGeom prst="rect">
                <a:avLst/>
              </a:prstGeom>
              <a:noFill/>
            </p:spPr>
            <p:txBody>
              <a:bodyPr wrap="none" rtlCol="0">
                <a:spAutoFit/>
              </a:bodyPr>
              <a:lstStyle/>
              <a:p>
                <a:r>
                  <a:rPr lang="en-US" sz="2000" b="1" i="1" dirty="0" err="1">
                    <a:latin typeface="Times New Roman" charset="0"/>
                    <a:ea typeface="Times New Roman" charset="0"/>
                    <a:cs typeface="Times New Roman" charset="0"/>
                  </a:rPr>
                  <a:t>e</a:t>
                </a:r>
                <a:r>
                  <a:rPr lang="en-US" sz="2000" b="1" baseline="-25000" dirty="0" err="1">
                    <a:latin typeface="Times New Roman" charset="0"/>
                    <a:ea typeface="Times New Roman" charset="0"/>
                    <a:cs typeface="Times New Roman" charset="0"/>
                  </a:rPr>
                  <a:t>g</a:t>
                </a:r>
                <a:endParaRPr lang="en-US" sz="2000" b="1" baseline="-25000" dirty="0">
                  <a:latin typeface="Times New Roman" charset="0"/>
                  <a:ea typeface="Times New Roman" charset="0"/>
                  <a:cs typeface="Times New Roman" charset="0"/>
                </a:endParaRPr>
              </a:p>
            </p:txBody>
          </p:sp>
        </p:grpSp>
        <p:sp>
          <p:nvSpPr>
            <p:cNvPr id="10" name="Right Arrow 68">
              <a:extLst>
                <a:ext uri="{FF2B5EF4-FFF2-40B4-BE49-F238E27FC236}">
                  <a16:creationId xmlns:a16="http://schemas.microsoft.com/office/drawing/2014/main" id="{FA807DD6-5496-6FA2-CFCA-D71788584145}"/>
                </a:ext>
              </a:extLst>
            </p:cNvPr>
            <p:cNvSpPr/>
            <p:nvPr/>
          </p:nvSpPr>
          <p:spPr>
            <a:xfrm>
              <a:off x="8195226" y="2410167"/>
              <a:ext cx="683615" cy="15947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893127-030A-F7AB-CF51-66081B0E55E9}"/>
                </a:ext>
              </a:extLst>
            </p:cNvPr>
            <p:cNvPicPr>
              <a:picLocks noChangeAspect="1"/>
            </p:cNvPicPr>
            <p:nvPr/>
          </p:nvPicPr>
          <p:blipFill>
            <a:blip r:embed="rId3"/>
            <a:stretch>
              <a:fillRect/>
            </a:stretch>
          </p:blipFill>
          <p:spPr>
            <a:xfrm>
              <a:off x="10385370" y="1915051"/>
              <a:ext cx="1581035" cy="1043790"/>
            </a:xfrm>
            <a:prstGeom prst="rect">
              <a:avLst/>
            </a:prstGeom>
          </p:spPr>
        </p:pic>
        <p:pic>
          <p:nvPicPr>
            <p:cNvPr id="12" name="Picture 11">
              <a:extLst>
                <a:ext uri="{FF2B5EF4-FFF2-40B4-BE49-F238E27FC236}">
                  <a16:creationId xmlns:a16="http://schemas.microsoft.com/office/drawing/2014/main" id="{F783A812-34F7-C01D-763C-BBD13BB72FB7}"/>
                </a:ext>
              </a:extLst>
            </p:cNvPr>
            <p:cNvPicPr>
              <a:picLocks noChangeAspect="1"/>
            </p:cNvPicPr>
            <p:nvPr/>
          </p:nvPicPr>
          <p:blipFill>
            <a:blip r:embed="rId4"/>
            <a:stretch>
              <a:fillRect/>
            </a:stretch>
          </p:blipFill>
          <p:spPr>
            <a:xfrm>
              <a:off x="5154331" y="1927376"/>
              <a:ext cx="1460830" cy="1045647"/>
            </a:xfrm>
            <a:prstGeom prst="rect">
              <a:avLst/>
            </a:prstGeom>
          </p:spPr>
        </p:pic>
        <p:sp>
          <p:nvSpPr>
            <p:cNvPr id="13" name="TextBox 12">
              <a:extLst>
                <a:ext uri="{FF2B5EF4-FFF2-40B4-BE49-F238E27FC236}">
                  <a16:creationId xmlns:a16="http://schemas.microsoft.com/office/drawing/2014/main" id="{F3838B3C-4FDD-4B9F-ECF5-3783456354FD}"/>
                </a:ext>
              </a:extLst>
            </p:cNvPr>
            <p:cNvSpPr txBox="1"/>
            <p:nvPr/>
          </p:nvSpPr>
          <p:spPr>
            <a:xfrm>
              <a:off x="5484095" y="3459882"/>
              <a:ext cx="2454518" cy="646331"/>
            </a:xfrm>
            <a:prstGeom prst="rect">
              <a:avLst/>
            </a:prstGeom>
            <a:noFill/>
          </p:spPr>
          <p:txBody>
            <a:bodyPr wrap="none" rtlCol="0">
              <a:spAutoFit/>
            </a:bodyPr>
            <a:lstStyle/>
            <a:p>
              <a:r>
                <a:rPr lang="en-US" dirty="0">
                  <a:solidFill>
                    <a:srgbClr val="FF0000"/>
                  </a:solidFill>
                  <a:latin typeface="Times New Roman" charset="0"/>
                  <a:ea typeface="Times New Roman" charset="0"/>
                  <a:cs typeface="Times New Roman" charset="0"/>
                </a:rPr>
                <a:t>Exchange of Cl</a:t>
              </a:r>
              <a:r>
                <a:rPr lang="en-US" baseline="30000" dirty="0">
                  <a:solidFill>
                    <a:srgbClr val="FF0000"/>
                  </a:solidFill>
                  <a:latin typeface="Times New Roman" charset="0"/>
                  <a:ea typeface="Times New Roman" charset="0"/>
                  <a:cs typeface="Times New Roman" charset="0"/>
                </a:rPr>
                <a:t>‒</a:t>
              </a:r>
              <a:r>
                <a:rPr lang="en-US" dirty="0">
                  <a:solidFill>
                    <a:srgbClr val="FF0000"/>
                  </a:solidFill>
                  <a:latin typeface="Times New Roman" charset="0"/>
                  <a:ea typeface="Times New Roman" charset="0"/>
                  <a:cs typeface="Times New Roman" charset="0"/>
                </a:rPr>
                <a:t> by H</a:t>
              </a:r>
              <a:r>
                <a:rPr lang="en-US" baseline="-25000" dirty="0">
                  <a:solidFill>
                    <a:srgbClr val="FF0000"/>
                  </a:solidFill>
                  <a:latin typeface="Times New Roman" charset="0"/>
                  <a:ea typeface="Times New Roman" charset="0"/>
                  <a:cs typeface="Times New Roman" charset="0"/>
                </a:rPr>
                <a:t>2</a:t>
              </a:r>
              <a:r>
                <a:rPr lang="en-US" dirty="0">
                  <a:solidFill>
                    <a:srgbClr val="FF0000"/>
                  </a:solidFill>
                  <a:latin typeface="Times New Roman" charset="0"/>
                  <a:ea typeface="Times New Roman" charset="0"/>
                  <a:cs typeface="Times New Roman" charset="0"/>
                </a:rPr>
                <a:t>O</a:t>
              </a:r>
            </a:p>
            <a:p>
              <a:r>
                <a:rPr lang="en-US" dirty="0">
                  <a:solidFill>
                    <a:srgbClr val="FF0000"/>
                  </a:solidFill>
                  <a:latin typeface="Times New Roman" charset="0"/>
                  <a:ea typeface="Times New Roman" charset="0"/>
                  <a:cs typeface="Times New Roman" charset="0"/>
                </a:rPr>
                <a:t>Increase of Δ</a:t>
              </a:r>
              <a:r>
                <a:rPr lang="en-US" baseline="-25000" dirty="0">
                  <a:solidFill>
                    <a:srgbClr val="FF0000"/>
                  </a:solidFill>
                  <a:latin typeface="Times New Roman" charset="0"/>
                  <a:ea typeface="Times New Roman" charset="0"/>
                  <a:cs typeface="Times New Roman" charset="0"/>
                </a:rPr>
                <a:t>O</a:t>
              </a:r>
              <a:r>
                <a:rPr lang="en-US" dirty="0">
                  <a:solidFill>
                    <a:srgbClr val="FF0000"/>
                  </a:solidFill>
                  <a:latin typeface="Times New Roman" charset="0"/>
                  <a:ea typeface="Times New Roman" charset="0"/>
                  <a:cs typeface="Times New Roman" charset="0"/>
                </a:rPr>
                <a:t> value</a:t>
              </a:r>
            </a:p>
          </p:txBody>
        </p:sp>
        <p:sp>
          <p:nvSpPr>
            <p:cNvPr id="14" name="Right Arrow 72">
              <a:extLst>
                <a:ext uri="{FF2B5EF4-FFF2-40B4-BE49-F238E27FC236}">
                  <a16:creationId xmlns:a16="http://schemas.microsoft.com/office/drawing/2014/main" id="{8CC12A80-EE7D-444E-C94F-1BE4A924F048}"/>
                </a:ext>
              </a:extLst>
            </p:cNvPr>
            <p:cNvSpPr/>
            <p:nvPr/>
          </p:nvSpPr>
          <p:spPr>
            <a:xfrm>
              <a:off x="8319551" y="3588497"/>
              <a:ext cx="1461618" cy="14813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2293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4C08C4-0F94-178E-7E7B-0FB5EF28E208}"/>
              </a:ext>
            </a:extLst>
          </p:cNvPr>
          <p:cNvSpPr txBox="1"/>
          <p:nvPr/>
        </p:nvSpPr>
        <p:spPr>
          <a:xfrm>
            <a:off x="-233180" y="198800"/>
            <a:ext cx="11472729" cy="1200329"/>
          </a:xfrm>
          <a:prstGeom prst="rect">
            <a:avLst/>
          </a:prstGeom>
          <a:noFill/>
        </p:spPr>
        <p:txBody>
          <a:bodyPr wrap="square">
            <a:spAutoFit/>
          </a:bodyPr>
          <a:lstStyle/>
          <a:p>
            <a:pPr marL="457200" marR="0" algn="just">
              <a:spcBef>
                <a:spcPts val="0"/>
              </a:spcBef>
              <a:spcAft>
                <a:spcPts val="0"/>
              </a:spcAft>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Q11. An aqueous solution of a 0.5 M solution of manganese chloride is very weakly colored, although an aqueous solution of potassium permanganate of same concentration exhibits very intense color. Explain. </a:t>
            </a:r>
            <a:endPar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0EC97C4C-6125-16E7-54F9-2A9498EE9EA7}"/>
              </a:ext>
            </a:extLst>
          </p:cNvPr>
          <p:cNvSpPr txBox="1"/>
          <p:nvPr/>
        </p:nvSpPr>
        <p:spPr>
          <a:xfrm>
            <a:off x="-233180" y="1447500"/>
            <a:ext cx="12254264" cy="923330"/>
          </a:xfrm>
          <a:prstGeom prst="rect">
            <a:avLst/>
          </a:prstGeom>
          <a:noFill/>
        </p:spPr>
        <p:txBody>
          <a:bodyPr wrap="square">
            <a:spAutoFit/>
          </a:bodyPr>
          <a:lstStyle/>
          <a:p>
            <a:pPr marL="457200" marR="0" algn="just">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Upon dissolving MnCl</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water the formation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Mn</a:t>
            </a:r>
            <a:r>
              <a:rPr lang="en-US" sz="1800" baseline="30000" dirty="0" err="1">
                <a:effectLst/>
                <a:latin typeface="Times New Roman" panose="02020603050405020304" pitchFamily="18" charset="0"/>
                <a:ea typeface="Calibri" panose="020F0502020204030204" pitchFamily="34" charset="0"/>
                <a:cs typeface="Times New Roman" panose="02020603050405020304" pitchFamily="18" charset="0"/>
              </a:rPr>
              <a:t>II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6</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occurs. Any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transition in this complex is Laporte forbidden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0) as well as spin forbidden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0). Therefore, the Mn</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have very low molar extinction coefficient value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1 M</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cm</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shows very weak color.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F4FABFD-E554-B497-477B-84B905C05D65}"/>
              </a:ext>
            </a:extLst>
          </p:cNvPr>
          <p:cNvPicPr>
            <a:picLocks noChangeAspect="1"/>
          </p:cNvPicPr>
          <p:nvPr/>
        </p:nvPicPr>
        <p:blipFill>
          <a:blip r:embed="rId2"/>
          <a:stretch>
            <a:fillRect/>
          </a:stretch>
        </p:blipFill>
        <p:spPr>
          <a:xfrm>
            <a:off x="553999" y="2641292"/>
            <a:ext cx="4146321" cy="1775862"/>
          </a:xfrm>
          <a:prstGeom prst="rect">
            <a:avLst/>
          </a:prstGeom>
        </p:spPr>
      </p:pic>
      <p:sp>
        <p:nvSpPr>
          <p:cNvPr id="18" name="TextBox 17">
            <a:extLst>
              <a:ext uri="{FF2B5EF4-FFF2-40B4-BE49-F238E27FC236}">
                <a16:creationId xmlns:a16="http://schemas.microsoft.com/office/drawing/2014/main" id="{92AC8702-AF57-2EBE-1B23-2E894CFEDE4A}"/>
              </a:ext>
            </a:extLst>
          </p:cNvPr>
          <p:cNvSpPr txBox="1"/>
          <p:nvPr/>
        </p:nvSpPr>
        <p:spPr>
          <a:xfrm>
            <a:off x="4448085" y="2641292"/>
            <a:ext cx="7572999" cy="1754326"/>
          </a:xfrm>
          <a:prstGeom prst="rect">
            <a:avLst/>
          </a:prstGeom>
          <a:noFill/>
        </p:spPr>
        <p:txBody>
          <a:bodyPr wrap="square">
            <a:spAutoFit/>
          </a:bodyPr>
          <a:lstStyle/>
          <a:p>
            <a:pPr marL="457200" marR="0" algn="just">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On the other hand, the oxidation state of Mn is +VII in KMnO</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which is a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system. The intense color of the complex originates from the charge transfer from the filled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-orbitals of oxygen to the empty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-orbitals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Mn</a:t>
            </a:r>
            <a:r>
              <a:rPr lang="en-US" sz="1800" baseline="30000" dirty="0" err="1">
                <a:effectLst/>
                <a:latin typeface="Times New Roman" panose="02020603050405020304" pitchFamily="18" charset="0"/>
                <a:ea typeface="Calibri" panose="020F0502020204030204" pitchFamily="34" charset="0"/>
                <a:cs typeface="Times New Roman" panose="02020603050405020304" pitchFamily="18" charset="0"/>
              </a:rPr>
              <a:t>VII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which is Laporte-allowed as well as spin-allowed. Therefore,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Mn</a:t>
            </a:r>
            <a:r>
              <a:rPr lang="en-US" sz="1800" baseline="30000" dirty="0" err="1">
                <a:effectLst/>
                <a:latin typeface="Times New Roman" panose="02020603050405020304" pitchFamily="18" charset="0"/>
                <a:ea typeface="Calibri" panose="020F0502020204030204" pitchFamily="34" charset="0"/>
                <a:cs typeface="Times New Roman" panose="02020603050405020304" pitchFamily="18" charset="0"/>
              </a:rPr>
              <a:t>VII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has very high molar extinction coefficient value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10</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cm</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shows a very intense color.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30415E8-BF85-76D2-B448-2F3A45096ADC}"/>
              </a:ext>
            </a:extLst>
          </p:cNvPr>
          <p:cNvSpPr txBox="1"/>
          <p:nvPr/>
        </p:nvSpPr>
        <p:spPr>
          <a:xfrm>
            <a:off x="-233180" y="4559309"/>
            <a:ext cx="12254264" cy="830997"/>
          </a:xfrm>
          <a:prstGeom prst="rect">
            <a:avLst/>
          </a:prstGeom>
          <a:noFill/>
        </p:spPr>
        <p:txBody>
          <a:bodyPr wrap="square">
            <a:spAutoFit/>
          </a:bodyPr>
          <a:lstStyle/>
          <a:p>
            <a:pPr marL="457200" marR="0" algn="just">
              <a:spcBef>
                <a:spcPts val="0"/>
              </a:spcBef>
              <a:spcAft>
                <a:spcPts val="0"/>
              </a:spcAft>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Q12. No </a:t>
            </a:r>
            <a:r>
              <a:rPr lang="en-US" sz="2400"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e</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lectrons are present in Cr in K</a:t>
            </a:r>
            <a:r>
              <a:rPr lang="en-US" sz="2400" b="1"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Cr</a:t>
            </a:r>
            <a:r>
              <a:rPr lang="en-US" sz="2400" b="1"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O</a:t>
            </a:r>
            <a:r>
              <a:rPr lang="en-US" sz="2400" b="1"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7</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and K</a:t>
            </a:r>
            <a:r>
              <a:rPr lang="en-US" sz="2400" b="1"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CrO</a:t>
            </a:r>
            <a:r>
              <a:rPr lang="en-US" sz="2400" b="1"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4</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However, these two compounds are intensely colored when dissolved in water. Explain. </a:t>
            </a:r>
            <a:endParaRPr lang="en-US" sz="24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612D4436-1A5C-F4B6-EF78-CD82E9950CE1}"/>
              </a:ext>
            </a:extLst>
          </p:cNvPr>
          <p:cNvSpPr txBox="1"/>
          <p:nvPr/>
        </p:nvSpPr>
        <p:spPr>
          <a:xfrm>
            <a:off x="-233180" y="5426110"/>
            <a:ext cx="12026487" cy="923330"/>
          </a:xfrm>
          <a:prstGeom prst="rect">
            <a:avLst/>
          </a:prstGeom>
          <a:noFill/>
        </p:spPr>
        <p:txBody>
          <a:bodyPr wrap="square">
            <a:spAutoFit/>
          </a:bodyPr>
          <a:lstStyle/>
          <a:p>
            <a:pPr marL="457200" marR="0" algn="just">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color of these compounds appeared because of the charge transfer transition from the oxygen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orbitals to the Cr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orbital, which is Laporte and spin allowed. The molar extinction coefficient of such transition is very high, thus causes intense color.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906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5301" y="1189734"/>
            <a:ext cx="11451265" cy="830997"/>
          </a:xfrm>
          <a:prstGeom prst="rect">
            <a:avLst/>
          </a:prstGeom>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Determine how the p orbitals would split in an (a) octahedral and (b) trigonal </a:t>
            </a:r>
            <a:r>
              <a:rPr lang="en-IN" sz="2400" dirty="0" err="1">
                <a:solidFill>
                  <a:srgbClr val="FF0000"/>
                </a:solidFill>
                <a:latin typeface="Times New Roman" panose="02020603050405020304" pitchFamily="18" charset="0"/>
                <a:cs typeface="Times New Roman" panose="02020603050405020304" pitchFamily="18" charset="0"/>
              </a:rPr>
              <a:t>bipyramidal</a:t>
            </a:r>
            <a:r>
              <a:rPr lang="en-IN" sz="2400" dirty="0">
                <a:solidFill>
                  <a:srgbClr val="FF0000"/>
                </a:solidFill>
                <a:latin typeface="Times New Roman" panose="02020603050405020304" pitchFamily="18" charset="0"/>
                <a:cs typeface="Times New Roman" panose="02020603050405020304" pitchFamily="18" charset="0"/>
              </a:rPr>
              <a:t> crystal field.</a:t>
            </a:r>
          </a:p>
        </p:txBody>
      </p:sp>
      <p:sp>
        <p:nvSpPr>
          <p:cNvPr id="5" name="TextBox 4"/>
          <p:cNvSpPr txBox="1"/>
          <p:nvPr/>
        </p:nvSpPr>
        <p:spPr>
          <a:xfrm>
            <a:off x="3094074" y="414670"/>
            <a:ext cx="5984331" cy="461665"/>
          </a:xfrm>
          <a:prstGeom prst="rect">
            <a:avLst/>
          </a:prstGeom>
          <a:noFill/>
        </p:spPr>
        <p:txBody>
          <a:bodyPr wrap="none" rtlCol="0">
            <a:spAutoFit/>
          </a:bodyPr>
          <a:lstStyle/>
          <a:p>
            <a:r>
              <a:rPr lang="en-IN" sz="2400" dirty="0">
                <a:solidFill>
                  <a:srgbClr val="00B0F0"/>
                </a:solidFill>
                <a:latin typeface="Times New Roman" panose="02020603050405020304" pitchFamily="18" charset="0"/>
                <a:cs typeface="Times New Roman" panose="02020603050405020304" pitchFamily="18" charset="0"/>
              </a:rPr>
              <a:t>Additional questions which are out of syllabus </a:t>
            </a:r>
          </a:p>
        </p:txBody>
      </p:sp>
      <p:sp>
        <p:nvSpPr>
          <p:cNvPr id="6" name="Rectangle 5"/>
          <p:cNvSpPr/>
          <p:nvPr/>
        </p:nvSpPr>
        <p:spPr>
          <a:xfrm>
            <a:off x="1049078" y="2236773"/>
            <a:ext cx="10030047" cy="1754326"/>
          </a:xfrm>
          <a:prstGeom prst="rect">
            <a:avLst/>
          </a:prstGeom>
        </p:spPr>
        <p:txBody>
          <a:bodyPr wrap="square">
            <a:spAutoFit/>
          </a:bodyPr>
          <a:lstStyle/>
          <a:p>
            <a:pPr marL="342900" indent="-342900">
              <a:buAutoNum type="alphaLcParenR"/>
            </a:pPr>
            <a:r>
              <a:rPr lang="en-IN" sz="1800" dirty="0">
                <a:latin typeface="Times New Roman" panose="02020603050405020304" pitchFamily="18" charset="0"/>
                <a:cs typeface="Times New Roman" panose="02020603050405020304" pitchFamily="18" charset="0"/>
              </a:rPr>
              <a:t>They would NOT split as all three axes are equivalent in this crystal field</a:t>
            </a:r>
          </a:p>
          <a:p>
            <a:pPr marL="342900" indent="-342900">
              <a:buAutoNum type="alphaLcParenR"/>
            </a:pPr>
            <a:endParaRPr lang="en-IN" sz="1800" dirty="0">
              <a:latin typeface="Times New Roman" panose="02020603050405020304" pitchFamily="18" charset="0"/>
              <a:cs typeface="Times New Roman" panose="02020603050405020304" pitchFamily="18" charset="0"/>
            </a:endParaRPr>
          </a:p>
          <a:p>
            <a:pPr marL="342900" indent="-342900">
              <a:buAutoNum type="alphaLcParenR"/>
            </a:pPr>
            <a:r>
              <a:rPr lang="en-IN" sz="1800" dirty="0">
                <a:latin typeface="Times New Roman" panose="02020603050405020304" pitchFamily="18" charset="0"/>
                <a:cs typeface="Times New Roman" panose="02020603050405020304" pitchFamily="18" charset="0"/>
              </a:rPr>
              <a:t>The equatorial trigonal plane is distinct from the axial direction. If the axial direction is taken to be z, then the </a:t>
            </a:r>
            <a:r>
              <a:rPr lang="en-IN" sz="1800" dirty="0" err="1">
                <a:latin typeface="Times New Roman" panose="02020603050405020304" pitchFamily="18" charset="0"/>
                <a:cs typeface="Times New Roman" panose="02020603050405020304" pitchFamily="18" charset="0"/>
              </a:rPr>
              <a:t>p</a:t>
            </a:r>
            <a:r>
              <a:rPr lang="en-IN" sz="1800" baseline="-25000" dirty="0" err="1">
                <a:latin typeface="Times New Roman" panose="02020603050405020304" pitchFamily="18" charset="0"/>
                <a:cs typeface="Times New Roman" panose="02020603050405020304" pitchFamily="18" charset="0"/>
              </a:rPr>
              <a:t>x</a:t>
            </a:r>
            <a:r>
              <a:rPr lang="en-IN" sz="1800" dirty="0">
                <a:latin typeface="Times New Roman" panose="02020603050405020304" pitchFamily="18" charset="0"/>
                <a:cs typeface="Times New Roman" panose="02020603050405020304" pitchFamily="18" charset="0"/>
              </a:rPr>
              <a:t> and </a:t>
            </a:r>
            <a:r>
              <a:rPr lang="en-IN" sz="1800" dirty="0" err="1">
                <a:latin typeface="Times New Roman" panose="02020603050405020304" pitchFamily="18" charset="0"/>
                <a:cs typeface="Times New Roman" panose="02020603050405020304" pitchFamily="18" charset="0"/>
              </a:rPr>
              <a:t>p</a:t>
            </a:r>
            <a:r>
              <a:rPr lang="en-IN" sz="1800" baseline="-25000" dirty="0" err="1">
                <a:latin typeface="Times New Roman" panose="02020603050405020304" pitchFamily="18" charset="0"/>
                <a:cs typeface="Times New Roman" panose="02020603050405020304" pitchFamily="18" charset="0"/>
              </a:rPr>
              <a:t>y</a:t>
            </a:r>
            <a:r>
              <a:rPr lang="en-IN" sz="1800" dirty="0">
                <a:latin typeface="Times New Roman" panose="02020603050405020304" pitchFamily="18" charset="0"/>
                <a:cs typeface="Times New Roman" panose="02020603050405020304" pitchFamily="18" charset="0"/>
              </a:rPr>
              <a:t> orbitals in the equatorial plane will feel less repulsion because neither of these orbitals points directly at the ligands. In contrast, the </a:t>
            </a:r>
            <a:r>
              <a:rPr lang="en-IN" sz="1800" dirty="0" err="1">
                <a:latin typeface="Times New Roman" panose="02020603050405020304" pitchFamily="18" charset="0"/>
                <a:cs typeface="Times New Roman" panose="02020603050405020304" pitchFamily="18" charset="0"/>
              </a:rPr>
              <a:t>p</a:t>
            </a:r>
            <a:r>
              <a:rPr lang="en-IN" sz="1800" baseline="-25000" dirty="0" err="1">
                <a:latin typeface="Times New Roman" panose="02020603050405020304" pitchFamily="18" charset="0"/>
                <a:cs typeface="Times New Roman" panose="02020603050405020304" pitchFamily="18" charset="0"/>
              </a:rPr>
              <a:t>z</a:t>
            </a:r>
            <a:r>
              <a:rPr lang="en-IN" sz="1800" dirty="0">
                <a:latin typeface="Times New Roman" panose="02020603050405020304" pitchFamily="18" charset="0"/>
                <a:cs typeface="Times New Roman" panose="02020603050405020304" pitchFamily="18" charset="0"/>
              </a:rPr>
              <a:t> orbital points along the z axis and right at the ligands so this orbital will be destabilized. </a:t>
            </a:r>
          </a:p>
        </p:txBody>
      </p:sp>
      <p:pic>
        <p:nvPicPr>
          <p:cNvPr id="7" name="Picture 6"/>
          <p:cNvPicPr>
            <a:picLocks noChangeAspect="1"/>
          </p:cNvPicPr>
          <p:nvPr/>
        </p:nvPicPr>
        <p:blipFill>
          <a:blip r:embed="rId2"/>
          <a:stretch>
            <a:fillRect/>
          </a:stretch>
        </p:blipFill>
        <p:spPr>
          <a:xfrm>
            <a:off x="3321442" y="4374584"/>
            <a:ext cx="4953691" cy="2276793"/>
          </a:xfrm>
          <a:prstGeom prst="rect">
            <a:avLst/>
          </a:prstGeom>
        </p:spPr>
      </p:pic>
    </p:spTree>
    <p:extLst>
      <p:ext uri="{BB962C8B-B14F-4D97-AF65-F5344CB8AC3E}">
        <p14:creationId xmlns:p14="http://schemas.microsoft.com/office/powerpoint/2010/main" val="3223085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0613" y="714940"/>
            <a:ext cx="11125201" cy="1938992"/>
          </a:xfrm>
          <a:prstGeom prst="rect">
            <a:avLst/>
          </a:prstGeom>
        </p:spPr>
        <p:txBody>
          <a:bodyPr wrap="square">
            <a:spAutoFit/>
          </a:bodyPr>
          <a:lstStyle/>
          <a:p>
            <a:r>
              <a:rPr lang="en-IN" sz="2400" dirty="0">
                <a:solidFill>
                  <a:srgbClr val="FF0000"/>
                </a:solidFill>
              </a:rPr>
              <a:t>Determine the d orbital splitting to be expected (qualitatively) in a T-shaped crystal field (i.e. for a square planar arrangement missing one ligand). Take the complex plane to be the </a:t>
            </a:r>
            <a:r>
              <a:rPr lang="en-IN" sz="2400" dirty="0" err="1">
                <a:solidFill>
                  <a:srgbClr val="FF0000"/>
                </a:solidFill>
              </a:rPr>
              <a:t>xy</a:t>
            </a:r>
            <a:r>
              <a:rPr lang="en-IN" sz="2400" dirty="0">
                <a:solidFill>
                  <a:srgbClr val="FF0000"/>
                </a:solidFill>
              </a:rPr>
              <a:t> plane and make sure you clearly distinguish between the x and y directions. </a:t>
            </a:r>
            <a:r>
              <a:rPr lang="en-IN" sz="2400" i="1" dirty="0">
                <a:solidFill>
                  <a:srgbClr val="FF0000"/>
                </a:solidFill>
              </a:rPr>
              <a:t>NOTE: represent your answer as a qualitative energy level diagram. </a:t>
            </a:r>
          </a:p>
        </p:txBody>
      </p:sp>
      <p:pic>
        <p:nvPicPr>
          <p:cNvPr id="5" name="Picture 4"/>
          <p:cNvPicPr>
            <a:picLocks noChangeAspect="1"/>
          </p:cNvPicPr>
          <p:nvPr/>
        </p:nvPicPr>
        <p:blipFill>
          <a:blip r:embed="rId2"/>
          <a:stretch>
            <a:fillRect/>
          </a:stretch>
        </p:blipFill>
        <p:spPr>
          <a:xfrm>
            <a:off x="2668772" y="2653932"/>
            <a:ext cx="6692610" cy="3882735"/>
          </a:xfrm>
          <a:prstGeom prst="rect">
            <a:avLst/>
          </a:prstGeom>
        </p:spPr>
      </p:pic>
      <p:sp>
        <p:nvSpPr>
          <p:cNvPr id="6" name="TextBox 5"/>
          <p:cNvSpPr txBox="1"/>
          <p:nvPr/>
        </p:nvSpPr>
        <p:spPr>
          <a:xfrm>
            <a:off x="3022911" y="127591"/>
            <a:ext cx="5984331" cy="461665"/>
          </a:xfrm>
          <a:prstGeom prst="rect">
            <a:avLst/>
          </a:prstGeom>
          <a:noFill/>
        </p:spPr>
        <p:txBody>
          <a:bodyPr wrap="none" rtlCol="0">
            <a:spAutoFit/>
          </a:bodyPr>
          <a:lstStyle/>
          <a:p>
            <a:r>
              <a:rPr lang="en-IN" sz="2400" dirty="0">
                <a:solidFill>
                  <a:srgbClr val="00B0F0"/>
                </a:solidFill>
                <a:latin typeface="Times New Roman" panose="02020603050405020304" pitchFamily="18" charset="0"/>
                <a:cs typeface="Times New Roman" panose="02020603050405020304" pitchFamily="18" charset="0"/>
              </a:rPr>
              <a:t>Additional questions which are out of syllabus </a:t>
            </a:r>
          </a:p>
        </p:txBody>
      </p:sp>
    </p:spTree>
    <p:extLst>
      <p:ext uri="{BB962C8B-B14F-4D97-AF65-F5344CB8AC3E}">
        <p14:creationId xmlns:p14="http://schemas.microsoft.com/office/powerpoint/2010/main" val="17379404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837739C111174AA4612B428596DF21" ma:contentTypeVersion="4" ma:contentTypeDescription="Create a new document." ma:contentTypeScope="" ma:versionID="6e6e8068e86c0e180584346e904a2c79">
  <xsd:schema xmlns:xsd="http://www.w3.org/2001/XMLSchema" xmlns:xs="http://www.w3.org/2001/XMLSchema" xmlns:p="http://schemas.microsoft.com/office/2006/metadata/properties" xmlns:ns2="cafaf399-ff3b-4908-9708-7f93ec344edf" targetNamespace="http://schemas.microsoft.com/office/2006/metadata/properties" ma:root="true" ma:fieldsID="d9aae05cd4ffab418111fc159f790dce" ns2:_="">
    <xsd:import namespace="cafaf399-ff3b-4908-9708-7f93ec344e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faf399-ff3b-4908-9708-7f93ec344e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F02C0C-0E01-47C5-9810-BB1665E4E5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CA198D4-6711-4FF2-AB5B-6DE6E7FC94E7}">
  <ds:schemaRefs>
    <ds:schemaRef ds:uri="http://schemas.microsoft.com/sharepoint/v3/contenttype/forms"/>
  </ds:schemaRefs>
</ds:datastoreItem>
</file>

<file path=customXml/itemProps3.xml><?xml version="1.0" encoding="utf-8"?>
<ds:datastoreItem xmlns:ds="http://schemas.openxmlformats.org/officeDocument/2006/customXml" ds:itemID="{F0368951-0FD2-4F5C-8A69-AEE8CCE71C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faf399-ff3b-4908-9708-7f93ec344e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1084</TotalTime>
  <Words>1599</Words>
  <Application>Microsoft Office PowerPoint</Application>
  <PresentationFormat>Widescreen</PresentationFormat>
  <Paragraphs>79</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Sayantan Paria</dc:creator>
  <cp:lastModifiedBy>Subrata Kundu</cp:lastModifiedBy>
  <cp:revision>25</cp:revision>
  <cp:lastPrinted>2023-09-13T09:05:52Z</cp:lastPrinted>
  <dcterms:created xsi:type="dcterms:W3CDTF">2020-12-08T16:06:11Z</dcterms:created>
  <dcterms:modified xsi:type="dcterms:W3CDTF">2024-12-20T05:40:39Z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0x01010053837739C111174AA4612B428596DF21</vt:lpwstr>
  </property>
</Properties>
</file>